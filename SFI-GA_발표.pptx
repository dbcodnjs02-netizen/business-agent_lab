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70fc3bdc-6a48-0f68-adf9-a27a7742692d}">
          <p14:sldIdLst>
            <p14:sldId id="256"/>
          </p14:sldIdLst>
        </p14:section>
        <p14:section name="GA 사이클" id="{b8af0a9a-af77-3d88-4666-69250307f75e}">
          <p14:sldIdLst>
            <p14:sldId id="257"/>
            <p14:sldId id="258"/>
            <p14:sldId id="259"/>
            <p14:sldId id="260"/>
            <p14:sldId id="261"/>
            <p14:sldId id="262"/>
            <p14:sldId id="263"/>
            <p14:sldId id="264"/>
          </p14:sldIdLst>
        </p14:section>
        <p14:section name="결과와 정리" id="{647ae3d8-e501-c0a9-a93e-2a40fd216f52}">
          <p14:sldIdLst>
            <p14:sldId id="265"/>
            <p14:sldId id="266"/>
            <p14:sldId id="267"/>
          </p14:sldIdLst>
        </p14:section>
        <p14:section name="부록" id="{926b878a-c5ab-02a9-588c-a7a6586650fa}">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63A"/>
                </a:solidFill>
                <a:latin typeface="+mn-lt"/>
              </a:defRPr>
            </a:pPr>
            <a:r>
              <a:rPr sz="1200" b="0" i="0" u="none" strike="noStrike">
                <a:solidFill>
                  <a:srgbClr val="14263A"/>
                </a:solidFill>
                <a:latin typeface="+mn-lt"/>
              </a:rPr>
              <a:t>총수요가 25와 만나는 점 (p = 83.47)</a:t>
            </a:r>
          </a:p>
        </c:rich>
      </c:tx>
      <c:layout/>
      <c:overlay val="0"/>
    </c:title>
    <c:autoTitleDeleted val="0"/>
    <c:plotArea>
      <c:layout/>
      <c:lineChart>
        <c:varyColors val="0"/>
        <c:ser>
          <c:idx val="0"/>
          <c:order val="0"/>
          <c:tx>
            <c:strRef>
              <c:f>Sheet1!$B$1</c:f>
              <c:strCache>
                <c:ptCount val="1"/>
                <c:pt idx="0">
                  <c:v>총수요 Σx(p)</c:v>
                </c:pt>
              </c:strCache>
            </c:strRef>
          </c:tx>
          <c:spPr>
            <a:solidFill>
              <a:srgbClr val="0E7C86"/>
            </a:solidFill>
            <a:ln w="25400" cap="flat">
              <a:solidFill>
                <a:srgbClr val="0E7C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E7C86"/>
              </a:solidFill>
              <a:ln w="9525" cap="flat">
                <a:solidFill>
                  <a:srgbClr val="0E7C86"/>
                </a:solidFill>
                <a:prstDash val="solid"/>
                <a:round/>
              </a:ln>
              <a:effectLst/>
            </c:spPr>
          </c:marker>
          <c:cat>
            <c:multiLvlStrRef>
              <c:f>Sheet1!$A$2:$A$17</c:f>
              <c:multiLvlStrCache>
                <c:ptCount val="16"/>
                <c:lvl>
                  <c:pt idx="0">
                    <c:v>70</c:v>
                  </c:pt>
                  <c:pt idx="1">
                    <c:v>72</c:v>
                  </c:pt>
                  <c:pt idx="2">
                    <c:v>74</c:v>
                  </c:pt>
                  <c:pt idx="3">
                    <c:v>76</c:v>
                  </c:pt>
                  <c:pt idx="4">
                    <c:v>78</c:v>
                  </c:pt>
                  <c:pt idx="5">
                    <c:v>80</c:v>
                  </c:pt>
                  <c:pt idx="6">
                    <c:v>82</c:v>
                  </c:pt>
                  <c:pt idx="7">
                    <c:v>84</c:v>
                  </c:pt>
                  <c:pt idx="8">
                    <c:v>86</c:v>
                  </c:pt>
                  <c:pt idx="9">
                    <c:v>88</c:v>
                  </c:pt>
                  <c:pt idx="10">
                    <c:v>90</c:v>
                  </c:pt>
                  <c:pt idx="11">
                    <c:v>92</c:v>
                  </c:pt>
                  <c:pt idx="12">
                    <c:v>94</c:v>
                  </c:pt>
                  <c:pt idx="13">
                    <c:v>96</c:v>
                  </c:pt>
                  <c:pt idx="14">
                    <c:v>98</c:v>
                  </c:pt>
                  <c:pt idx="15">
                    <c:v>100</c:v>
                  </c:pt>
                </c:lvl>
              </c:multiLvlStrCache>
            </c:multiLvlStrRef>
          </c:cat>
          <c:val>
            <c:numRef>
              <c:f>Sheet1!$B$2:$B$17</c:f>
              <c:numCache>
                <c:formatCode>General</c:formatCode>
                <c:ptCount val="16"/>
                <c:pt idx="0">
                  <c:v>50.25</c:v>
                </c:pt>
                <c:pt idx="1">
                  <c:v>46.5</c:v>
                </c:pt>
                <c:pt idx="2">
                  <c:v>42.75</c:v>
                </c:pt>
                <c:pt idx="3">
                  <c:v>39</c:v>
                </c:pt>
                <c:pt idx="4">
                  <c:v>35.25</c:v>
                </c:pt>
                <c:pt idx="5">
                  <c:v>31.5</c:v>
                </c:pt>
                <c:pt idx="6">
                  <c:v>27.75</c:v>
                </c:pt>
                <c:pt idx="7">
                  <c:v>24</c:v>
                </c:pt>
                <c:pt idx="8">
                  <c:v>20.25</c:v>
                </c:pt>
                <c:pt idx="9">
                  <c:v>16.5</c:v>
                </c:pt>
                <c:pt idx="10">
                  <c:v>12.75</c:v>
                </c:pt>
                <c:pt idx="11">
                  <c:v>9</c:v>
                </c:pt>
                <c:pt idx="12">
                  <c:v>5.25</c:v>
                </c:pt>
                <c:pt idx="13">
                  <c:v>1.5</c:v>
                </c:pt>
                <c:pt idx="14">
                  <c:v>-2.25</c:v>
                </c:pt>
                <c:pt idx="15">
                  <c:v>-6</c:v>
                </c:pt>
              </c:numCache>
            </c:numRef>
          </c:val>
          <c:smooth val="0"/>
        </c:ser>
        <c:ser>
          <c:idx val="1"/>
          <c:order val="1"/>
          <c:tx>
            <c:strRef>
              <c:f>Sheet1!$C$1</c:f>
              <c:strCache>
                <c:ptCount val="1"/>
                <c:pt idx="0">
                  <c:v>공급 25주</c:v>
                </c:pt>
              </c:strCache>
            </c:strRef>
          </c:tx>
          <c:spPr>
            <a:solidFill>
              <a:srgbClr val="E8743B"/>
            </a:solidFill>
            <a:ln w="25400" cap="flat">
              <a:solidFill>
                <a:srgbClr val="E874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743B"/>
              </a:solidFill>
              <a:ln w="9525" cap="flat">
                <a:solidFill>
                  <a:srgbClr val="E8743B"/>
                </a:solidFill>
                <a:prstDash val="solid"/>
                <a:round/>
              </a:ln>
              <a:effectLst/>
            </c:spPr>
          </c:marker>
          <c:cat>
            <c:multiLvlStrRef>
              <c:f>Sheet1!$A$2:$A$17</c:f>
              <c:multiLvlStrCache>
                <c:ptCount val="16"/>
                <c:lvl>
                  <c:pt idx="0">
                    <c:v>70</c:v>
                  </c:pt>
                  <c:pt idx="1">
                    <c:v>72</c:v>
                  </c:pt>
                  <c:pt idx="2">
                    <c:v>74</c:v>
                  </c:pt>
                  <c:pt idx="3">
                    <c:v>76</c:v>
                  </c:pt>
                  <c:pt idx="4">
                    <c:v>78</c:v>
                  </c:pt>
                  <c:pt idx="5">
                    <c:v>80</c:v>
                  </c:pt>
                  <c:pt idx="6">
                    <c:v>82</c:v>
                  </c:pt>
                  <c:pt idx="7">
                    <c:v>84</c:v>
                  </c:pt>
                  <c:pt idx="8">
                    <c:v>86</c:v>
                  </c:pt>
                  <c:pt idx="9">
                    <c:v>88</c:v>
                  </c:pt>
                  <c:pt idx="10">
                    <c:v>90</c:v>
                  </c:pt>
                  <c:pt idx="11">
                    <c:v>92</c:v>
                  </c:pt>
                  <c:pt idx="12">
                    <c:v>94</c:v>
                  </c:pt>
                  <c:pt idx="13">
                    <c:v>96</c:v>
                  </c:pt>
                  <c:pt idx="14">
                    <c:v>98</c:v>
                  </c:pt>
                  <c:pt idx="15">
                    <c:v>100</c:v>
                  </c:pt>
                </c:lvl>
              </c:multiLvlStrCache>
            </c:multiLvlStrRef>
          </c:cat>
          <c:val>
            <c:numRef>
              <c:f>Sheet1!$C$2:$C$17</c:f>
              <c:numCache>
                <c:formatCode>General</c:formatCode>
                <c:ptCount val="16"/>
                <c:pt idx="0">
                  <c:v>25</c:v>
                </c:pt>
                <c:pt idx="1">
                  <c:v>25</c:v>
                </c:pt>
                <c:pt idx="2">
                  <c:v>25</c:v>
                </c:pt>
                <c:pt idx="3">
                  <c:v>25</c:v>
                </c:pt>
                <c:pt idx="4">
                  <c:v>25</c:v>
                </c:pt>
                <c:pt idx="5">
                  <c:v>25</c:v>
                </c:pt>
                <c:pt idx="6">
                  <c:v>25</c:v>
                </c:pt>
                <c:pt idx="7">
                  <c:v>25</c:v>
                </c:pt>
                <c:pt idx="8">
                  <c:v>25</c:v>
                </c:pt>
                <c:pt idx="9">
                  <c:v>25</c:v>
                </c:pt>
                <c:pt idx="10">
                  <c:v>25</c:v>
                </c:pt>
                <c:pt idx="11">
                  <c:v>25</c:v>
                </c:pt>
                <c:pt idx="12">
                  <c:v>25</c:v>
                </c:pt>
                <c:pt idx="13">
                  <c:v>25</c:v>
                </c:pt>
                <c:pt idx="14">
                  <c:v>25</c:v>
                </c:pt>
                <c:pt idx="15">
                  <c:v>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C8EA4"/>
                    </a:solidFill>
                    <a:latin typeface="Arial"/>
                  </a:defRPr>
                </a:pPr>
                <a:r>
                  <a:rPr sz="1000" b="0" i="0" u="none" strike="noStrike">
                    <a:solidFill>
                      <a:srgbClr val="6C8EA4"/>
                    </a:solidFill>
                    <a:latin typeface="Arial"/>
                  </a:rPr>
                  <a:t>가격 p</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C8EA4"/>
                </a:solidFill>
                <a:latin typeface="+mn-lt"/>
              </a:defRPr>
            </a:pPr>
            <a:endParaRPr lang="en-US"/>
          </a:p>
        </c:txPr>
        <c:crossAx val="2094734552"/>
        <c:crosses val="autoZero"/>
        <c:auto val="1"/>
        <c:lblAlgn val="ctr"/>
        <c:noMultiLvlLbl val="1"/>
        <c:tickLblSkip val="3"/>
      </c:catAx>
      <c:valAx>
        <c:axId val="2094734552"/>
        <c:scaling>
          <c:orientation val="minMax"/>
          <c:max val="60"/>
          <c:min val="-10"/>
        </c:scaling>
        <c:delete val="0"/>
        <c:axPos val="l"/>
        <c:majorGridlines>
          <c:spPr>
            <a:ln w="6350" cap="flat">
              <a:solidFill>
                <a:srgbClr val="D9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8EA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426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산타페 인공주식시장을 '유전알고리즘이 쪽지를 진화시키는 순서'대로 설명합니다. 순서는 ① 초기 쪽지 만들기, ② 쪽지로 시장 돌리기, ③ 채점, ④ 하위 20% 삭제, ⑤ 부모 선택, ⑥ 교차와 변이로 새 쪽지 만들기, ⑦ 새 쪽지 시험이고, 이것이 평균 250기(복잡 체제)나 1000기(RE 체제)마다 반복됩니다. 이 발표는 1996년 12월 원고만을 근거로 합니다. 원고에 없는 내용은 '원고에 없음'으로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쪽지 한 장은 조건 12칸과 예측 계수 (a, b)로 이뤄집니다. 12칸은 연구자가 정한 고정 질문이고, 매일 바뀌는 것은 그 질문의 답(0 또는 1)입니다 (원고 5절 A, p.12). 11번은 항상 1, 12번은 항상 0으로, 정보가 없는 통제용입니다. 기술적 칸(7~10번)이 통제 칸보다 유의하게 더 자주 설정되면 '기술적 거래가 생겨났다'고 판단합니다.
a, b는 예측식 a(p+d)+b의 계수입니다. 원고 3절 B는 '에이전트는 파라미터를 갱신하는 것이 아니라 가설이 맞는지 보고 GA로 새 가설을 만들어 학습한다'고 말합니다. 그래서 기존 쪽지의 a, b는 매일 고치지 않습니다. ('평생 고정'이라는 문장 자체는 원고에 없고 이 서술에서 읽어 낸 해석입니다.)
예상 질문: 투자자끼리 영향을 주나요? → 서로 예상이나 주문을 주고받지 않고, 가격을 통해서만 영향을 줍니다 (3절 A, p.8). 경계값(0.25 등)을 왜 이렇게 골랐나요? → 원고에 없음.
RE 균형의 a는 ρ=0.95와 같고 b는 약 4.5입니다. 원고에 이 숫자가 직접 쓰여 있지는 않고 원고의 식에서 유도한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하루의 흐름입니다 (1996 원고 3절 A, p.9). 기 초에 배당 d_t가 공시되고, 에이전트들이 과거 가격·배당 이력에서 시장 상태 12칸을 확인합니다. 조건이 맞는 활성 쪽지 중 가장 정확한 쪽지의 (a, b)로 다음 기의 가격+배당을 예상하고, 식 (5)로 수요를 계산해 전문가에게 넘깁니다. 전문가는 식 (6)을 만족시키는 가격 p_t를 선언합니다. 다음 기에 새 배당이 공개되면 그때 활성이었던 쪽지의 정확도가 갱신됩니다.
핵심: 투자자는 한 가지 수량이 아니라 '가격이 얼마면 몇 주'라는 수요함수를 냅니다. 분자에는 쪽지의 예상이, 분자의 p(1+r)에는 가격이 들어가므로 쪽지와 가격이 모두 수량을 정합니다. 가격은 누구의 최적값이 아니라 모든 수요가 공급과 만나는 값입니다.
활성 쪽지 선택: 활성 쪽지는 '적합도'가 아니라 '실제 예측 분산이 가장 작은 쪽지'로 고릅니다(적합도는 여기에 복잡함 벌점이 더해진 값이라 GA에서 씁니다). 1996 원고 3절 B는 '가장 정확한 H개를 결합'이라고 쓰고 부록 A는 '가장 정확한 하나만'이라고 써서 서로 다른데, Tesfatsion 노트가 인용한 LeBaron의 2002년 이메일은 후자(하나)가 맞다고 확인했습니다.
4000기 규칙은 1996 원고에 없고 LeBaron 외(1999)에 있는 내용입니다.
상태 칸에 쓰는 가격의 시점: 3절 A의 타이밍 설명에서는 가격 이력이 p_{t−1}까지이고 5절의 칸 목록에는 'Current price'라고 적혀 있어 원고 내부에서 불명확합니다. 후속 자료(LeBaron 메모)에 따르면 거래 시작 전 500기의 예비 기간 동안 배당만 흘러가고 가격은 d/r로 놓아 이동평균 이력을 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식 (5)에 예상 a(p+d)+b를 대입하면 수요는 p의 일차식입니다. A그룹 12명(b=4.5)과 B그룹 13명(b=5.5)의 수요를 더하면 Σx = 181.5 − 1.875p이고, 이것이 공급 25와 같아지는 가격은 p=83.47입니다. 이 가격에서 각자의 수량은 0.74주와 1.24주이고 합은 25주입니다. 모두 b=4.5이면 가격은 80입니다.
그래프는 이 직선과 25의 교차를 보여 줍니다. 가격이 오르면 총수요가 줄어드는 우하향 직선이라 교차점이 하나입니다. 이것은 제가 식 (5)(6)에서 분석한 결과이고 1996 원고에는 직접 서술이 없습니다 (원고는 식 (5)와 (6)을 '직접 풀어' 가격을 구한다고만 말합니다). a가 1.1 이상인 쪽지가 지배적이면 기울기가 0이나 양수가 되어 예외가 생길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정확도는 식 (7)로 갱신됩니다. 새 오차 평균 = 옛 오차 평균×(1−θ) + 이번 예측 오차의 제곱×θ입니다. 원고 부록 A는 이 정확도가 '쪽지가 활성일 때마다' 갱신된다고 적습니다. θ는 복잡 체제에서 1/75, RE 체제에서 1/150입니다.
정확도는 세 곳에 쓰입니다 (부록 A, p.23). 첫째, 활성 쪽지가 여럿이면 가장 정확한 것만 씁니다. 둘째, GA에서 재조합할 쪽지를 고르는 적합도 식 (8)의 일부입니다. 셋째, 수요식 (5)의 분산으로 쓰이는데, GA가 도는 시점에만 현재 값으로 갱신됩니다.
식 (8)의 점수는 M − e² − C·s입니다. C=0.005이고 s는 0 또는 1로 정한 칸의 수입니다. 표의 예시는 제가 만든 숫자로, 정확도가 거의 같으면 단순한 쪽지가 이긴다는 점을 보여 줍니다. 이 때문에 쓸모없는 칸이 '#'로 돌아가는 약한 흐름이 생겨, 정보가 정말 유용할 때만 그 칸이 쓰입니다.
주의: 식 (8)의 M은 상수이고 투자자당 쪽지 수 M=100과 다른 것입니다. 원고가 같은 글자를 씁니다.
예상 질문: 매일 쪽지를 고르는 것과 GA는 같은 건가요? → 아닙니다. 학습은 두 속도로 일어납니다. 빠르게는 어느 쪽지가 정확한지 배우는 것(매 기), 느리게는 GA가 못한 쪽지를 버리고 새 쪽지를 만드는 것입니다 (3절 B, 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GA가 도는 날, 그 투자자의 쪽지 중 정확도가 가장 낮은 20%(20장)를 버립니다 (1996 원고 부록 A, p.23). 노트에 따르면 기본 쪽지는 항상 유지되므로 '99개 중 20개를 삭제하고 80%를 유지'입니다.
부모 선정(LeBaron 외 1999, p.1498): 버려지지 않은 80개(엘리트) 중에서 무작위로 2개를 뽑고, 둘 중 적합도가 높은 하나만 부모로 유지합니다. 이것을 2번 반복하면 부모 2명입니다 (교차가 아니라 변이로 만들 때는 1번만).
1996 원고는 이런 서술 없이 '정확도가 높을수록, 그리고 정한 칸이 많을수록 낮은 확률로' 선택된다고만 적고 부록에서 '토너먼트 순위'라는 말을 씁니다. 그래서 2개 비교와 80개 풀은 후속 자료(LeBaron 1999, Tesfatsion 노트)에 근거한 내용입니다. 기본 쪽지가 부모 후보에 포함되는지, 두 번째 부모를 뽑을 때 첫 번째 부모를 제외하는지는 어느 자료에도 없습니다.
중요: 우월한 쪽지가 자식으로 들어가는 것이 아닙니다. 우월한 쪽지는 부모가 되고, 자식은 부모를 교차하거나 변이시킨 새 쪽지입니다.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교차는 확률 P로 일어나고(RE 체제 0.3, 복잡 체제 0.1), 일어나지 않으면 변이로 새 쪽지를 만듭니다. 1996 원고(부록 A, p.24)는 'a, b는 성분별로, 또는 두 벡터의 선형결합으로, 또는 한쪽 벡터를 통째로 선택해 교차한다'고 적고, 조건 문자열은 '균일 교차(두 부모 각각에서 칸마다 하나를 무작위로 고른다)'라고 적습니다. 후속 자료(LeBaron 외 1999, p.1498; Tesfatsion 노트)는 이것을 세 방법이 같은 확률이고, 선형결합의 가중치가 예측 분산의 역수라고 구체화합니다.
인용에 대한 메모: 사용자가 정리한 슬라이드 초안은 (a, b)의 세 방법을 LeBaron(2002)에서 인용했는데, 제가 확인한 것은 LeBaron 외 1999(p.1498)와 1996 원고 부록 A입니다. LeBaron 2002 본문은 읽지 못했으므로 인용을 확인해서 필요하면 고치세요.
그림은 제가 만든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변이는 교차를 쓰지 않을 때(확률 1−P) 쓰입니다. 부모 하나를 같은 방식(80개 중 2개 비교)으로 고르고, 조건 비트와 (a, b)를 바꿉니다. 1996 원고(부록 A, p.24)는 '칸은 확률 0.03으로 변이하고, 예측 계수는 각 성분에 무작위 변수를 더해 변이시킨다'고만 적고 세부 확률은 없습니다. 이 슬라이드의 세부 확률은 LeBaron 외(1999, p.1498, 각주 16·17)에 근거합니다.
칸 변이: 12칸 각각이 3%의 확률로 변이 후보가 되고, 변이가 일어나면 0은 #로 67%, 1로 33% 바뀌고, 1은 #로 67%, 0으로 33% 바뀌고, #는 0, 1, # 각 33.3%입니다.
(a, b) 변이: a와 b 각각에 대해 60%는 원래 값 유지, 20%는 허용 범위에서 균등분포로 새로 선정, 20%는 허용 범위 폭의 ±0.05% 안에서 다시 선정합니다. 사용자 초안은 '원래 값 ±0.05%'라고 썼는데, 제가 확인한 LeBaron 외 1999의 문장은 '허용 범위의 ±0.05%'(범위 폭에 대한 비율)라서 그렇게 고쳤습니다. 이 값은 아주 작은 변화입니다.
주의: 위 확률 표는 1996 원고에는 없는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쪽지는 분산 초기값을 받고 시작합니다 (부록 A, p.24). 부모 분산의 평균이고, 칸이 바뀌었으면 전체 쪽지의 평균 분산입니다. 그 값이 현재 기본 쪽지의 분산에서 평균절대편차를 뺀 값보다 낮으면 중앙값으로 올립니다. 새 쪽지가 근거 없이 너무 유리해지지 않게 하는 장치입니다.
새 쪽지는 매 기 쪽지를 고르는 기준(가장 정확한 것)에서 이겨야 활성이 됩니다. 그래서 새로 만든 쪽지가 시장을 흔들지 않습니다. 원고는 이것을 '시험되지 않은 새 쪽지는 혼란을 일으키지 않는다. 정확할 때만 쓰이므로 학습이 부드럽다(gracefulness)'고 표현합니다 (3절 B, p.10).
학습은 두 속도로 일어납니다. 빠르게는 어느 쪽지가 정확한지 배우는 것(매 기), 느리게는 GA가 못한 쪽지를 버리고 새 쪽지를 만드는 것입니다. GA는 평균 250기(복잡 체제) 또는 1000기(RE 체제)마다 투자자마다 따로 돕니다 (부록 A, p.23). 이 사이클을 250,000기간 돌리고 25회 반복합니다 (5절 A, p.12).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1996 원고(Arthur 외)의 실험은 세 매개변수를 함께 바꿨습니다. 느린 학습은 업데이트 확률 1/1000, 교차 0.30, θ=1/150이고 중간 학습은 1/250, 0.10, 1/75입니다. LeBaron 외(1999)는 교차 확률을 항상 0.10으로, θ를 항상 1/75로 고정하고 GA 호출 간격만 바꿔서 모든 실험을 다시 했으며 1997 결과와 유의미한 차이를 찾지 못했습니다 (Tesfatsion 노트). 1996 원고 각주 9도 '호출 빈도만 바꿔도 두 체제가 나타난다'고 적습니다.
기호 주의: 이 발표에서 K는 'GA 호출 간격(평균 K기)'입니다. Tesfatsion 노트는 쪽지 수(100)를 K로 쓰고 호출 확률을 pu로 쓰며, 1996 원고는 쪽지 수를 M으로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체제는 GA 호출 빈도뿐 아니라 교차 확률과 θ도 다르게 쓰였습니다 (RE 체제: 1000기, 0.3, 1/150 / 복잡 체제: 250기, 0.1, 1/75). 그러나 각주 9는 'GA 호출 빈도만 바꿔도 두 체제가 나타나고 결과가 실질적으로 같다'고 밝힙니다.
결과 (Table 1, 25회의 중앙값, 250,000기 이후): 표준편차는 2.1002 대 2.1007로 같고, 첨도는 0.0131 대 0.3429, 거래량(1만 기)은 2,460.9 대 7,783.8로 복잡 체제에서 약 300% 큽니다. 기술적 칸은 RE 체제에서는 사라지고 복잡 체제에서는 늘어나 약 15만 기 뒤 정상상태에 이릅니다 (Fig. 3). 500기 이동평균 지표를 넣은 회귀에서 복잡 체제의 t값은 5.1입니다. 변동성 군집(GARCH)과 거래량의 지속성은 IBM 일별 자료와 모양이 비슷합니다 (Fig. 4~6).
왜 복잡해지나: 시장 상태 칸이 신호(sunspot처럼) 역할을 해서, 우연히 생긴 '오르면 계속 오른다' 같은 쪽지를 쓰는 사람들이 가격을 움직여 그 쪽지를 맞아 보이게 만들고, 이렇게 서로를 강화하는 쪽지 집단이 유지됩니다. 모든 쪽지의 조건을 비교체 #로 고정하면 복잡 체제가 나타나지 않는다는 실험이 이를 뒷받침합니다 (p.17).
주의: 원고 부록의 g 식에는 (1+f)가 한 번만 쓰여 있는데, 원고의 값(σ²_{p+d}=4.0)과 맞추려면 (1+f)²이어야 하고 그래야 g=16.69, 가격 80이 됩니다. 원고 식대로 계산하면 가격이 약 97이 됩니다. 식 (10)과 Table 1의 RE 체제 첨도(왜도와 같은 0.0131)도 오타로 보입니다. 모두 원고 내부 숫자로 검산한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 이 모형은 외부 충격이 배당 하나뿐인데도, GA가 쪽지를 갱신하는 빈도에 따라 효율적 시장(RE 체제)과 복잡한 시장(복잡 체제)이 모두 나타남을 보입니다. 저자들은 두 견해(학자와 트레이더)가 모두 맞고 체제가 다를 뿐이라고 결론 내립니다 (7절).
레버리지 확장을 위해 짚을 점: (1) 식 (5)의 수요에는 부가 들어 있지 않아서, 증거금과 강제청산은 수요식 바깥의 제약으로 붙여야 합니다. (2) 쪽지는 이익이 아니라 예측 정확도로 평가됩니다. 원고 각주 14는 슬리피지가 있으면 이익 기준과 정확도 기준의 결과가 다를 수 있고, 같은 질적 결과가 나오리라 믿지만 증명하지는 않았다고 인정합니다. (3) 부록 B는 이 틀이 CRRA 효용, 재고를 가진 전문가(시장조성자), 거래세, 부에 의한 에이전트 선택을 허용한다고 말합니다.
세 번째 카드는 원고에 적혀 있지 않아서 구현할 때 정해야 하는 것들입니다. 자세한 목록은 부록 3을 참고하세요.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A와 5절의 값입니다. a와 b의 초기 범위는 RE 값(a=0.95, b≈4.5)을 중심으로 대칭입니다. 초기 분산 4.0은 RE 균형에서의 (가격+배당) 분산입니다. σ²_e=0.0743은 이 분산이 4.0이 되도록 고른 값입니다 (부록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식 (1)~(3)은 원고 2절 A에서 '연역으로는 기대를 정할 수 없다'는 논증에 쓰입니다. 식 (1)은 차익거래가 완전한 시장의 가격, 식 (2)는 모두가 같은 예상일 때의 닫힌 해, 식 (3)은 이질적일 때 남의 예상의 예상으로 무한소급이 되는 모습입니다 (케인스의 미인대회).
식 (9)는 모두가 1주씩 보유하는 균형입니다. 원고의 g 식과 식 (10)은 σ²_{p+d}=4.0과 숫자가 맞지 않아 오타로 보입니다. 구현 때는 f=6.3333, g=16.688을 쓰고 원고 식은 쓰지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표는 구현 단계에서 결정하고 문서에 기록할 항목입니다. 1996 원고에 없던 항목 중 상당수는 LeBaron 외(1999)와 Tesfatsion 노트에 있고, 그래도 없는 것은 경계값 선택 이유와 기본 쪽지의 부모 후보 여부입니다.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63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8229600" cy="5029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7863840" cy="822960"/>
          </a:xfrm>
          <a:prstGeom prst="rect">
            <a:avLst/>
          </a:prstGeom>
          <a:noFill/>
          <a:ln/>
        </p:spPr>
        <p:txBody>
          <a:bodyPr wrap="square" lIns="0" tIns="0" rIns="0" bIns="0" rtlCol="0" anchor="ctr"/>
          <a:lstStyle/>
          <a:p>
            <a:pPr indent="0" marL="0">
              <a:buNone/>
            </a:pPr>
            <a:r>
              <a:rPr lang="en-US" sz="4000" b="1" dirty="0">
                <a:solidFill>
                  <a:schemeClr val="bg1"/>
                </a:solidFill>
                <a:latin typeface="Malgun Gothic" pitchFamily="34" charset="0"/>
                <a:ea typeface="Malgun Gothic" pitchFamily="34" charset="-122"/>
                <a:cs typeface="Malgun Gothic" pitchFamily="34" charset="-120"/>
              </a:rPr>
              <a:t>산타페 인공주식시장</a:t>
            </a:r>
            <a:endParaRPr lang="en-US" sz="4000" dirty="0"/>
          </a:p>
        </p:txBody>
      </p:sp>
      <p:sp>
        <p:nvSpPr>
          <p:cNvPr id="3" name="Text 1"/>
          <p:cNvSpPr txBox="1"/>
          <p:nvPr/>
        </p:nvSpPr>
        <p:spPr>
          <a:xfrm>
            <a:off x="640080" y="1463040"/>
            <a:ext cx="7863840" cy="548640"/>
          </a:xfrm>
          <a:prstGeom prst="rect">
            <a:avLst/>
          </a:prstGeom>
          <a:noFill/>
          <a:ln/>
        </p:spPr>
        <p:txBody>
          <a:bodyPr wrap="square" lIns="0" tIns="0" rIns="0" bIns="0" rtlCol="0" anchor="ctr"/>
          <a:lstStyle/>
          <a:p>
            <a:pPr indent="0" marL="0">
              <a:buNone/>
            </a:pPr>
            <a:r>
              <a:rPr lang="en-US" sz="2400" b="1" dirty="0">
                <a:solidFill>
                  <a:schemeClr val="accent4"/>
                </a:solidFill>
                <a:latin typeface="Malgun Gothic" pitchFamily="34" charset="0"/>
                <a:ea typeface="Malgun Gothic" pitchFamily="34" charset="-122"/>
                <a:cs typeface="Malgun Gothic" pitchFamily="34" charset="-120"/>
              </a:rPr>
              <a:t>쪽지가 진화하며 시장의 성격이 바뀐다</a:t>
            </a:r>
            <a:endParaRPr lang="en-US" sz="2400" dirty="0"/>
          </a:p>
        </p:txBody>
      </p:sp>
      <p:sp>
        <p:nvSpPr>
          <p:cNvPr id="4" name="Text 2"/>
          <p:cNvSpPr txBox="1"/>
          <p:nvPr/>
        </p:nvSpPr>
        <p:spPr>
          <a:xfrm>
            <a:off x="640080" y="2103120"/>
            <a:ext cx="7863840" cy="365760"/>
          </a:xfrm>
          <a:prstGeom prst="rect">
            <a:avLst/>
          </a:prstGeom>
          <a:noFill/>
          <a:ln/>
        </p:spPr>
        <p:txBody>
          <a:bodyPr wrap="square" lIns="0" tIns="0" rIns="0" bIns="0" rtlCol="0" anchor="ctr"/>
          <a:lstStyle/>
          <a:p>
            <a:pPr indent="0" marL="0">
              <a:buNone/>
            </a:pPr>
            <a:r>
              <a:rPr lang="en-US" sz="1600" dirty="0">
                <a:solidFill>
                  <a:schemeClr val="bg2"/>
                </a:solidFill>
                <a:latin typeface="Malgun Gothic" pitchFamily="34" charset="0"/>
                <a:ea typeface="Malgun Gothic" pitchFamily="34" charset="-122"/>
                <a:cs typeface="Malgun Gothic" pitchFamily="34" charset="-120"/>
              </a:rPr>
              <a:t>유전알고리즘(GA) 한 사이클의 순서대로 설명합니다</a:t>
            </a:r>
            <a:endParaRPr lang="en-US" sz="1600" dirty="0"/>
          </a:p>
        </p:txBody>
      </p:sp>
      <p:sp>
        <p:nvSpPr>
          <p:cNvPr id="5" name="cover0"/>
          <p:cNvSpPr/>
          <p:nvPr/>
        </p:nvSpPr>
        <p:spPr>
          <a:xfrm>
            <a:off x="640080" y="2926080"/>
            <a:ext cx="1024128" cy="502920"/>
          </a:xfrm>
          <a:prstGeom prst="roundRect">
            <a:avLst>
              <a:gd name="adj" fmla="val 10909"/>
            </a:avLst>
          </a:prstGeom>
          <a:solidFill>
            <a:schemeClr val="bg2"/>
          </a:solidFill>
          <a:ln w="12700">
            <a:solidFill>
              <a:schemeClr val="bg2"/>
            </a:solidFill>
            <a:prstDash val="solid"/>
          </a:ln>
        </p:spPr>
      </p:sp>
      <p:sp>
        <p:nvSpPr>
          <p:cNvPr id="6" name="Text 4"/>
          <p:cNvSpPr txBox="1"/>
          <p:nvPr/>
        </p:nvSpPr>
        <p:spPr>
          <a:xfrm>
            <a:off x="640080" y="2926080"/>
            <a:ext cx="1024128" cy="50292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① 초기 쪽지</a:t>
            </a:r>
            <a:endParaRPr lang="en-US" sz="1100" dirty="0"/>
          </a:p>
        </p:txBody>
      </p:sp>
      <p:sp>
        <p:nvSpPr>
          <p:cNvPr id="7" name="cover1"/>
          <p:cNvSpPr/>
          <p:nvPr/>
        </p:nvSpPr>
        <p:spPr>
          <a:xfrm>
            <a:off x="1755648" y="2926080"/>
            <a:ext cx="1024128" cy="502920"/>
          </a:xfrm>
          <a:prstGeom prst="roundRect">
            <a:avLst>
              <a:gd name="adj" fmla="val 10909"/>
            </a:avLst>
          </a:prstGeom>
          <a:solidFill>
            <a:schemeClr val="bg2"/>
          </a:solidFill>
          <a:ln w="12700">
            <a:solidFill>
              <a:schemeClr val="bg2"/>
            </a:solidFill>
            <a:prstDash val="solid"/>
          </a:ln>
        </p:spPr>
      </p:sp>
      <p:sp>
        <p:nvSpPr>
          <p:cNvPr id="8" name="Text 6"/>
          <p:cNvSpPr txBox="1"/>
          <p:nvPr/>
        </p:nvSpPr>
        <p:spPr>
          <a:xfrm>
            <a:off x="1755648" y="2926080"/>
            <a:ext cx="1024128" cy="50292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② 시장</a:t>
            </a:r>
            <a:endParaRPr lang="en-US" sz="1100" dirty="0"/>
          </a:p>
        </p:txBody>
      </p:sp>
      <p:sp>
        <p:nvSpPr>
          <p:cNvPr id="9" name="cover2"/>
          <p:cNvSpPr/>
          <p:nvPr/>
        </p:nvSpPr>
        <p:spPr>
          <a:xfrm>
            <a:off x="2871216" y="2926080"/>
            <a:ext cx="1024128" cy="502920"/>
          </a:xfrm>
          <a:prstGeom prst="roundRect">
            <a:avLst>
              <a:gd name="adj" fmla="val 10909"/>
            </a:avLst>
          </a:prstGeom>
          <a:solidFill>
            <a:schemeClr val="bg2"/>
          </a:solidFill>
          <a:ln w="12700">
            <a:solidFill>
              <a:schemeClr val="bg2"/>
            </a:solidFill>
            <a:prstDash val="solid"/>
          </a:ln>
        </p:spPr>
      </p:sp>
      <p:sp>
        <p:nvSpPr>
          <p:cNvPr id="10" name="Text 8"/>
          <p:cNvSpPr txBox="1"/>
          <p:nvPr/>
        </p:nvSpPr>
        <p:spPr>
          <a:xfrm>
            <a:off x="2871216" y="2926080"/>
            <a:ext cx="1024128" cy="50292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③ 채점</a:t>
            </a:r>
            <a:endParaRPr lang="en-US" sz="1100" dirty="0"/>
          </a:p>
        </p:txBody>
      </p:sp>
      <p:sp>
        <p:nvSpPr>
          <p:cNvPr id="11" name="cover3"/>
          <p:cNvSpPr/>
          <p:nvPr/>
        </p:nvSpPr>
        <p:spPr>
          <a:xfrm>
            <a:off x="3986784" y="2926080"/>
            <a:ext cx="1024128" cy="502920"/>
          </a:xfrm>
          <a:prstGeom prst="roundRect">
            <a:avLst>
              <a:gd name="adj" fmla="val 10909"/>
            </a:avLst>
          </a:prstGeom>
          <a:solidFill>
            <a:schemeClr val="bg2"/>
          </a:solidFill>
          <a:ln w="12700">
            <a:solidFill>
              <a:schemeClr val="bg2"/>
            </a:solidFill>
            <a:prstDash val="solid"/>
          </a:ln>
        </p:spPr>
      </p:sp>
      <p:sp>
        <p:nvSpPr>
          <p:cNvPr id="12" name="Text 10"/>
          <p:cNvSpPr txBox="1"/>
          <p:nvPr/>
        </p:nvSpPr>
        <p:spPr>
          <a:xfrm>
            <a:off x="3986784" y="2926080"/>
            <a:ext cx="1024128" cy="50292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④ 삭제</a:t>
            </a:r>
            <a:endParaRPr lang="en-US" sz="1100" dirty="0"/>
          </a:p>
        </p:txBody>
      </p:sp>
      <p:sp>
        <p:nvSpPr>
          <p:cNvPr id="13" name="cover4"/>
          <p:cNvSpPr/>
          <p:nvPr/>
        </p:nvSpPr>
        <p:spPr>
          <a:xfrm>
            <a:off x="5102352" y="2926080"/>
            <a:ext cx="1024128" cy="502920"/>
          </a:xfrm>
          <a:prstGeom prst="roundRect">
            <a:avLst>
              <a:gd name="adj" fmla="val 10909"/>
            </a:avLst>
          </a:prstGeom>
          <a:solidFill>
            <a:schemeClr val="bg2"/>
          </a:solidFill>
          <a:ln w="12700">
            <a:solidFill>
              <a:schemeClr val="bg2"/>
            </a:solidFill>
            <a:prstDash val="solid"/>
          </a:ln>
        </p:spPr>
      </p:sp>
      <p:sp>
        <p:nvSpPr>
          <p:cNvPr id="14" name="Text 12"/>
          <p:cNvSpPr txBox="1"/>
          <p:nvPr/>
        </p:nvSpPr>
        <p:spPr>
          <a:xfrm>
            <a:off x="5102352" y="2926080"/>
            <a:ext cx="1024128" cy="50292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⑤ 부모</a:t>
            </a:r>
            <a:endParaRPr lang="en-US" sz="1100" dirty="0"/>
          </a:p>
        </p:txBody>
      </p:sp>
      <p:sp>
        <p:nvSpPr>
          <p:cNvPr id="15" name="cover5"/>
          <p:cNvSpPr/>
          <p:nvPr/>
        </p:nvSpPr>
        <p:spPr>
          <a:xfrm>
            <a:off x="6217920" y="2926080"/>
            <a:ext cx="1024128" cy="502920"/>
          </a:xfrm>
          <a:prstGeom prst="roundRect">
            <a:avLst>
              <a:gd name="adj" fmla="val 10909"/>
            </a:avLst>
          </a:prstGeom>
          <a:solidFill>
            <a:schemeClr val="bg2"/>
          </a:solidFill>
          <a:ln w="12700">
            <a:solidFill>
              <a:schemeClr val="bg2"/>
            </a:solidFill>
            <a:prstDash val="solid"/>
          </a:ln>
        </p:spPr>
      </p:sp>
      <p:sp>
        <p:nvSpPr>
          <p:cNvPr id="16" name="Text 14"/>
          <p:cNvSpPr txBox="1"/>
          <p:nvPr/>
        </p:nvSpPr>
        <p:spPr>
          <a:xfrm>
            <a:off x="6217920" y="2926080"/>
            <a:ext cx="1024128" cy="50292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⑥ 교차·변이</a:t>
            </a:r>
            <a:endParaRPr lang="en-US" sz="1100" dirty="0"/>
          </a:p>
        </p:txBody>
      </p:sp>
      <p:sp>
        <p:nvSpPr>
          <p:cNvPr id="17" name="cover6"/>
          <p:cNvSpPr/>
          <p:nvPr/>
        </p:nvSpPr>
        <p:spPr>
          <a:xfrm>
            <a:off x="7333488" y="2926080"/>
            <a:ext cx="1024128" cy="502920"/>
          </a:xfrm>
          <a:prstGeom prst="roundRect">
            <a:avLst>
              <a:gd name="adj" fmla="val 10909"/>
            </a:avLst>
          </a:prstGeom>
          <a:solidFill>
            <a:schemeClr val="bg2"/>
          </a:solidFill>
          <a:ln w="12700">
            <a:solidFill>
              <a:schemeClr val="bg2"/>
            </a:solidFill>
            <a:prstDash val="solid"/>
          </a:ln>
        </p:spPr>
      </p:sp>
      <p:sp>
        <p:nvSpPr>
          <p:cNvPr id="18" name="Text 16"/>
          <p:cNvSpPr txBox="1"/>
          <p:nvPr/>
        </p:nvSpPr>
        <p:spPr>
          <a:xfrm>
            <a:off x="7333488" y="2926080"/>
            <a:ext cx="1024128" cy="50292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⑦ 시험</a:t>
            </a:r>
            <a:endParaRPr lang="en-US" sz="1100" dirty="0"/>
          </a:p>
        </p:txBody>
      </p:sp>
      <p:sp>
        <p:nvSpPr>
          <p:cNvPr id="19" name="Text 17"/>
          <p:cNvSpPr txBox="1"/>
          <p:nvPr/>
        </p:nvSpPr>
        <p:spPr>
          <a:xfrm>
            <a:off x="640080" y="3566160"/>
            <a:ext cx="7863840" cy="320040"/>
          </a:xfrm>
          <a:prstGeom prst="rect">
            <a:avLst/>
          </a:prstGeom>
          <a:noFill/>
          <a:ln/>
        </p:spPr>
        <p:txBody>
          <a:bodyPr wrap="square" lIns="0" tIns="0" rIns="0" bIns="0" rtlCol="0" anchor="ctr"/>
          <a:lstStyle/>
          <a:p>
            <a:pPr indent="0" marL="0">
              <a:buNone/>
            </a:pPr>
            <a:r>
              <a:rPr lang="en-US" sz="1400" dirty="0">
                <a:solidFill>
                  <a:schemeClr val="accent4"/>
                </a:solidFill>
                <a:latin typeface="Malgun Gothic" pitchFamily="34" charset="0"/>
                <a:ea typeface="Malgun Gothic" pitchFamily="34" charset="-122"/>
                <a:cs typeface="Malgun Gothic" pitchFamily="34" charset="-120"/>
              </a:rPr>
              <a:t>↻ 평균 250기(복잡 체제) 또는 1000기(RE 체제)마다 반복</a:t>
            </a:r>
            <a:endParaRPr lang="en-US" sz="1400" dirty="0"/>
          </a:p>
        </p:txBody>
      </p:sp>
      <p:sp>
        <p:nvSpPr>
          <p:cNvPr id="20" name="Text 18"/>
          <p:cNvSpPr txBox="1"/>
          <p:nvPr/>
        </p:nvSpPr>
        <p:spPr>
          <a:xfrm>
            <a:off x="640080" y="4297680"/>
            <a:ext cx="7863840" cy="457200"/>
          </a:xfrm>
          <a:prstGeom prst="rect">
            <a:avLst/>
          </a:prstGeom>
          <a:noFill/>
          <a:ln/>
        </p:spPr>
        <p:txBody>
          <a:bodyPr wrap="square" lIns="0" tIns="0" rIns="0" bIns="0" rtlCol="0" anchor="t"/>
          <a:lstStyle/>
          <a:p>
            <a:pPr indent="0" marL="0">
              <a:buNone/>
            </a:pPr>
            <a:r>
              <a:rPr lang="en-US" sz="1100" dirty="0">
                <a:solidFill>
                  <a:schemeClr val="accent3"/>
                </a:solidFill>
                <a:latin typeface="Malgun Gothic" pitchFamily="34" charset="0"/>
                <a:ea typeface="Malgun Gothic" pitchFamily="34" charset="-122"/>
                <a:cs typeface="Malgun Gothic" pitchFamily="34" charset="-120"/>
              </a:rPr>
              <a:t>Arthur, Holland, LeBaron, Palmer &amp; Tayler, "Asset Pricing Under Endogenous Expectations in an Artificial Stock Market" (Dec 12, 1996 working paper)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accent2"/>
          </a:solidFill>
          <a:ln w="12700">
            <a:solidFill>
              <a:schemeClr val="accent2"/>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bg2"/>
          </a:solidFill>
          <a:ln w="12700">
            <a:solidFill>
              <a:schemeClr val="bg2"/>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bg2"/>
          </a:solidFill>
          <a:ln w="12700">
            <a:solidFill>
              <a:schemeClr val="bg2"/>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bg2"/>
          </a:solidFill>
          <a:ln w="12700">
            <a:solidFill>
              <a:schemeClr val="bg2"/>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bg2"/>
          </a:solidFill>
          <a:ln w="12700">
            <a:solidFill>
              <a:schemeClr val="bg2"/>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bg2"/>
          </a:solidFill>
          <a:ln w="12700">
            <a:solidFill>
              <a:schemeClr val="bg2"/>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bg2"/>
          </a:solidFill>
          <a:ln w="12700">
            <a:solidFill>
              <a:schemeClr val="bg2"/>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① 초기 쪽지: 무작위 100장에서 출발</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쪽지 한 장 = 조건 12칸 + 예측 (a, b)</a:t>
            </a:r>
            <a:endParaRPr lang="en-US" sz="1400" dirty="0"/>
          </a:p>
        </p:txBody>
      </p:sp>
      <p:sp>
        <p:nvSpPr>
          <p:cNvPr id="18" name="cell0"/>
          <p:cNvSpPr/>
          <p:nvPr/>
        </p:nvSpPr>
        <p:spPr>
          <a:xfrm>
            <a:off x="457200" y="1417320"/>
            <a:ext cx="347472" cy="411480"/>
          </a:xfrm>
          <a:prstGeom prst="rect">
            <a:avLst/>
          </a:prstGeom>
          <a:solidFill>
            <a:srgbClr val="0E7C86"/>
          </a:solidFill>
          <a:ln w="12700">
            <a:solidFill>
              <a:srgbClr val="0E7C86"/>
            </a:solidFill>
            <a:prstDash val="solid"/>
          </a:ln>
        </p:spPr>
      </p:sp>
      <p:sp>
        <p:nvSpPr>
          <p:cNvPr id="19" name="Text 17"/>
          <p:cNvSpPr txBox="1"/>
          <p:nvPr/>
        </p:nvSpPr>
        <p:spPr>
          <a:xfrm>
            <a:off x="457200"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1</a:t>
            </a:r>
            <a:endParaRPr lang="en-US" sz="1400" dirty="0"/>
          </a:p>
        </p:txBody>
      </p:sp>
      <p:sp>
        <p:nvSpPr>
          <p:cNvPr id="20" name="cell1"/>
          <p:cNvSpPr/>
          <p:nvPr/>
        </p:nvSpPr>
        <p:spPr>
          <a:xfrm>
            <a:off x="859536" y="1417320"/>
            <a:ext cx="347472" cy="411480"/>
          </a:xfrm>
          <a:prstGeom prst="rect">
            <a:avLst/>
          </a:prstGeom>
          <a:solidFill>
            <a:srgbClr val="0E7C86"/>
          </a:solidFill>
          <a:ln w="12700">
            <a:solidFill>
              <a:srgbClr val="0E7C86"/>
            </a:solidFill>
            <a:prstDash val="solid"/>
          </a:ln>
        </p:spPr>
      </p:sp>
      <p:sp>
        <p:nvSpPr>
          <p:cNvPr id="21" name="Text 19"/>
          <p:cNvSpPr txBox="1"/>
          <p:nvPr/>
        </p:nvSpPr>
        <p:spPr>
          <a:xfrm>
            <a:off x="859536"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22" name="cell2"/>
          <p:cNvSpPr/>
          <p:nvPr/>
        </p:nvSpPr>
        <p:spPr>
          <a:xfrm>
            <a:off x="1261872" y="1417320"/>
            <a:ext cx="347472" cy="411480"/>
          </a:xfrm>
          <a:prstGeom prst="rect">
            <a:avLst/>
          </a:prstGeom>
          <a:solidFill>
            <a:srgbClr val="0E7C86"/>
          </a:solidFill>
          <a:ln w="12700">
            <a:solidFill>
              <a:srgbClr val="0E7C86"/>
            </a:solidFill>
            <a:prstDash val="solid"/>
          </a:ln>
        </p:spPr>
      </p:sp>
      <p:sp>
        <p:nvSpPr>
          <p:cNvPr id="23" name="Text 21"/>
          <p:cNvSpPr txBox="1"/>
          <p:nvPr/>
        </p:nvSpPr>
        <p:spPr>
          <a:xfrm>
            <a:off x="1261872"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24" name="cell3"/>
          <p:cNvSpPr/>
          <p:nvPr/>
        </p:nvSpPr>
        <p:spPr>
          <a:xfrm>
            <a:off x="1664208" y="1417320"/>
            <a:ext cx="347472" cy="411480"/>
          </a:xfrm>
          <a:prstGeom prst="rect">
            <a:avLst/>
          </a:prstGeom>
          <a:solidFill>
            <a:srgbClr val="0E7C86"/>
          </a:solidFill>
          <a:ln w="12700">
            <a:solidFill>
              <a:srgbClr val="0E7C86"/>
            </a:solidFill>
            <a:prstDash val="solid"/>
          </a:ln>
        </p:spPr>
      </p:sp>
      <p:sp>
        <p:nvSpPr>
          <p:cNvPr id="25" name="Text 23"/>
          <p:cNvSpPr txBox="1"/>
          <p:nvPr/>
        </p:nvSpPr>
        <p:spPr>
          <a:xfrm>
            <a:off x="1664208"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0</a:t>
            </a:r>
            <a:endParaRPr lang="en-US" sz="1400" dirty="0"/>
          </a:p>
        </p:txBody>
      </p:sp>
      <p:sp>
        <p:nvSpPr>
          <p:cNvPr id="26" name="cell4"/>
          <p:cNvSpPr/>
          <p:nvPr/>
        </p:nvSpPr>
        <p:spPr>
          <a:xfrm>
            <a:off x="2066544" y="1417320"/>
            <a:ext cx="347472" cy="411480"/>
          </a:xfrm>
          <a:prstGeom prst="rect">
            <a:avLst/>
          </a:prstGeom>
          <a:solidFill>
            <a:srgbClr val="0E7C86"/>
          </a:solidFill>
          <a:ln w="12700">
            <a:solidFill>
              <a:srgbClr val="0E7C86"/>
            </a:solidFill>
            <a:prstDash val="solid"/>
          </a:ln>
        </p:spPr>
      </p:sp>
      <p:sp>
        <p:nvSpPr>
          <p:cNvPr id="27" name="Text 25"/>
          <p:cNvSpPr txBox="1"/>
          <p:nvPr/>
        </p:nvSpPr>
        <p:spPr>
          <a:xfrm>
            <a:off x="2066544"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28" name="cell5"/>
          <p:cNvSpPr/>
          <p:nvPr/>
        </p:nvSpPr>
        <p:spPr>
          <a:xfrm>
            <a:off x="2468880" y="1417320"/>
            <a:ext cx="347472" cy="411480"/>
          </a:xfrm>
          <a:prstGeom prst="rect">
            <a:avLst/>
          </a:prstGeom>
          <a:solidFill>
            <a:srgbClr val="0E7C86"/>
          </a:solidFill>
          <a:ln w="12700">
            <a:solidFill>
              <a:srgbClr val="0E7C86"/>
            </a:solidFill>
            <a:prstDash val="solid"/>
          </a:ln>
        </p:spPr>
      </p:sp>
      <p:sp>
        <p:nvSpPr>
          <p:cNvPr id="29" name="Text 27"/>
          <p:cNvSpPr txBox="1"/>
          <p:nvPr/>
        </p:nvSpPr>
        <p:spPr>
          <a:xfrm>
            <a:off x="2468880"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1</a:t>
            </a:r>
            <a:endParaRPr lang="en-US" sz="1400" dirty="0"/>
          </a:p>
        </p:txBody>
      </p:sp>
      <p:sp>
        <p:nvSpPr>
          <p:cNvPr id="30" name="cell6"/>
          <p:cNvSpPr/>
          <p:nvPr/>
        </p:nvSpPr>
        <p:spPr>
          <a:xfrm>
            <a:off x="2871216" y="1417320"/>
            <a:ext cx="347472" cy="411480"/>
          </a:xfrm>
          <a:prstGeom prst="rect">
            <a:avLst/>
          </a:prstGeom>
          <a:solidFill>
            <a:srgbClr val="E8743B"/>
          </a:solidFill>
          <a:ln w="12700">
            <a:solidFill>
              <a:srgbClr val="E8743B"/>
            </a:solidFill>
            <a:prstDash val="solid"/>
          </a:ln>
        </p:spPr>
      </p:sp>
      <p:sp>
        <p:nvSpPr>
          <p:cNvPr id="31" name="Text 29"/>
          <p:cNvSpPr txBox="1"/>
          <p:nvPr/>
        </p:nvSpPr>
        <p:spPr>
          <a:xfrm>
            <a:off x="2871216"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32" name="cell7"/>
          <p:cNvSpPr/>
          <p:nvPr/>
        </p:nvSpPr>
        <p:spPr>
          <a:xfrm>
            <a:off x="3273552" y="1417320"/>
            <a:ext cx="347472" cy="411480"/>
          </a:xfrm>
          <a:prstGeom prst="rect">
            <a:avLst/>
          </a:prstGeom>
          <a:solidFill>
            <a:srgbClr val="E8743B"/>
          </a:solidFill>
          <a:ln w="12700">
            <a:solidFill>
              <a:srgbClr val="E8743B"/>
            </a:solidFill>
            <a:prstDash val="solid"/>
          </a:ln>
        </p:spPr>
      </p:sp>
      <p:sp>
        <p:nvSpPr>
          <p:cNvPr id="33" name="Text 31"/>
          <p:cNvSpPr txBox="1"/>
          <p:nvPr/>
        </p:nvSpPr>
        <p:spPr>
          <a:xfrm>
            <a:off x="3273552"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34" name="cell8"/>
          <p:cNvSpPr/>
          <p:nvPr/>
        </p:nvSpPr>
        <p:spPr>
          <a:xfrm>
            <a:off x="3675888" y="1417320"/>
            <a:ext cx="347472" cy="411480"/>
          </a:xfrm>
          <a:prstGeom prst="rect">
            <a:avLst/>
          </a:prstGeom>
          <a:solidFill>
            <a:srgbClr val="E8743B"/>
          </a:solidFill>
          <a:ln w="12700">
            <a:solidFill>
              <a:srgbClr val="E8743B"/>
            </a:solidFill>
            <a:prstDash val="solid"/>
          </a:ln>
        </p:spPr>
      </p:sp>
      <p:sp>
        <p:nvSpPr>
          <p:cNvPr id="35" name="Text 33"/>
          <p:cNvSpPr txBox="1"/>
          <p:nvPr/>
        </p:nvSpPr>
        <p:spPr>
          <a:xfrm>
            <a:off x="3675888"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36" name="cell9"/>
          <p:cNvSpPr/>
          <p:nvPr/>
        </p:nvSpPr>
        <p:spPr>
          <a:xfrm>
            <a:off x="4078224" y="1417320"/>
            <a:ext cx="347472" cy="411480"/>
          </a:xfrm>
          <a:prstGeom prst="rect">
            <a:avLst/>
          </a:prstGeom>
          <a:solidFill>
            <a:srgbClr val="E8743B"/>
          </a:solidFill>
          <a:ln w="12700">
            <a:solidFill>
              <a:srgbClr val="E8743B"/>
            </a:solidFill>
            <a:prstDash val="solid"/>
          </a:ln>
        </p:spPr>
      </p:sp>
      <p:sp>
        <p:nvSpPr>
          <p:cNvPr id="37" name="Text 35"/>
          <p:cNvSpPr txBox="1"/>
          <p:nvPr/>
        </p:nvSpPr>
        <p:spPr>
          <a:xfrm>
            <a:off x="4078224"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38" name="cell10"/>
          <p:cNvSpPr/>
          <p:nvPr/>
        </p:nvSpPr>
        <p:spPr>
          <a:xfrm>
            <a:off x="4480560" y="1417320"/>
            <a:ext cx="347472" cy="411480"/>
          </a:xfrm>
          <a:prstGeom prst="rect">
            <a:avLst/>
          </a:prstGeom>
          <a:solidFill>
            <a:srgbClr val="6C8EA4"/>
          </a:solidFill>
          <a:ln w="12700">
            <a:solidFill>
              <a:srgbClr val="6C8EA4"/>
            </a:solidFill>
            <a:prstDash val="solid"/>
          </a:ln>
        </p:spPr>
      </p:sp>
      <p:sp>
        <p:nvSpPr>
          <p:cNvPr id="39" name="Text 37"/>
          <p:cNvSpPr txBox="1"/>
          <p:nvPr/>
        </p:nvSpPr>
        <p:spPr>
          <a:xfrm>
            <a:off x="4480560"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40" name="cell11"/>
          <p:cNvSpPr/>
          <p:nvPr/>
        </p:nvSpPr>
        <p:spPr>
          <a:xfrm>
            <a:off x="4882896" y="1417320"/>
            <a:ext cx="347472" cy="411480"/>
          </a:xfrm>
          <a:prstGeom prst="rect">
            <a:avLst/>
          </a:prstGeom>
          <a:solidFill>
            <a:srgbClr val="6C8EA4"/>
          </a:solidFill>
          <a:ln w="12700">
            <a:solidFill>
              <a:srgbClr val="6C8EA4"/>
            </a:solidFill>
            <a:prstDash val="solid"/>
          </a:ln>
        </p:spPr>
      </p:sp>
      <p:sp>
        <p:nvSpPr>
          <p:cNvPr id="41" name="Text 39"/>
          <p:cNvSpPr txBox="1"/>
          <p:nvPr/>
        </p:nvSpPr>
        <p:spPr>
          <a:xfrm>
            <a:off x="4882896" y="1417320"/>
            <a:ext cx="347472"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a:t>
            </a:r>
            <a:endParaRPr lang="en-US" sz="1400" dirty="0"/>
          </a:p>
        </p:txBody>
      </p:sp>
      <p:sp>
        <p:nvSpPr>
          <p:cNvPr id="42" name="Text 40"/>
          <p:cNvSpPr txBox="1"/>
          <p:nvPr/>
        </p:nvSpPr>
        <p:spPr>
          <a:xfrm>
            <a:off x="457200" y="1920240"/>
            <a:ext cx="4846320" cy="685800"/>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1~6번  배당 대비 가격이 비싼가 (펀더멘털)</a:t>
            </a:r>
            <a:endParaRPr lang="en-US" sz="1200" dirty="0"/>
          </a:p>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7~10번  가격이 5·10·100·500기 평균보다 높은가 (기술적)</a:t>
            </a:r>
            <a:endParaRPr lang="en-US" sz="1200" dirty="0"/>
          </a:p>
          <a:p>
            <a:pPr indent="0" marL="0">
              <a:spcAft>
                <a:spcPts val="200"/>
              </a:spcAft>
              <a:buNone/>
            </a:pPr>
            <a:r>
              <a:rPr lang="en-US" sz="1200" b="1" dirty="0">
                <a:solidFill>
                  <a:schemeClr val="accent3"/>
                </a:solidFill>
                <a:latin typeface="Malgun Gothic" pitchFamily="34" charset="0"/>
                <a:ea typeface="Malgun Gothic" pitchFamily="34" charset="-122"/>
                <a:cs typeface="Malgun Gothic" pitchFamily="34" charset="-120"/>
              </a:rPr>
              <a:t>11번 = 항상 1, 12번 = 항상 0  (정보 없는 통제용)</a:t>
            </a:r>
            <a:endParaRPr lang="en-US" sz="1200" dirty="0"/>
          </a:p>
        </p:txBody>
      </p:sp>
      <p:sp>
        <p:nvSpPr>
          <p:cNvPr id="43" name="pred"/>
          <p:cNvSpPr/>
          <p:nvPr/>
        </p:nvSpPr>
        <p:spPr>
          <a:xfrm>
            <a:off x="457200" y="2697480"/>
            <a:ext cx="4846320" cy="822960"/>
          </a:xfrm>
          <a:prstGeom prst="roundRect">
            <a:avLst>
              <a:gd name="adj" fmla="val 6667"/>
            </a:avLst>
          </a:prstGeom>
          <a:solidFill>
            <a:schemeClr val="bg2"/>
          </a:solidFill>
          <a:ln w="12700">
            <a:solidFill>
              <a:schemeClr val="bg2"/>
            </a:solidFill>
            <a:prstDash val="solid"/>
          </a:ln>
        </p:spPr>
      </p:sp>
      <p:sp>
        <p:nvSpPr>
          <p:cNvPr id="44" name="Text 42"/>
          <p:cNvSpPr txBox="1"/>
          <p:nvPr/>
        </p:nvSpPr>
        <p:spPr>
          <a:xfrm>
            <a:off x="594360" y="2724912"/>
            <a:ext cx="4572000" cy="768096"/>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예측: 내일 (가격+배당) = a × 오늘 (가격+배당) + b</a:t>
            </a:r>
            <a:endParaRPr lang="en-US" sz="1300" dirty="0"/>
          </a:p>
          <a:p>
            <a:pPr indent="0" marL="0">
              <a:buNone/>
            </a:pPr>
            <a:r>
              <a:rPr lang="en-US" sz="1300" dirty="0">
                <a:solidFill>
                  <a:schemeClr val="tx1"/>
                </a:solidFill>
                <a:latin typeface="Malgun Gothic" pitchFamily="34" charset="0"/>
                <a:ea typeface="Malgun Gothic" pitchFamily="34" charset="-122"/>
                <a:cs typeface="Malgun Gothic" pitchFamily="34" charset="-120"/>
              </a:rPr>
              <a:t>예시: a = 0.96, b = 0 이면 "오늘 값의 96%"로 예상 (원고의 예)</a:t>
            </a:r>
            <a:endParaRPr lang="en-US" sz="1300" dirty="0"/>
          </a:p>
        </p:txBody>
      </p:sp>
      <p:sp>
        <p:nvSpPr>
          <p:cNvPr id="45" name="init"/>
          <p:cNvSpPr/>
          <p:nvPr/>
        </p:nvSpPr>
        <p:spPr>
          <a:xfrm>
            <a:off x="5486400" y="1417320"/>
            <a:ext cx="3200400" cy="2103120"/>
          </a:xfrm>
          <a:prstGeom prst="roundRect">
            <a:avLst>
              <a:gd name="adj" fmla="val 2609"/>
            </a:avLst>
          </a:prstGeom>
          <a:solidFill>
            <a:schemeClr val="bg2"/>
          </a:solidFill>
          <a:ln w="12700">
            <a:solidFill>
              <a:schemeClr val="bg2"/>
            </a:solidFill>
            <a:prstDash val="solid"/>
          </a:ln>
        </p:spPr>
      </p:sp>
      <p:sp>
        <p:nvSpPr>
          <p:cNvPr id="46" name="Text 44"/>
          <p:cNvSpPr txBox="1"/>
          <p:nvPr/>
        </p:nvSpPr>
        <p:spPr>
          <a:xfrm>
            <a:off x="5623560" y="1463040"/>
            <a:ext cx="2971800" cy="2011680"/>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초기화 (무작위)</a:t>
            </a:r>
            <a:endParaRPr lang="en-US" sz="1200" dirty="0"/>
          </a:p>
          <a:p>
            <a:pPr marL="342900" indent="-342900">
              <a:spcAft>
                <a:spcPts val="2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투자자 25명 × 쪽지 100장</a:t>
            </a:r>
            <a:endParaRPr lang="en-US" sz="1200" dirty="0"/>
          </a:p>
          <a:p>
            <a:pPr marL="342900" indent="-342900">
              <a:spcAft>
                <a:spcPts val="2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칸: 90% `#`, 0 또는 1은 합쳐 10%</a:t>
            </a:r>
            <a:endParaRPr lang="en-US" sz="1200" dirty="0"/>
          </a:p>
          <a:p>
            <a:pPr marL="342900" indent="-342900">
              <a:spcAft>
                <a:spcPts val="2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a: 0.7 ~ 1.2 균등</a:t>
            </a:r>
            <a:endParaRPr lang="en-US" sz="1200" dirty="0"/>
          </a:p>
          <a:p>
            <a:pPr marL="342900" indent="-342900">
              <a:spcAft>
                <a:spcPts val="2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b: −10 ~ 19.002 균등</a:t>
            </a:r>
            <a:endParaRPr lang="en-US" sz="1200" dirty="0"/>
          </a:p>
          <a:p>
            <a:pPr marL="342900" indent="-342900">
              <a:spcAft>
                <a:spcPts val="2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분산: 4.0 (RE 값)</a:t>
            </a:r>
            <a:endParaRPr lang="en-US" sz="1200" dirty="0"/>
          </a:p>
          <a:p>
            <a:pPr marL="342900" indent="-342900">
              <a:spcAft>
                <a:spcPts val="2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모두 `#`인 기본 쪽지 1장</a:t>
            </a:r>
            <a:endParaRPr lang="en-US" sz="1200" dirty="0"/>
          </a:p>
        </p:txBody>
      </p:sp>
      <p:sp>
        <p:nvSpPr>
          <p:cNvPr id="47"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48" name="Text 46"/>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(4)  d_t = d̄ + ρ(d_{t−1} − d̄) + ε_t</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예측식  E(p+d) = a(p_t + d_t) + b</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d̄=10 평균 · ρ=0.95 지속성 · ε 충격(분산 0.0743) · a, b 예측 계수 · # 상관없음</a:t>
            </a:r>
            <a:endParaRPr lang="en-US" sz="1200" dirty="0"/>
          </a:p>
        </p:txBody>
      </p:sp>
      <p:sp>
        <p:nvSpPr>
          <p:cNvPr id="49"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50" name="Text 48"/>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12칸은 누가 정하나?  → 연구자가 정한 고정 질문. 매일 바뀌는 것은 답(0/1)</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a, b는 고정인가?  → 기존 쪽지의 a,b는 매일 고치지 않음. GA가 새 쪽지를 만들 때만 새 값</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bg2"/>
          </a:solidFill>
          <a:ln w="12700">
            <a:solidFill>
              <a:schemeClr val="bg2"/>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accent2"/>
          </a:solidFill>
          <a:ln w="12700">
            <a:solidFill>
              <a:schemeClr val="accent2"/>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bg2"/>
          </a:solidFill>
          <a:ln w="12700">
            <a:solidFill>
              <a:schemeClr val="bg2"/>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bg2"/>
          </a:solidFill>
          <a:ln w="12700">
            <a:solidFill>
              <a:schemeClr val="bg2"/>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bg2"/>
          </a:solidFill>
          <a:ln w="12700">
            <a:solidFill>
              <a:schemeClr val="bg2"/>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bg2"/>
          </a:solidFill>
          <a:ln w="12700">
            <a:solidFill>
              <a:schemeClr val="bg2"/>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bg2"/>
          </a:solidFill>
          <a:ln w="12700">
            <a:solidFill>
              <a:schemeClr val="bg2"/>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② 시장 돌리기: 예상 → 수요 → 가격</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가격은 아무도 정하지 않고, 수요가 모이는 곳에서 나온다</a:t>
            </a:r>
            <a:endParaRPr lang="en-US" sz="1400" dirty="0"/>
          </a:p>
        </p:txBody>
      </p:sp>
      <p:sp>
        <p:nvSpPr>
          <p:cNvPr id="18" name="flow0"/>
          <p:cNvSpPr/>
          <p:nvPr/>
        </p:nvSpPr>
        <p:spPr>
          <a:xfrm>
            <a:off x="457200" y="1417320"/>
            <a:ext cx="1508760" cy="731520"/>
          </a:xfrm>
          <a:prstGeom prst="roundRect">
            <a:avLst>
              <a:gd name="adj" fmla="val 7500"/>
            </a:avLst>
          </a:prstGeom>
          <a:solidFill>
            <a:schemeClr val="accent1"/>
          </a:solidFill>
          <a:ln w="12700">
            <a:solidFill>
              <a:schemeClr val="accent1"/>
            </a:solidFill>
            <a:prstDash val="solid"/>
          </a:ln>
        </p:spPr>
      </p:sp>
      <p:sp>
        <p:nvSpPr>
          <p:cNvPr id="19" name="Text 17"/>
          <p:cNvSpPr txBox="1"/>
          <p:nvPr/>
        </p:nvSpPr>
        <p:spPr>
          <a:xfrm>
            <a:off x="502920" y="1417320"/>
            <a:ext cx="141732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배당 d_t 공시</a:t>
            </a:r>
            <a:endParaRPr lang="en-US" sz="1200" dirty="0"/>
          </a:p>
        </p:txBody>
      </p:sp>
      <p:sp>
        <p:nvSpPr>
          <p:cNvPr id="20" name="Text 18"/>
          <p:cNvSpPr txBox="1"/>
          <p:nvPr/>
        </p:nvSpPr>
        <p:spPr>
          <a:xfrm>
            <a:off x="1965960" y="1417320"/>
            <a:ext cx="173736" cy="731520"/>
          </a:xfrm>
          <a:prstGeom prst="rect">
            <a:avLst/>
          </a:prstGeom>
          <a:noFill/>
          <a:ln/>
        </p:spPr>
        <p:txBody>
          <a:bodyPr wrap="square" lIns="0" tIns="0" rIns="0" bIns="0" rtlCol="0" anchor="ctr"/>
          <a:lstStyle/>
          <a:p>
            <a:pPr algn="ctr" indent="0" marL="0">
              <a:buNone/>
            </a:pPr>
            <a:r>
              <a:rPr lang="en-US" sz="1000" dirty="0">
                <a:solidFill>
                  <a:schemeClr val="accent3"/>
                </a:solidFill>
                <a:latin typeface="Malgun Gothic" pitchFamily="34" charset="0"/>
                <a:ea typeface="Malgun Gothic" pitchFamily="34" charset="-122"/>
                <a:cs typeface="Malgun Gothic" pitchFamily="34" charset="-120"/>
              </a:rPr>
              <a:t>▶</a:t>
            </a:r>
            <a:endParaRPr lang="en-US" sz="1000" dirty="0"/>
          </a:p>
        </p:txBody>
      </p:sp>
      <p:sp>
        <p:nvSpPr>
          <p:cNvPr id="21" name="flow1"/>
          <p:cNvSpPr/>
          <p:nvPr/>
        </p:nvSpPr>
        <p:spPr>
          <a:xfrm>
            <a:off x="2139696" y="1417320"/>
            <a:ext cx="1508760" cy="731520"/>
          </a:xfrm>
          <a:prstGeom prst="roundRect">
            <a:avLst>
              <a:gd name="adj" fmla="val 7500"/>
            </a:avLst>
          </a:prstGeom>
          <a:solidFill>
            <a:schemeClr val="accent1"/>
          </a:solidFill>
          <a:ln w="12700">
            <a:solidFill>
              <a:schemeClr val="accent1"/>
            </a:solidFill>
            <a:prstDash val="solid"/>
          </a:ln>
        </p:spPr>
      </p:sp>
      <p:sp>
        <p:nvSpPr>
          <p:cNvPr id="22" name="Text 20"/>
          <p:cNvSpPr txBox="1"/>
          <p:nvPr/>
        </p:nvSpPr>
        <p:spPr>
          <a:xfrm>
            <a:off x="2185416" y="1417320"/>
            <a:ext cx="141732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12칸의 답 확인</a:t>
            </a:r>
            <a:endParaRPr lang="en-US" sz="1200" dirty="0"/>
          </a:p>
        </p:txBody>
      </p:sp>
      <p:sp>
        <p:nvSpPr>
          <p:cNvPr id="23" name="Text 21"/>
          <p:cNvSpPr txBox="1"/>
          <p:nvPr/>
        </p:nvSpPr>
        <p:spPr>
          <a:xfrm>
            <a:off x="3648456" y="1417320"/>
            <a:ext cx="173736" cy="731520"/>
          </a:xfrm>
          <a:prstGeom prst="rect">
            <a:avLst/>
          </a:prstGeom>
          <a:noFill/>
          <a:ln/>
        </p:spPr>
        <p:txBody>
          <a:bodyPr wrap="square" lIns="0" tIns="0" rIns="0" bIns="0" rtlCol="0" anchor="ctr"/>
          <a:lstStyle/>
          <a:p>
            <a:pPr algn="ctr" indent="0" marL="0">
              <a:buNone/>
            </a:pPr>
            <a:r>
              <a:rPr lang="en-US" sz="1000" dirty="0">
                <a:solidFill>
                  <a:schemeClr val="accent3"/>
                </a:solidFill>
                <a:latin typeface="Malgun Gothic" pitchFamily="34" charset="0"/>
                <a:ea typeface="Malgun Gothic" pitchFamily="34" charset="-122"/>
                <a:cs typeface="Malgun Gothic" pitchFamily="34" charset="-120"/>
              </a:rPr>
              <a:t>▶</a:t>
            </a:r>
            <a:endParaRPr lang="en-US" sz="1000" dirty="0"/>
          </a:p>
        </p:txBody>
      </p:sp>
      <p:sp>
        <p:nvSpPr>
          <p:cNvPr id="24" name="flow2"/>
          <p:cNvSpPr/>
          <p:nvPr/>
        </p:nvSpPr>
        <p:spPr>
          <a:xfrm>
            <a:off x="3822192" y="1417320"/>
            <a:ext cx="1508760" cy="731520"/>
          </a:xfrm>
          <a:prstGeom prst="roundRect">
            <a:avLst>
              <a:gd name="adj" fmla="val 7500"/>
            </a:avLst>
          </a:prstGeom>
          <a:solidFill>
            <a:schemeClr val="accent1"/>
          </a:solidFill>
          <a:ln w="12700">
            <a:solidFill>
              <a:schemeClr val="accent1"/>
            </a:solidFill>
            <a:prstDash val="solid"/>
          </a:ln>
        </p:spPr>
      </p:sp>
      <p:sp>
        <p:nvSpPr>
          <p:cNvPr id="25" name="Text 23"/>
          <p:cNvSpPr txBox="1"/>
          <p:nvPr/>
        </p:nvSpPr>
        <p:spPr>
          <a:xfrm>
            <a:off x="3867912" y="1417320"/>
            <a:ext cx="141732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활성 쪽지 선택 (가장 정확한 것)</a:t>
            </a:r>
            <a:endParaRPr lang="en-US" sz="1200" dirty="0"/>
          </a:p>
        </p:txBody>
      </p:sp>
      <p:sp>
        <p:nvSpPr>
          <p:cNvPr id="26" name="Text 24"/>
          <p:cNvSpPr txBox="1"/>
          <p:nvPr/>
        </p:nvSpPr>
        <p:spPr>
          <a:xfrm>
            <a:off x="5330952" y="1417320"/>
            <a:ext cx="173736" cy="731520"/>
          </a:xfrm>
          <a:prstGeom prst="rect">
            <a:avLst/>
          </a:prstGeom>
          <a:noFill/>
          <a:ln/>
        </p:spPr>
        <p:txBody>
          <a:bodyPr wrap="square" lIns="0" tIns="0" rIns="0" bIns="0" rtlCol="0" anchor="ctr"/>
          <a:lstStyle/>
          <a:p>
            <a:pPr algn="ctr" indent="0" marL="0">
              <a:buNone/>
            </a:pPr>
            <a:r>
              <a:rPr lang="en-US" sz="1000" dirty="0">
                <a:solidFill>
                  <a:schemeClr val="accent3"/>
                </a:solidFill>
                <a:latin typeface="Malgun Gothic" pitchFamily="34" charset="0"/>
                <a:ea typeface="Malgun Gothic" pitchFamily="34" charset="-122"/>
                <a:cs typeface="Malgun Gothic" pitchFamily="34" charset="-120"/>
              </a:rPr>
              <a:t>▶</a:t>
            </a:r>
            <a:endParaRPr lang="en-US" sz="1000" dirty="0"/>
          </a:p>
        </p:txBody>
      </p:sp>
      <p:sp>
        <p:nvSpPr>
          <p:cNvPr id="27" name="flow3"/>
          <p:cNvSpPr/>
          <p:nvPr/>
        </p:nvSpPr>
        <p:spPr>
          <a:xfrm>
            <a:off x="5504688" y="1417320"/>
            <a:ext cx="1508760" cy="731520"/>
          </a:xfrm>
          <a:prstGeom prst="roundRect">
            <a:avLst>
              <a:gd name="adj" fmla="val 7500"/>
            </a:avLst>
          </a:prstGeom>
          <a:solidFill>
            <a:schemeClr val="accent1"/>
          </a:solidFill>
          <a:ln w="12700">
            <a:solidFill>
              <a:schemeClr val="accent1"/>
            </a:solidFill>
            <a:prstDash val="solid"/>
          </a:ln>
        </p:spPr>
      </p:sp>
      <p:sp>
        <p:nvSpPr>
          <p:cNvPr id="28" name="Text 26"/>
          <p:cNvSpPr txBox="1"/>
          <p:nvPr/>
        </p:nvSpPr>
        <p:spPr>
          <a:xfrm>
            <a:off x="5550408" y="1417320"/>
            <a:ext cx="141732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수요함수 x(p) 제출</a:t>
            </a:r>
            <a:endParaRPr lang="en-US" sz="1200" dirty="0"/>
          </a:p>
        </p:txBody>
      </p:sp>
      <p:sp>
        <p:nvSpPr>
          <p:cNvPr id="29" name="Text 27"/>
          <p:cNvSpPr txBox="1"/>
          <p:nvPr/>
        </p:nvSpPr>
        <p:spPr>
          <a:xfrm>
            <a:off x="7013448" y="1417320"/>
            <a:ext cx="173736" cy="731520"/>
          </a:xfrm>
          <a:prstGeom prst="rect">
            <a:avLst/>
          </a:prstGeom>
          <a:noFill/>
          <a:ln/>
        </p:spPr>
        <p:txBody>
          <a:bodyPr wrap="square" lIns="0" tIns="0" rIns="0" bIns="0" rtlCol="0" anchor="ctr"/>
          <a:lstStyle/>
          <a:p>
            <a:pPr algn="ctr" indent="0" marL="0">
              <a:buNone/>
            </a:pPr>
            <a:r>
              <a:rPr lang="en-US" sz="1000" dirty="0">
                <a:solidFill>
                  <a:schemeClr val="accent3"/>
                </a:solidFill>
                <a:latin typeface="Malgun Gothic" pitchFamily="34" charset="0"/>
                <a:ea typeface="Malgun Gothic" pitchFamily="34" charset="-122"/>
                <a:cs typeface="Malgun Gothic" pitchFamily="34" charset="-120"/>
              </a:rPr>
              <a:t>▶</a:t>
            </a:r>
            <a:endParaRPr lang="en-US" sz="1000" dirty="0"/>
          </a:p>
        </p:txBody>
      </p:sp>
      <p:sp>
        <p:nvSpPr>
          <p:cNvPr id="30" name="flow4"/>
          <p:cNvSpPr/>
          <p:nvPr/>
        </p:nvSpPr>
        <p:spPr>
          <a:xfrm>
            <a:off x="7187184" y="1417320"/>
            <a:ext cx="1508760" cy="731520"/>
          </a:xfrm>
          <a:prstGeom prst="roundRect">
            <a:avLst>
              <a:gd name="adj" fmla="val 7500"/>
            </a:avLst>
          </a:prstGeom>
          <a:solidFill>
            <a:schemeClr val="accent2"/>
          </a:solidFill>
          <a:ln w="12700">
            <a:solidFill>
              <a:schemeClr val="accent2"/>
            </a:solidFill>
            <a:prstDash val="solid"/>
          </a:ln>
        </p:spPr>
      </p:sp>
      <p:sp>
        <p:nvSpPr>
          <p:cNvPr id="31" name="Text 29"/>
          <p:cNvSpPr txBox="1"/>
          <p:nvPr/>
        </p:nvSpPr>
        <p:spPr>
          <a:xfrm>
            <a:off x="7232904" y="1417320"/>
            <a:ext cx="141732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전문가가 Σx=25인 p 선언</a:t>
            </a:r>
            <a:endParaRPr lang="en-US" sz="1200" dirty="0"/>
          </a:p>
        </p:txBody>
      </p:sp>
      <p:sp>
        <p:nvSpPr>
          <p:cNvPr id="32" name="act"/>
          <p:cNvSpPr/>
          <p:nvPr/>
        </p:nvSpPr>
        <p:spPr>
          <a:xfrm>
            <a:off x="457200" y="2286000"/>
            <a:ext cx="4023360" cy="1280160"/>
          </a:xfrm>
          <a:prstGeom prst="roundRect">
            <a:avLst>
              <a:gd name="adj" fmla="val 4286"/>
            </a:avLst>
          </a:prstGeom>
          <a:solidFill>
            <a:schemeClr val="bg2"/>
          </a:solidFill>
          <a:ln w="12700">
            <a:solidFill>
              <a:schemeClr val="bg2"/>
            </a:solidFill>
            <a:prstDash val="solid"/>
          </a:ln>
        </p:spPr>
      </p:sp>
      <p:sp>
        <p:nvSpPr>
          <p:cNvPr id="33" name="Text 31"/>
          <p:cNvSpPr txBox="1"/>
          <p:nvPr/>
        </p:nvSpPr>
        <p:spPr>
          <a:xfrm>
            <a:off x="594360" y="2331720"/>
            <a:ext cx="3794760" cy="1188720"/>
          </a:xfrm>
          <a:prstGeom prst="rect">
            <a:avLst/>
          </a:prstGeom>
          <a:noFill/>
          <a:ln/>
        </p:spPr>
        <p:txBody>
          <a:bodyPr wrap="square" lIns="0" tIns="0" rIns="0" bIns="0" rtlCol="0" anchor="t"/>
          <a:lstStyle/>
          <a:p>
            <a:pPr indent="0" marL="0">
              <a:spcAft>
                <a:spcPts val="300"/>
              </a:spcAft>
              <a:buNone/>
            </a:pPr>
            <a:r>
              <a:rPr lang="en-US" sz="1200" b="1" dirty="0">
                <a:solidFill>
                  <a:schemeClr val="accent1"/>
                </a:solidFill>
                <a:latin typeface="Malgun Gothic" pitchFamily="34" charset="0"/>
                <a:ea typeface="Malgun Gothic" pitchFamily="34" charset="-122"/>
                <a:cs typeface="Malgun Gothic" pitchFamily="34" charset="-120"/>
              </a:rPr>
              <a:t>활성 쪽지는 이렇게 고른다</a:t>
            </a:r>
            <a:endParaRPr lang="en-US" sz="1200" dirty="0"/>
          </a:p>
          <a:p>
            <a:pPr indent="0" marL="0">
              <a:spcAft>
                <a:spcPts val="300"/>
              </a:spcAft>
              <a:buNone/>
            </a:pPr>
            <a:r>
              <a:rPr lang="en-US" sz="1200" dirty="0">
                <a:solidFill>
                  <a:schemeClr val="tx1"/>
                </a:solidFill>
                <a:latin typeface="Malgun Gothic" pitchFamily="34" charset="0"/>
                <a:ea typeface="Malgun Gothic" pitchFamily="34" charset="-122"/>
                <a:cs typeface="Malgun Gothic" pitchFamily="34" charset="-120"/>
              </a:rPr>
              <a:t>시장 상황과 매칭되는 규칙 중 실제 예측 분산이 가장 작은(가장 정확한) 하나만 사용</a:t>
            </a:r>
            <a:endParaRPr lang="en-US" sz="1200" dirty="0"/>
          </a:p>
          <a:p>
            <a:pPr indent="0" marL="0">
              <a:spcAft>
                <a:spcPts val="300"/>
              </a:spcAft>
              <a:buNone/>
            </a:pPr>
            <a:r>
              <a:rPr lang="en-US" sz="1100" dirty="0">
                <a:solidFill>
                  <a:schemeClr val="accent3"/>
                </a:solidFill>
                <a:latin typeface="Malgun Gothic" pitchFamily="34" charset="0"/>
                <a:ea typeface="Malgun Gothic" pitchFamily="34" charset="-122"/>
                <a:cs typeface="Malgun Gothic" pitchFamily="34" charset="-120"/>
              </a:rPr>
              <a:t>1996 원고 3절 B는 "H개 결합"이라 썼으나, LeBaron의 확인으로 "하나"로 정리됨</a:t>
            </a:r>
            <a:endParaRPr lang="en-US" sz="1200" dirty="0"/>
          </a:p>
        </p:txBody>
      </p:sp>
      <p:sp>
        <p:nvSpPr>
          <p:cNvPr id="34" name="stale"/>
          <p:cNvSpPr/>
          <p:nvPr/>
        </p:nvSpPr>
        <p:spPr>
          <a:xfrm>
            <a:off x="4663440" y="2286000"/>
            <a:ext cx="4023360" cy="1280160"/>
          </a:xfrm>
          <a:prstGeom prst="roundRect">
            <a:avLst>
              <a:gd name="adj" fmla="val 4286"/>
            </a:avLst>
          </a:prstGeom>
          <a:solidFill>
            <a:schemeClr val="bg2"/>
          </a:solidFill>
          <a:ln w="12700">
            <a:solidFill>
              <a:schemeClr val="bg2"/>
            </a:solidFill>
            <a:prstDash val="solid"/>
          </a:ln>
        </p:spPr>
      </p:sp>
      <p:sp>
        <p:nvSpPr>
          <p:cNvPr id="35" name="Text 33"/>
          <p:cNvSpPr txBox="1"/>
          <p:nvPr/>
        </p:nvSpPr>
        <p:spPr>
          <a:xfrm>
            <a:off x="4800600" y="2331720"/>
            <a:ext cx="3794760" cy="1188720"/>
          </a:xfrm>
          <a:prstGeom prst="rect">
            <a:avLst/>
          </a:prstGeom>
          <a:noFill/>
          <a:ln/>
        </p:spPr>
        <p:txBody>
          <a:bodyPr wrap="square" lIns="0" tIns="0" rIns="0" bIns="0" rtlCol="0" anchor="t"/>
          <a:lstStyle/>
          <a:p>
            <a:pPr indent="0" marL="0">
              <a:spcAft>
                <a:spcPts val="300"/>
              </a:spcAft>
              <a:buNone/>
            </a:pPr>
            <a:r>
              <a:rPr lang="en-US" sz="1200" b="1" dirty="0">
                <a:solidFill>
                  <a:schemeClr val="accent1"/>
                </a:solidFill>
                <a:latin typeface="Malgun Gothic" pitchFamily="34" charset="0"/>
                <a:ea typeface="Malgun Gothic" pitchFamily="34" charset="-122"/>
                <a:cs typeface="Malgun Gothic" pitchFamily="34" charset="-120"/>
              </a:rPr>
              <a:t>오래 안 맞은 쪽지의 처리 (LeBaron et al. 1999)</a:t>
            </a:r>
            <a:endParaRPr lang="en-US" sz="1200" dirty="0"/>
          </a:p>
          <a:p>
            <a:pPr indent="0" marL="0">
              <a:spcAft>
                <a:spcPts val="300"/>
              </a:spcAft>
              <a:buNone/>
            </a:pPr>
            <a:r>
              <a:rPr lang="en-US" sz="1200" dirty="0">
                <a:solidFill>
                  <a:schemeClr val="tx1"/>
                </a:solidFill>
                <a:latin typeface="Malgun Gothic" pitchFamily="34" charset="0"/>
                <a:ea typeface="Malgun Gothic" pitchFamily="34" charset="-122"/>
                <a:cs typeface="Malgun Gothic" pitchFamily="34" charset="-120"/>
              </a:rPr>
              <a:t>4000기 동안 매칭되지 않은 규칙은 0·1로 정한 조건 비트의 1/4을 #로 바꾸고, 적합도를 중앙값으로 재설정해 다시 선택될 기회를 줌</a:t>
            </a:r>
            <a:endParaRPr lang="en-US" sz="1200" dirty="0"/>
          </a:p>
          <a:p>
            <a:pPr indent="0" marL="0">
              <a:spcAft>
                <a:spcPts val="300"/>
              </a:spcAft>
              <a:buNone/>
            </a:pPr>
            <a:r>
              <a:rPr lang="en-US" sz="1100" dirty="0">
                <a:solidFill>
                  <a:schemeClr val="accent3"/>
                </a:solidFill>
                <a:latin typeface="Malgun Gothic" pitchFamily="34" charset="0"/>
                <a:ea typeface="Malgun Gothic" pitchFamily="34" charset="-122"/>
                <a:cs typeface="Malgun Gothic" pitchFamily="34" charset="-120"/>
              </a:rPr>
              <a:t>1996 원고에는 없는 규칙</a:t>
            </a:r>
            <a:endParaRPr lang="en-US" sz="1200" dirty="0"/>
          </a:p>
        </p:txBody>
      </p:sp>
      <p:sp>
        <p:nvSpPr>
          <p:cNvPr id="36"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37" name="Text 35"/>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(5)  x = [예상 − p(1+r)] / (λσ²)</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(6)  Σ x_i = N  (N = 25)</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x 수량 · 예상 = a(p+d)+b · r=0.1 · λ=0.5 위험회피 · σ² 분산(초기 4.0)</a:t>
            </a:r>
            <a:endParaRPr lang="en-US" sz="1200" dirty="0"/>
          </a:p>
        </p:txBody>
      </p:sp>
      <p:sp>
        <p:nvSpPr>
          <p:cNvPr id="38"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39" name="Text 37"/>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쪽지만 보고 사나, 가격을 보고 사나?  → 둘 다. 쪽지가 예상을, 가격이 비교 기준 p(1+r)을 정함</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가격은 최적값인가?  → 최적은 각자의 수량. 가격은 Σx=N인 청산가격</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bg2"/>
          </a:solidFill>
          <a:ln w="12700">
            <a:solidFill>
              <a:schemeClr val="bg2"/>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accent2"/>
          </a:solidFill>
          <a:ln w="12700">
            <a:solidFill>
              <a:schemeClr val="accent2"/>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bg2"/>
          </a:solidFill>
          <a:ln w="12700">
            <a:solidFill>
              <a:schemeClr val="bg2"/>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bg2"/>
          </a:solidFill>
          <a:ln w="12700">
            <a:solidFill>
              <a:schemeClr val="bg2"/>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bg2"/>
          </a:solidFill>
          <a:ln w="12700">
            <a:solidFill>
              <a:schemeClr val="bg2"/>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bg2"/>
          </a:solidFill>
          <a:ln w="12700">
            <a:solidFill>
              <a:schemeClr val="bg2"/>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bg2"/>
          </a:solidFill>
          <a:ln w="12700">
            <a:solidFill>
              <a:schemeClr val="bg2"/>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② 가격 계산 예: Σx = 25가 되는 p</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수요함수를 모두 더해 공급(25주)과 만나는 가격을 푼다</a:t>
            </a:r>
            <a:endParaRPr lang="en-US" sz="1400" dirty="0"/>
          </a:p>
        </p:txBody>
      </p:sp>
      <p:graphicFrame>
        <p:nvGraphicFramePr>
          <p:cNvPr id="18" name="Chart 0" descr=""/>
          <p:cNvGraphicFramePr/>
          <p:nvPr/>
        </p:nvGraphicFramePr>
        <p:xfrm>
          <a:off x="365760" y="1325880"/>
          <a:ext cx="4297680" cy="2286000"/>
        </p:xfrm>
        <a:graphic xmlns:a="http://schemas.openxmlformats.org/drawingml/2006/main">
          <a:graphicData uri="http://schemas.openxmlformats.org/drawingml/2006/chart">
            <c:chart xmlns:c="http://schemas.openxmlformats.org/drawingml/2006/chart" r:id="rId1"/>
          </a:graphicData>
        </a:graphic>
      </p:graphicFrame>
      <p:sp>
        <p:nvSpPr>
          <p:cNvPr id="19" name="calc"/>
          <p:cNvSpPr/>
          <p:nvPr/>
        </p:nvSpPr>
        <p:spPr>
          <a:xfrm>
            <a:off x="4846320" y="1371600"/>
            <a:ext cx="3840480" cy="2240280"/>
          </a:xfrm>
          <a:prstGeom prst="roundRect">
            <a:avLst>
              <a:gd name="adj" fmla="val 2449"/>
            </a:avLst>
          </a:prstGeom>
          <a:solidFill>
            <a:schemeClr val="bg2"/>
          </a:solidFill>
          <a:ln w="12700">
            <a:solidFill>
              <a:schemeClr val="bg2"/>
            </a:solidFill>
            <a:prstDash val="solid"/>
          </a:ln>
        </p:spPr>
      </p:sp>
      <p:sp>
        <p:nvSpPr>
          <p:cNvPr id="20" name="Text 17"/>
          <p:cNvSpPr txBox="1"/>
          <p:nvPr/>
        </p:nvSpPr>
        <p:spPr>
          <a:xfrm>
            <a:off x="4956048" y="1417320"/>
            <a:ext cx="3657600" cy="2148840"/>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계산 예  (d=10, a=0.95, r=0.1, λσ²=2)</a:t>
            </a:r>
            <a:endParaRPr lang="en-US" sz="1200" dirty="0"/>
          </a:p>
          <a:p>
            <a:pPr indent="0" marL="0">
              <a:spcAft>
                <a:spcPts val="200"/>
              </a:spcAft>
              <a:buNone/>
            </a:pPr>
            <a:r>
              <a:rPr lang="en-US" sz="1100" dirty="0">
                <a:solidFill>
                  <a:schemeClr val="accent3"/>
                </a:solidFill>
                <a:latin typeface="Malgun Gothic" pitchFamily="34" charset="0"/>
                <a:ea typeface="Malgun Gothic" pitchFamily="34" charset="-122"/>
                <a:cs typeface="Malgun Gothic" pitchFamily="34" charset="-120"/>
              </a:rPr>
              <a:t>A 12명 b=4.5 · B 13명 b=5.5</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x(p) = [a(p+d)+b − (1+r)p]/(λσ²)</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      = (9.5 + b − 0.15p)/2</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A: x = (14 − 0.15p)/2</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B: x = (15 − 0.15p)/2</a:t>
            </a:r>
            <a:endParaRPr lang="en-US" sz="1200" dirty="0"/>
          </a:p>
          <a:p>
            <a:pPr indent="0" marL="0">
              <a:spcAft>
                <a:spcPts val="200"/>
              </a:spcAft>
              <a:buNone/>
            </a:pPr>
            <a:r>
              <a:rPr lang="en-US" sz="1200" b="1" dirty="0">
                <a:solidFill>
                  <a:schemeClr val="tx1"/>
                </a:solidFill>
                <a:latin typeface="Malgun Gothic" pitchFamily="34" charset="0"/>
                <a:ea typeface="Malgun Gothic" pitchFamily="34" charset="-122"/>
                <a:cs typeface="Malgun Gothic" pitchFamily="34" charset="-120"/>
              </a:rPr>
              <a:t>Σx = 12x_A + 13x_B = 181.5 − 1.875p = 25</a:t>
            </a:r>
            <a:endParaRPr lang="en-US" sz="1200" dirty="0"/>
          </a:p>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 p = 83.47</a:t>
            </a:r>
            <a:endParaRPr lang="en-US" sz="1200" dirty="0"/>
          </a:p>
          <a:p>
            <a:pPr indent="0" marL="0">
              <a:spcAft>
                <a:spcPts val="200"/>
              </a:spcAft>
              <a:buNone/>
            </a:pPr>
            <a:r>
              <a:rPr lang="en-US" sz="1100" dirty="0">
                <a:solidFill>
                  <a:schemeClr val="tx1"/>
                </a:solidFill>
                <a:latin typeface="Malgun Gothic" pitchFamily="34" charset="0"/>
                <a:ea typeface="Malgun Gothic" pitchFamily="34" charset="-122"/>
                <a:cs typeface="Malgun Gothic" pitchFamily="34" charset="-120"/>
              </a:rPr>
              <a:t>x_A = (14−12.52)/2 = 0.74,  x_B = (15−12.52)/2 = 1.24</a:t>
            </a:r>
            <a:endParaRPr lang="en-US" sz="1200" dirty="0"/>
          </a:p>
        </p:txBody>
      </p:sp>
      <p:sp>
        <p:nvSpPr>
          <p:cNvPr id="21"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22" name="Text 19"/>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(5) x = [예상 − p(1+r)]/(λσ²)에 예상 = a(p+d)+b를 대입</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(6) Σ x_i = N 에서 p를 풂</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예상 = a(p+d)+b · λσ² = 0.5×4 = 2</a:t>
            </a:r>
            <a:endParaRPr lang="en-US" sz="1200" dirty="0"/>
          </a:p>
        </p:txBody>
      </p:sp>
      <p:sp>
        <p:nvSpPr>
          <p:cNvPr id="23"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24" name="Text 21"/>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합이 25가 되는 가격이 하나인가?  → 원고에 없음. 제 분석: 총수요가 p의 직선이라 보통 하나</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모두 b=4.5이면?  → p = 80</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bg2"/>
          </a:solidFill>
          <a:ln w="12700">
            <a:solidFill>
              <a:schemeClr val="bg2"/>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bg2"/>
          </a:solidFill>
          <a:ln w="12700">
            <a:solidFill>
              <a:schemeClr val="bg2"/>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accent2"/>
          </a:solidFill>
          <a:ln w="12700">
            <a:solidFill>
              <a:schemeClr val="accent2"/>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bg2"/>
          </a:solidFill>
          <a:ln w="12700">
            <a:solidFill>
              <a:schemeClr val="bg2"/>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bg2"/>
          </a:solidFill>
          <a:ln w="12700">
            <a:solidFill>
              <a:schemeClr val="bg2"/>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bg2"/>
          </a:solidFill>
          <a:ln w="12700">
            <a:solidFill>
              <a:schemeClr val="bg2"/>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bg2"/>
          </a:solidFill>
          <a:ln w="12700">
            <a:solidFill>
              <a:schemeClr val="bg2"/>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③ 채점: 맞힌 쪽지가 점수를 얻는다</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오차는 작을수록, 조건은 단순할수록 좋은 점수</a:t>
            </a:r>
            <a:endParaRPr lang="en-US" sz="1400" dirty="0"/>
          </a:p>
        </p:txBody>
      </p:sp>
      <p:sp>
        <p:nvSpPr>
          <p:cNvPr id="18" name="upd"/>
          <p:cNvSpPr/>
          <p:nvPr/>
        </p:nvSpPr>
        <p:spPr>
          <a:xfrm>
            <a:off x="457200" y="1417320"/>
            <a:ext cx="4023360" cy="150876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594360" y="1463040"/>
            <a:ext cx="3794760" cy="1417320"/>
          </a:xfrm>
          <a:prstGeom prst="rect">
            <a:avLst/>
          </a:prstGeom>
          <a:noFill/>
          <a:ln/>
        </p:spPr>
        <p:txBody>
          <a:bodyPr wrap="square" lIns="0" tIns="0" rIns="0" bIns="0" rtlCol="0" anchor="t"/>
          <a:lstStyle/>
          <a:p>
            <a:pPr indent="0" marL="0">
              <a:spcAft>
                <a:spcPts val="300"/>
              </a:spcAft>
              <a:buNone/>
            </a:pPr>
            <a:r>
              <a:rPr lang="en-US" sz="1300" b="1" dirty="0">
                <a:solidFill>
                  <a:schemeClr val="accent1"/>
                </a:solidFill>
                <a:latin typeface="Malgun Gothic" pitchFamily="34" charset="0"/>
                <a:ea typeface="Malgun Gothic" pitchFamily="34" charset="-122"/>
                <a:cs typeface="Malgun Gothic" pitchFamily="34" charset="-120"/>
              </a:rPr>
              <a:t>정확도 갱신 (그 기에 활성이었던 쪽지)</a:t>
            </a:r>
            <a:endParaRPr lang="en-US" sz="1300" dirty="0"/>
          </a:p>
          <a:p>
            <a:pPr indent="0" marL="0">
              <a:spcAft>
                <a:spcPts val="300"/>
              </a:spcAft>
              <a:buNone/>
            </a:pPr>
            <a:r>
              <a:rPr lang="en-US" sz="1300" dirty="0">
                <a:solidFill>
                  <a:schemeClr val="tx1"/>
                </a:solidFill>
                <a:latin typeface="Malgun Gothic" pitchFamily="34" charset="0"/>
                <a:ea typeface="Malgun Gothic" pitchFamily="34" charset="-122"/>
                <a:cs typeface="Malgun Gothic" pitchFamily="34" charset="-120"/>
              </a:rPr>
              <a:t>예: 옛 오차 e² = 4.0, 이번 오차 3이면</a:t>
            </a:r>
            <a:endParaRPr lang="en-US" sz="1300" dirty="0"/>
          </a:p>
          <a:p>
            <a:pPr indent="0" marL="0">
              <a:spcAft>
                <a:spcPts val="300"/>
              </a:spcAft>
              <a:buNone/>
            </a:pPr>
            <a:r>
              <a:rPr lang="en-US" sz="1300" b="1" dirty="0">
                <a:solidFill>
                  <a:schemeClr val="tx1"/>
                </a:solidFill>
                <a:latin typeface="Malgun Gothic" pitchFamily="34" charset="0"/>
                <a:ea typeface="Malgun Gothic" pitchFamily="34" charset="-122"/>
                <a:cs typeface="Malgun Gothic" pitchFamily="34" charset="-120"/>
              </a:rPr>
              <a:t>새 e² = (74/75)×4.0 + (1/75)×3² = 4.07</a:t>
            </a:r>
            <a:endParaRPr lang="en-US" sz="1300" dirty="0"/>
          </a:p>
          <a:p>
            <a:pPr indent="0" marL="0">
              <a:spcAft>
                <a:spcPts val="300"/>
              </a:spcAft>
              <a:buNone/>
            </a:pPr>
            <a:r>
              <a:rPr lang="en-US" sz="1200" dirty="0">
                <a:solidFill>
                  <a:schemeClr val="tx1"/>
                </a:solidFill>
                <a:latin typeface="Malgun Gothic" pitchFamily="34" charset="0"/>
                <a:ea typeface="Malgun Gothic" pitchFamily="34" charset="-122"/>
                <a:cs typeface="Malgun Gothic" pitchFamily="34" charset="-120"/>
              </a:rPr>
              <a:t>θ: 1/75(복잡), 1/150(RE). 클수록 최근 오차를 중시</a:t>
            </a:r>
            <a:endParaRPr lang="en-US" sz="1300" dirty="0"/>
          </a:p>
        </p:txBody>
      </p:sp>
      <p:sp>
        <p:nvSpPr>
          <p:cNvPr id="20" name="fit"/>
          <p:cNvSpPr/>
          <p:nvPr/>
        </p:nvSpPr>
        <p:spPr>
          <a:xfrm>
            <a:off x="4663440" y="1417320"/>
            <a:ext cx="4023360" cy="1508760"/>
          </a:xfrm>
          <a:prstGeom prst="roundRect">
            <a:avLst>
              <a:gd name="adj" fmla="val 3636"/>
            </a:avLst>
          </a:prstGeom>
          <a:solidFill>
            <a:schemeClr val="bg2"/>
          </a:solidFill>
          <a:ln w="12700">
            <a:solidFill>
              <a:schemeClr val="bg2"/>
            </a:solidFill>
            <a:prstDash val="solid"/>
          </a:ln>
        </p:spPr>
      </p:sp>
      <p:sp>
        <p:nvSpPr>
          <p:cNvPr id="21" name="Text 19"/>
          <p:cNvSpPr txBox="1"/>
          <p:nvPr/>
        </p:nvSpPr>
        <p:spPr>
          <a:xfrm>
            <a:off x="4800600" y="1463040"/>
            <a:ext cx="3749040" cy="274320"/>
          </a:xfrm>
          <a:prstGeom prst="rect">
            <a:avLst/>
          </a:prstGeom>
          <a:noFill/>
          <a:ln/>
        </p:spPr>
        <p:txBody>
          <a:bodyPr wrap="square" lIns="0" tIns="0" rIns="0" bIns="0" rtlCol="0" anchor="ctr"/>
          <a:lstStyle/>
          <a:p>
            <a:pPr indent="0" marL="0">
              <a:buNone/>
            </a:pPr>
            <a:r>
              <a:rPr lang="en-US" sz="1300" b="1" dirty="0">
                <a:solidFill>
                  <a:schemeClr val="accent1"/>
                </a:solidFill>
                <a:latin typeface="Malgun Gothic" pitchFamily="34" charset="0"/>
                <a:ea typeface="Malgun Gothic" pitchFamily="34" charset="-122"/>
                <a:cs typeface="Malgun Gothic" pitchFamily="34" charset="-120"/>
              </a:rPr>
              <a:t>점수 비교 예시 (C = 0.005)</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800600" y="1783080"/>
          <a:ext cx="3749040" cy="914400"/>
        </p:xfrm>
        <a:graphic>
          <a:graphicData uri="http://schemas.openxmlformats.org/drawingml/2006/table">
            <a:tbl>
              <a:tblPr/>
              <a:tblGrid>
                <a:gridCol w="731520"/>
                <a:gridCol w="731520"/>
                <a:gridCol w="1097280"/>
                <a:gridCol w="1188720"/>
              </a:tblGrid>
              <a:tr h="256032">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쪽지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e²</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정한 칸 s</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점수 −e²−C·s</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r>
              <a:tr h="256032">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X</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4.00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−4.010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r>
              <a:tr h="256032">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Y</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3.99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8</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−4.030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r>
            </a:tbl>
          </a:graphicData>
        </a:graphic>
      </p:graphicFrame>
      <p:sp>
        <p:nvSpPr>
          <p:cNvPr id="23" name="Text 20"/>
          <p:cNvSpPr txBox="1"/>
          <p:nvPr/>
        </p:nvSpPr>
        <p:spPr>
          <a:xfrm>
            <a:off x="4800600" y="2606040"/>
            <a:ext cx="3749040" cy="274320"/>
          </a:xfrm>
          <a:prstGeom prst="rect">
            <a:avLst/>
          </a:prstGeom>
          <a:noFill/>
          <a:ln/>
        </p:spPr>
        <p:txBody>
          <a:bodyPr wrap="square" lIns="0" tIns="0" rIns="0" bIns="0" rtlCol="0" anchor="ctr"/>
          <a:lstStyle/>
          <a:p>
            <a:pPr indent="0" marL="0">
              <a:buNone/>
            </a:pPr>
            <a:r>
              <a:rPr lang="en-US" sz="1200" b="1" dirty="0">
                <a:solidFill>
                  <a:schemeClr val="accent2"/>
                </a:solidFill>
                <a:latin typeface="Malgun Gothic" pitchFamily="34" charset="0"/>
                <a:ea typeface="Malgun Gothic" pitchFamily="34" charset="-122"/>
                <a:cs typeface="Malgun Gothic" pitchFamily="34" charset="-120"/>
              </a:rPr>
              <a:t>Y가 더 정확해도 칸이 많아 X가 이긴다</a:t>
            </a:r>
            <a:endParaRPr lang="en-US" sz="1200" dirty="0"/>
          </a:p>
        </p:txBody>
      </p:sp>
      <p:sp>
        <p:nvSpPr>
          <p:cNvPr id="24" name="Text 21"/>
          <p:cNvSpPr txBox="1"/>
          <p:nvPr/>
        </p:nvSpPr>
        <p:spPr>
          <a:xfrm>
            <a:off x="457200" y="3063240"/>
            <a:ext cx="8229600" cy="50292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정확도 e²의 세 가지 쓰임:  </a:t>
            </a:r>
            <a:pPr indent="0" marL="0">
              <a:buNone/>
            </a:pPr>
            <a:r>
              <a:rPr lang="en-US" sz="1400" dirty="0">
                <a:solidFill>
                  <a:schemeClr val="tx1"/>
                </a:solidFill>
                <a:latin typeface="Malgun Gothic" pitchFamily="34" charset="0"/>
                <a:ea typeface="Malgun Gothic" pitchFamily="34" charset="-122"/>
                <a:cs typeface="Malgun Gothic" pitchFamily="34" charset="-120"/>
              </a:rPr>
              <a:t>① 활성 쪽지 선택   ② GA 적합도   ③ 수요식의 분산 (GA 호출 때 갱신)</a:t>
            </a:r>
            <a:endParaRPr lang="en-US" sz="1400" dirty="0"/>
          </a:p>
        </p:txBody>
      </p:sp>
      <p:sp>
        <p:nvSpPr>
          <p:cNvPr id="25"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26" name="Text 23"/>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(7)  e²_t = (1−θ)e²_{t−1} + θ[실제 − 예상]²</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(8)  f = M − e² − C·s</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θ 갱신 비율 · C=0.005 칸당 벌점 · s 정한 칸 수 · M 상수(쪽지 수 M=100과 다름)</a:t>
            </a:r>
            <a:endParaRPr lang="en-US" sz="1200" dirty="0"/>
          </a:p>
        </p:txBody>
      </p:sp>
      <p:sp>
        <p:nvSpPr>
          <p:cNvPr id="27"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28" name="Text 25"/>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쪽지 고르기와 GA는 같은가?  → 아니오. 매 기엔 활성 쪽지 선택, GA는 평균 K기마다 쪽지 풀 갱신</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누구의 정확도가 갱신되나?  → 그 기에 활성이었던 쪽지</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bg2"/>
          </a:solidFill>
          <a:ln w="12700">
            <a:solidFill>
              <a:schemeClr val="bg2"/>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bg2"/>
          </a:solidFill>
          <a:ln w="12700">
            <a:solidFill>
              <a:schemeClr val="bg2"/>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bg2"/>
          </a:solidFill>
          <a:ln w="12700">
            <a:solidFill>
              <a:schemeClr val="bg2"/>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accent2"/>
          </a:solidFill>
          <a:ln w="12700">
            <a:solidFill>
              <a:schemeClr val="accent2"/>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accent2"/>
          </a:solidFill>
          <a:ln w="12700">
            <a:solidFill>
              <a:schemeClr val="accent2"/>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bg2"/>
          </a:solidFill>
          <a:ln w="12700">
            <a:solidFill>
              <a:schemeClr val="bg2"/>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bg2"/>
          </a:solidFill>
          <a:ln w="12700">
            <a:solidFill>
              <a:schemeClr val="bg2"/>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④⑤ 삭제와 부모 선택</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못한 20%는 버리고, 잘한 쪽지가 부모가 된다</a:t>
            </a:r>
            <a:endParaRPr lang="en-US" sz="1400" dirty="0"/>
          </a:p>
        </p:txBody>
      </p:sp>
      <p:sp>
        <p:nvSpPr>
          <p:cNvPr id="18" name="del"/>
          <p:cNvSpPr/>
          <p:nvPr/>
        </p:nvSpPr>
        <p:spPr>
          <a:xfrm>
            <a:off x="457200" y="1417320"/>
            <a:ext cx="1645920" cy="548640"/>
          </a:xfrm>
          <a:prstGeom prst="roundRect">
            <a:avLst>
              <a:gd name="adj" fmla="val 10000"/>
            </a:avLst>
          </a:prstGeom>
          <a:solidFill>
            <a:schemeClr val="accent2"/>
          </a:solidFill>
          <a:ln w="12700">
            <a:solidFill>
              <a:schemeClr val="accent2"/>
            </a:solidFill>
            <a:prstDash val="solid"/>
          </a:ln>
        </p:spPr>
      </p:sp>
      <p:sp>
        <p:nvSpPr>
          <p:cNvPr id="19" name="Text 17"/>
          <p:cNvSpPr txBox="1"/>
          <p:nvPr/>
        </p:nvSpPr>
        <p:spPr>
          <a:xfrm>
            <a:off x="457200" y="1417320"/>
            <a:ext cx="1645920"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삭제 20장</a:t>
            </a:r>
            <a:endParaRPr lang="en-US" sz="1400" dirty="0"/>
          </a:p>
        </p:txBody>
      </p:sp>
      <p:sp>
        <p:nvSpPr>
          <p:cNvPr id="20" name="keep"/>
          <p:cNvSpPr/>
          <p:nvPr/>
        </p:nvSpPr>
        <p:spPr>
          <a:xfrm>
            <a:off x="2103120" y="1417320"/>
            <a:ext cx="6583680" cy="548640"/>
          </a:xfrm>
          <a:prstGeom prst="roundRect">
            <a:avLst>
              <a:gd name="adj" fmla="val 10000"/>
            </a:avLst>
          </a:prstGeom>
          <a:solidFill>
            <a:schemeClr val="accent1"/>
          </a:solidFill>
          <a:ln w="12700">
            <a:solidFill>
              <a:schemeClr val="accent1"/>
            </a:solidFill>
            <a:prstDash val="solid"/>
          </a:ln>
        </p:spPr>
      </p:sp>
      <p:sp>
        <p:nvSpPr>
          <p:cNvPr id="21" name="Text 19"/>
          <p:cNvSpPr txBox="1"/>
          <p:nvPr/>
        </p:nvSpPr>
        <p:spPr>
          <a:xfrm>
            <a:off x="2103120" y="1417320"/>
            <a:ext cx="6583680"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Malgun Gothic" pitchFamily="34" charset="0"/>
                <a:ea typeface="Malgun Gothic" pitchFamily="34" charset="-122"/>
                <a:cs typeface="Malgun Gothic" pitchFamily="34" charset="-120"/>
              </a:rPr>
              <a:t>남는 80장 (엘리트)  ← 부모는 여기서 뽑는다</a:t>
            </a:r>
            <a:endParaRPr lang="en-US" sz="1400" dirty="0"/>
          </a:p>
        </p:txBody>
      </p:sp>
      <p:sp>
        <p:nvSpPr>
          <p:cNvPr id="22" name="parent"/>
          <p:cNvSpPr/>
          <p:nvPr/>
        </p:nvSpPr>
        <p:spPr>
          <a:xfrm>
            <a:off x="457200" y="2148840"/>
            <a:ext cx="4023360" cy="1417320"/>
          </a:xfrm>
          <a:prstGeom prst="roundRect">
            <a:avLst>
              <a:gd name="adj" fmla="val 3871"/>
            </a:avLst>
          </a:prstGeom>
          <a:solidFill>
            <a:schemeClr val="bg2"/>
          </a:solidFill>
          <a:ln w="12700">
            <a:solidFill>
              <a:schemeClr val="bg2"/>
            </a:solidFill>
            <a:prstDash val="solid"/>
          </a:ln>
        </p:spPr>
      </p:sp>
      <p:sp>
        <p:nvSpPr>
          <p:cNvPr id="23" name="Text 21"/>
          <p:cNvSpPr txBox="1"/>
          <p:nvPr/>
        </p:nvSpPr>
        <p:spPr>
          <a:xfrm>
            <a:off x="594360" y="2194560"/>
            <a:ext cx="3794760" cy="1325880"/>
          </a:xfrm>
          <a:prstGeom prst="rect">
            <a:avLst/>
          </a:prstGeom>
          <a:noFill/>
          <a:ln/>
        </p:spPr>
        <p:txBody>
          <a:bodyPr wrap="square" lIns="0" tIns="0" rIns="0" bIns="0" rtlCol="0" anchor="t"/>
          <a:lstStyle/>
          <a:p>
            <a:pPr indent="0" marL="0">
              <a:spcAft>
                <a:spcPts val="300"/>
              </a:spcAft>
              <a:buNone/>
            </a:pPr>
            <a:r>
              <a:rPr lang="en-US" sz="1200" b="1" dirty="0">
                <a:solidFill>
                  <a:schemeClr val="accent1"/>
                </a:solidFill>
                <a:latin typeface="Malgun Gothic" pitchFamily="34" charset="0"/>
                <a:ea typeface="Malgun Gothic" pitchFamily="34" charset="-122"/>
                <a:cs typeface="Malgun Gothic" pitchFamily="34" charset="-120"/>
              </a:rPr>
              <a:t>부모 선정 (LeBaron et al. 1999)</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버려지지 않은 80개 중에서 무작위로 2개 선정</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두 규칙 중 적합도가 높은 하나만 부모로 유지</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이것을 2번 반복 → 부모 2명</a:t>
            </a:r>
            <a:endParaRPr lang="en-US" sz="1200" dirty="0"/>
          </a:p>
        </p:txBody>
      </p:sp>
      <p:sp>
        <p:nvSpPr>
          <p:cNvPr id="24" name="nodoc"/>
          <p:cNvSpPr/>
          <p:nvPr/>
        </p:nvSpPr>
        <p:spPr>
          <a:xfrm>
            <a:off x="4663440" y="2148840"/>
            <a:ext cx="4023360" cy="1417320"/>
          </a:xfrm>
          <a:prstGeom prst="roundRect">
            <a:avLst>
              <a:gd name="adj" fmla="val 3871"/>
            </a:avLst>
          </a:prstGeom>
          <a:solidFill>
            <a:srgbClr val="FBEFCB"/>
          </a:solidFill>
          <a:ln w="12700">
            <a:solidFill>
              <a:srgbClr val="FBEFCB"/>
            </a:solidFill>
            <a:prstDash val="solid"/>
          </a:ln>
        </p:spPr>
      </p:sp>
      <p:sp>
        <p:nvSpPr>
          <p:cNvPr id="25" name="Text 23"/>
          <p:cNvSpPr txBox="1"/>
          <p:nvPr/>
        </p:nvSpPr>
        <p:spPr>
          <a:xfrm>
            <a:off x="4800600" y="2194560"/>
            <a:ext cx="3794760" cy="1325880"/>
          </a:xfrm>
          <a:prstGeom prst="rect">
            <a:avLst/>
          </a:prstGeom>
          <a:noFill/>
          <a:ln/>
        </p:spPr>
        <p:txBody>
          <a:bodyPr wrap="square" lIns="0" tIns="0" rIns="0" bIns="0" rtlCol="0" anchor="t"/>
          <a:lstStyle/>
          <a:p>
            <a:pPr indent="0" marL="0">
              <a:spcAft>
                <a:spcPts val="300"/>
              </a:spcAft>
              <a:buNone/>
            </a:pPr>
            <a:r>
              <a:rPr lang="en-US" sz="1200" b="1" dirty="0">
                <a:solidFill>
                  <a:schemeClr val="accent2"/>
                </a:solidFill>
                <a:latin typeface="Malgun Gothic" pitchFamily="34" charset="0"/>
                <a:ea typeface="Malgun Gothic" pitchFamily="34" charset="-122"/>
                <a:cs typeface="Malgun Gothic" pitchFamily="34" charset="-120"/>
              </a:rPr>
              <a:t>※ 1996 원고와의 관계</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원고: 정확도가 높을수록 유리, 정한 칸이 많을수록 선택 확률이 약간 낮음 ("2개 비교"는 서술 없음)</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2개 비교와 80개 풀은 후속 자료에서 확인</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아직 불명: 기본 쪽지가 후보에 드는지</a:t>
            </a:r>
            <a:endParaRPr lang="en-US" sz="1200" dirty="0"/>
          </a:p>
        </p:txBody>
      </p:sp>
      <p:sp>
        <p:nvSpPr>
          <p:cNvPr id="26"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27" name="Text 25"/>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(8) 다시 사용  f = M − e² − C·s</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f 적합도(클수록 유리) · s 정한 칸 수</a:t>
            </a:r>
            <a:endParaRPr lang="en-US" sz="1200" dirty="0"/>
          </a:p>
        </p:txBody>
      </p:sp>
      <p:sp>
        <p:nvSpPr>
          <p:cNvPr id="28"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29" name="Text 27"/>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우월한 쪽지가 자식이 되나?  → 아니오. 부모가 되고, 자식은 교차·변이로 만든 새 쪽지</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부모는 80개에서 뽑나, 100개에서 뽑나?  → 후속 자료: 80개(엘리트)에서 2개씩 비교</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bg2"/>
          </a:solidFill>
          <a:ln w="12700">
            <a:solidFill>
              <a:schemeClr val="bg2"/>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bg2"/>
          </a:solidFill>
          <a:ln w="12700">
            <a:solidFill>
              <a:schemeClr val="bg2"/>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bg2"/>
          </a:solidFill>
          <a:ln w="12700">
            <a:solidFill>
              <a:schemeClr val="bg2"/>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bg2"/>
          </a:solidFill>
          <a:ln w="12700">
            <a:solidFill>
              <a:schemeClr val="bg2"/>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bg2"/>
          </a:solidFill>
          <a:ln w="12700">
            <a:solidFill>
              <a:schemeClr val="bg2"/>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accent2"/>
          </a:solidFill>
          <a:ln w="12700">
            <a:solidFill>
              <a:schemeClr val="accent2"/>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bg2"/>
          </a:solidFill>
          <a:ln w="12700">
            <a:solidFill>
              <a:schemeClr val="bg2"/>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⑥ 교차: 두 부모를 섞는다</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확률 P로 교차 (복잡 체제 0.1, RE 체제 0.3). 아니면 다음 장의 변이</a:t>
            </a:r>
            <a:endParaRPr lang="en-US" sz="1400" dirty="0"/>
          </a:p>
        </p:txBody>
      </p:sp>
      <p:sp>
        <p:nvSpPr>
          <p:cNvPr id="18" name="Text 16"/>
          <p:cNvSpPr txBox="1"/>
          <p:nvPr/>
        </p:nvSpPr>
        <p:spPr>
          <a:xfrm>
            <a:off x="457200" y="1463040"/>
            <a:ext cx="777240" cy="347472"/>
          </a:xfrm>
          <a:prstGeom prst="rect">
            <a:avLst/>
          </a:prstGeom>
          <a:noFill/>
          <a:ln/>
        </p:spPr>
        <p:txBody>
          <a:bodyPr wrap="square" lIns="0" tIns="0" rIns="0" bIns="0" rtlCol="0" anchor="ctr"/>
          <a:lstStyle/>
          <a:p>
            <a:pPr indent="0" marL="0">
              <a:buNone/>
            </a:pPr>
            <a:r>
              <a:rPr lang="en-US" sz="1200" b="1" dirty="0">
                <a:solidFill>
                  <a:schemeClr val="tx1"/>
                </a:solidFill>
                <a:latin typeface="Malgun Gothic" pitchFamily="34" charset="0"/>
                <a:ea typeface="Malgun Gothic" pitchFamily="34" charset="-122"/>
                <a:cs typeface="Malgun Gothic" pitchFamily="34" charset="-120"/>
              </a:rPr>
              <a:t>부모 P</a:t>
            </a:r>
            <a:endParaRPr lang="en-US" sz="1200" dirty="0"/>
          </a:p>
        </p:txBody>
      </p:sp>
      <p:sp>
        <p:nvSpPr>
          <p:cNvPr id="19" name="cell0"/>
          <p:cNvSpPr/>
          <p:nvPr/>
        </p:nvSpPr>
        <p:spPr>
          <a:xfrm>
            <a:off x="1234440" y="1463040"/>
            <a:ext cx="274320" cy="347472"/>
          </a:xfrm>
          <a:prstGeom prst="rect">
            <a:avLst/>
          </a:prstGeom>
          <a:solidFill>
            <a:srgbClr val="0E7C86"/>
          </a:solidFill>
          <a:ln w="12700">
            <a:solidFill>
              <a:srgbClr val="0E7C86"/>
            </a:solidFill>
            <a:prstDash val="solid"/>
          </a:ln>
        </p:spPr>
      </p:sp>
      <p:sp>
        <p:nvSpPr>
          <p:cNvPr id="20" name="Text 18"/>
          <p:cNvSpPr txBox="1"/>
          <p:nvPr/>
        </p:nvSpPr>
        <p:spPr>
          <a:xfrm>
            <a:off x="1234440"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a:t>
            </a:r>
            <a:endParaRPr lang="en-US" sz="1200" dirty="0"/>
          </a:p>
        </p:txBody>
      </p:sp>
      <p:sp>
        <p:nvSpPr>
          <p:cNvPr id="21" name="cell1"/>
          <p:cNvSpPr/>
          <p:nvPr/>
        </p:nvSpPr>
        <p:spPr>
          <a:xfrm>
            <a:off x="1545336" y="1463040"/>
            <a:ext cx="274320" cy="347472"/>
          </a:xfrm>
          <a:prstGeom prst="rect">
            <a:avLst/>
          </a:prstGeom>
          <a:solidFill>
            <a:srgbClr val="0E7C86"/>
          </a:solidFill>
          <a:ln w="12700">
            <a:solidFill>
              <a:srgbClr val="0E7C86"/>
            </a:solidFill>
            <a:prstDash val="solid"/>
          </a:ln>
        </p:spPr>
      </p:sp>
      <p:sp>
        <p:nvSpPr>
          <p:cNvPr id="22" name="Text 20"/>
          <p:cNvSpPr txBox="1"/>
          <p:nvPr/>
        </p:nvSpPr>
        <p:spPr>
          <a:xfrm>
            <a:off x="1545336"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23" name="cell2"/>
          <p:cNvSpPr/>
          <p:nvPr/>
        </p:nvSpPr>
        <p:spPr>
          <a:xfrm>
            <a:off x="1856232" y="1463040"/>
            <a:ext cx="274320" cy="347472"/>
          </a:xfrm>
          <a:prstGeom prst="rect">
            <a:avLst/>
          </a:prstGeom>
          <a:solidFill>
            <a:srgbClr val="0E7C86"/>
          </a:solidFill>
          <a:ln w="12700">
            <a:solidFill>
              <a:srgbClr val="0E7C86"/>
            </a:solidFill>
            <a:prstDash val="solid"/>
          </a:ln>
        </p:spPr>
      </p:sp>
      <p:sp>
        <p:nvSpPr>
          <p:cNvPr id="24" name="Text 22"/>
          <p:cNvSpPr txBox="1"/>
          <p:nvPr/>
        </p:nvSpPr>
        <p:spPr>
          <a:xfrm>
            <a:off x="1856232"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25" name="cell3"/>
          <p:cNvSpPr/>
          <p:nvPr/>
        </p:nvSpPr>
        <p:spPr>
          <a:xfrm>
            <a:off x="2167128" y="1463040"/>
            <a:ext cx="274320" cy="347472"/>
          </a:xfrm>
          <a:prstGeom prst="rect">
            <a:avLst/>
          </a:prstGeom>
          <a:solidFill>
            <a:srgbClr val="0E7C86"/>
          </a:solidFill>
          <a:ln w="12700">
            <a:solidFill>
              <a:srgbClr val="0E7C86"/>
            </a:solidFill>
            <a:prstDash val="solid"/>
          </a:ln>
        </p:spPr>
      </p:sp>
      <p:sp>
        <p:nvSpPr>
          <p:cNvPr id="26" name="Text 24"/>
          <p:cNvSpPr txBox="1"/>
          <p:nvPr/>
        </p:nvSpPr>
        <p:spPr>
          <a:xfrm>
            <a:off x="2167128"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0</a:t>
            </a:r>
            <a:endParaRPr lang="en-US" sz="1200" dirty="0"/>
          </a:p>
        </p:txBody>
      </p:sp>
      <p:sp>
        <p:nvSpPr>
          <p:cNvPr id="27" name="cell4"/>
          <p:cNvSpPr/>
          <p:nvPr/>
        </p:nvSpPr>
        <p:spPr>
          <a:xfrm>
            <a:off x="2478024" y="1463040"/>
            <a:ext cx="274320" cy="347472"/>
          </a:xfrm>
          <a:prstGeom prst="rect">
            <a:avLst/>
          </a:prstGeom>
          <a:solidFill>
            <a:srgbClr val="0E7C86"/>
          </a:solidFill>
          <a:ln w="12700">
            <a:solidFill>
              <a:srgbClr val="0E7C86"/>
            </a:solidFill>
            <a:prstDash val="solid"/>
          </a:ln>
        </p:spPr>
      </p:sp>
      <p:sp>
        <p:nvSpPr>
          <p:cNvPr id="28" name="Text 26"/>
          <p:cNvSpPr txBox="1"/>
          <p:nvPr/>
        </p:nvSpPr>
        <p:spPr>
          <a:xfrm>
            <a:off x="2478024"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29" name="cell5"/>
          <p:cNvSpPr/>
          <p:nvPr/>
        </p:nvSpPr>
        <p:spPr>
          <a:xfrm>
            <a:off x="2788920" y="1463040"/>
            <a:ext cx="274320" cy="347472"/>
          </a:xfrm>
          <a:prstGeom prst="rect">
            <a:avLst/>
          </a:prstGeom>
          <a:solidFill>
            <a:srgbClr val="0E7C86"/>
          </a:solidFill>
          <a:ln w="12700">
            <a:solidFill>
              <a:srgbClr val="0E7C86"/>
            </a:solidFill>
            <a:prstDash val="solid"/>
          </a:ln>
        </p:spPr>
      </p:sp>
      <p:sp>
        <p:nvSpPr>
          <p:cNvPr id="30" name="Text 28"/>
          <p:cNvSpPr txBox="1"/>
          <p:nvPr/>
        </p:nvSpPr>
        <p:spPr>
          <a:xfrm>
            <a:off x="2788920"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a:t>
            </a:r>
            <a:endParaRPr lang="en-US" sz="1200" dirty="0"/>
          </a:p>
        </p:txBody>
      </p:sp>
      <p:sp>
        <p:nvSpPr>
          <p:cNvPr id="31" name="cell6"/>
          <p:cNvSpPr/>
          <p:nvPr/>
        </p:nvSpPr>
        <p:spPr>
          <a:xfrm>
            <a:off x="3099816" y="1463040"/>
            <a:ext cx="274320" cy="347472"/>
          </a:xfrm>
          <a:prstGeom prst="rect">
            <a:avLst/>
          </a:prstGeom>
          <a:solidFill>
            <a:srgbClr val="0E7C86"/>
          </a:solidFill>
          <a:ln w="12700">
            <a:solidFill>
              <a:srgbClr val="0E7C86"/>
            </a:solidFill>
            <a:prstDash val="solid"/>
          </a:ln>
        </p:spPr>
      </p:sp>
      <p:sp>
        <p:nvSpPr>
          <p:cNvPr id="32" name="Text 30"/>
          <p:cNvSpPr txBox="1"/>
          <p:nvPr/>
        </p:nvSpPr>
        <p:spPr>
          <a:xfrm>
            <a:off x="3099816"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33" name="cell7"/>
          <p:cNvSpPr/>
          <p:nvPr/>
        </p:nvSpPr>
        <p:spPr>
          <a:xfrm>
            <a:off x="3410712" y="1463040"/>
            <a:ext cx="274320" cy="347472"/>
          </a:xfrm>
          <a:prstGeom prst="rect">
            <a:avLst/>
          </a:prstGeom>
          <a:solidFill>
            <a:srgbClr val="0E7C86"/>
          </a:solidFill>
          <a:ln w="12700">
            <a:solidFill>
              <a:srgbClr val="0E7C86"/>
            </a:solidFill>
            <a:prstDash val="solid"/>
          </a:ln>
        </p:spPr>
      </p:sp>
      <p:sp>
        <p:nvSpPr>
          <p:cNvPr id="34" name="Text 32"/>
          <p:cNvSpPr txBox="1"/>
          <p:nvPr/>
        </p:nvSpPr>
        <p:spPr>
          <a:xfrm>
            <a:off x="3410712"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35" name="cell8"/>
          <p:cNvSpPr/>
          <p:nvPr/>
        </p:nvSpPr>
        <p:spPr>
          <a:xfrm>
            <a:off x="3721608" y="1463040"/>
            <a:ext cx="274320" cy="347472"/>
          </a:xfrm>
          <a:prstGeom prst="rect">
            <a:avLst/>
          </a:prstGeom>
          <a:solidFill>
            <a:srgbClr val="0E7C86"/>
          </a:solidFill>
          <a:ln w="12700">
            <a:solidFill>
              <a:srgbClr val="0E7C86"/>
            </a:solidFill>
            <a:prstDash val="solid"/>
          </a:ln>
        </p:spPr>
      </p:sp>
      <p:sp>
        <p:nvSpPr>
          <p:cNvPr id="36" name="Text 34"/>
          <p:cNvSpPr txBox="1"/>
          <p:nvPr/>
        </p:nvSpPr>
        <p:spPr>
          <a:xfrm>
            <a:off x="3721608"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37" name="cell9"/>
          <p:cNvSpPr/>
          <p:nvPr/>
        </p:nvSpPr>
        <p:spPr>
          <a:xfrm>
            <a:off x="4032504" y="1463040"/>
            <a:ext cx="274320" cy="347472"/>
          </a:xfrm>
          <a:prstGeom prst="rect">
            <a:avLst/>
          </a:prstGeom>
          <a:solidFill>
            <a:srgbClr val="0E7C86"/>
          </a:solidFill>
          <a:ln w="12700">
            <a:solidFill>
              <a:srgbClr val="0E7C86"/>
            </a:solidFill>
            <a:prstDash val="solid"/>
          </a:ln>
        </p:spPr>
      </p:sp>
      <p:sp>
        <p:nvSpPr>
          <p:cNvPr id="38" name="Text 36"/>
          <p:cNvSpPr txBox="1"/>
          <p:nvPr/>
        </p:nvSpPr>
        <p:spPr>
          <a:xfrm>
            <a:off x="4032504"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39" name="cell10"/>
          <p:cNvSpPr/>
          <p:nvPr/>
        </p:nvSpPr>
        <p:spPr>
          <a:xfrm>
            <a:off x="4343400" y="1463040"/>
            <a:ext cx="274320" cy="347472"/>
          </a:xfrm>
          <a:prstGeom prst="rect">
            <a:avLst/>
          </a:prstGeom>
          <a:solidFill>
            <a:srgbClr val="0E7C86"/>
          </a:solidFill>
          <a:ln w="12700">
            <a:solidFill>
              <a:srgbClr val="0E7C86"/>
            </a:solidFill>
            <a:prstDash val="solid"/>
          </a:ln>
        </p:spPr>
      </p:sp>
      <p:sp>
        <p:nvSpPr>
          <p:cNvPr id="40" name="Text 38"/>
          <p:cNvSpPr txBox="1"/>
          <p:nvPr/>
        </p:nvSpPr>
        <p:spPr>
          <a:xfrm>
            <a:off x="4343400"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41" name="cell11"/>
          <p:cNvSpPr/>
          <p:nvPr/>
        </p:nvSpPr>
        <p:spPr>
          <a:xfrm>
            <a:off x="4654296" y="1463040"/>
            <a:ext cx="274320" cy="347472"/>
          </a:xfrm>
          <a:prstGeom prst="rect">
            <a:avLst/>
          </a:prstGeom>
          <a:solidFill>
            <a:srgbClr val="0E7C86"/>
          </a:solidFill>
          <a:ln w="12700">
            <a:solidFill>
              <a:srgbClr val="0E7C86"/>
            </a:solidFill>
            <a:prstDash val="solid"/>
          </a:ln>
        </p:spPr>
      </p:sp>
      <p:sp>
        <p:nvSpPr>
          <p:cNvPr id="42" name="Text 40"/>
          <p:cNvSpPr txBox="1"/>
          <p:nvPr/>
        </p:nvSpPr>
        <p:spPr>
          <a:xfrm>
            <a:off x="4654296" y="1463040"/>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43" name="Text 41"/>
          <p:cNvSpPr txBox="1"/>
          <p:nvPr/>
        </p:nvSpPr>
        <p:spPr>
          <a:xfrm>
            <a:off x="457200" y="1901952"/>
            <a:ext cx="777240" cy="347472"/>
          </a:xfrm>
          <a:prstGeom prst="rect">
            <a:avLst/>
          </a:prstGeom>
          <a:noFill/>
          <a:ln/>
        </p:spPr>
        <p:txBody>
          <a:bodyPr wrap="square" lIns="0" tIns="0" rIns="0" bIns="0" rtlCol="0" anchor="ctr"/>
          <a:lstStyle/>
          <a:p>
            <a:pPr indent="0" marL="0">
              <a:buNone/>
            </a:pPr>
            <a:r>
              <a:rPr lang="en-US" sz="1200" b="1" dirty="0">
                <a:solidFill>
                  <a:schemeClr val="tx1"/>
                </a:solidFill>
                <a:latin typeface="Malgun Gothic" pitchFamily="34" charset="0"/>
                <a:ea typeface="Malgun Gothic" pitchFamily="34" charset="-122"/>
                <a:cs typeface="Malgun Gothic" pitchFamily="34" charset="-120"/>
              </a:rPr>
              <a:t>부모 Q</a:t>
            </a:r>
            <a:endParaRPr lang="en-US" sz="1200" dirty="0"/>
          </a:p>
        </p:txBody>
      </p:sp>
      <p:sp>
        <p:nvSpPr>
          <p:cNvPr id="44" name="cell0"/>
          <p:cNvSpPr/>
          <p:nvPr/>
        </p:nvSpPr>
        <p:spPr>
          <a:xfrm>
            <a:off x="1234440" y="1901952"/>
            <a:ext cx="274320" cy="347472"/>
          </a:xfrm>
          <a:prstGeom prst="rect">
            <a:avLst/>
          </a:prstGeom>
          <a:solidFill>
            <a:srgbClr val="E8743B"/>
          </a:solidFill>
          <a:ln w="12700">
            <a:solidFill>
              <a:srgbClr val="E8743B"/>
            </a:solidFill>
            <a:prstDash val="solid"/>
          </a:ln>
        </p:spPr>
      </p:sp>
      <p:sp>
        <p:nvSpPr>
          <p:cNvPr id="45" name="Text 43"/>
          <p:cNvSpPr txBox="1"/>
          <p:nvPr/>
        </p:nvSpPr>
        <p:spPr>
          <a:xfrm>
            <a:off x="1234440"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46" name="cell1"/>
          <p:cNvSpPr/>
          <p:nvPr/>
        </p:nvSpPr>
        <p:spPr>
          <a:xfrm>
            <a:off x="1545336" y="1901952"/>
            <a:ext cx="274320" cy="347472"/>
          </a:xfrm>
          <a:prstGeom prst="rect">
            <a:avLst/>
          </a:prstGeom>
          <a:solidFill>
            <a:srgbClr val="E8743B"/>
          </a:solidFill>
          <a:ln w="12700">
            <a:solidFill>
              <a:srgbClr val="E8743B"/>
            </a:solidFill>
            <a:prstDash val="solid"/>
          </a:ln>
        </p:spPr>
      </p:sp>
      <p:sp>
        <p:nvSpPr>
          <p:cNvPr id="47" name="Text 45"/>
          <p:cNvSpPr txBox="1"/>
          <p:nvPr/>
        </p:nvSpPr>
        <p:spPr>
          <a:xfrm>
            <a:off x="1545336"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a:t>
            </a:r>
            <a:endParaRPr lang="en-US" sz="1200" dirty="0"/>
          </a:p>
        </p:txBody>
      </p:sp>
      <p:sp>
        <p:nvSpPr>
          <p:cNvPr id="48" name="cell2"/>
          <p:cNvSpPr/>
          <p:nvPr/>
        </p:nvSpPr>
        <p:spPr>
          <a:xfrm>
            <a:off x="1856232" y="1901952"/>
            <a:ext cx="274320" cy="347472"/>
          </a:xfrm>
          <a:prstGeom prst="rect">
            <a:avLst/>
          </a:prstGeom>
          <a:solidFill>
            <a:srgbClr val="E8743B"/>
          </a:solidFill>
          <a:ln w="12700">
            <a:solidFill>
              <a:srgbClr val="E8743B"/>
            </a:solidFill>
            <a:prstDash val="solid"/>
          </a:ln>
        </p:spPr>
      </p:sp>
      <p:sp>
        <p:nvSpPr>
          <p:cNvPr id="49" name="Text 47"/>
          <p:cNvSpPr txBox="1"/>
          <p:nvPr/>
        </p:nvSpPr>
        <p:spPr>
          <a:xfrm>
            <a:off x="1856232"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50" name="cell3"/>
          <p:cNvSpPr/>
          <p:nvPr/>
        </p:nvSpPr>
        <p:spPr>
          <a:xfrm>
            <a:off x="2167128" y="1901952"/>
            <a:ext cx="274320" cy="347472"/>
          </a:xfrm>
          <a:prstGeom prst="rect">
            <a:avLst/>
          </a:prstGeom>
          <a:solidFill>
            <a:srgbClr val="E8743B"/>
          </a:solidFill>
          <a:ln w="12700">
            <a:solidFill>
              <a:srgbClr val="E8743B"/>
            </a:solidFill>
            <a:prstDash val="solid"/>
          </a:ln>
        </p:spPr>
      </p:sp>
      <p:sp>
        <p:nvSpPr>
          <p:cNvPr id="51" name="Text 49"/>
          <p:cNvSpPr txBox="1"/>
          <p:nvPr/>
        </p:nvSpPr>
        <p:spPr>
          <a:xfrm>
            <a:off x="2167128"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52" name="cell4"/>
          <p:cNvSpPr/>
          <p:nvPr/>
        </p:nvSpPr>
        <p:spPr>
          <a:xfrm>
            <a:off x="2478024" y="1901952"/>
            <a:ext cx="274320" cy="347472"/>
          </a:xfrm>
          <a:prstGeom prst="rect">
            <a:avLst/>
          </a:prstGeom>
          <a:solidFill>
            <a:srgbClr val="E8743B"/>
          </a:solidFill>
          <a:ln w="12700">
            <a:solidFill>
              <a:srgbClr val="E8743B"/>
            </a:solidFill>
            <a:prstDash val="solid"/>
          </a:ln>
        </p:spPr>
      </p:sp>
      <p:sp>
        <p:nvSpPr>
          <p:cNvPr id="53" name="Text 51"/>
          <p:cNvSpPr txBox="1"/>
          <p:nvPr/>
        </p:nvSpPr>
        <p:spPr>
          <a:xfrm>
            <a:off x="2478024"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0</a:t>
            </a:r>
            <a:endParaRPr lang="en-US" sz="1200" dirty="0"/>
          </a:p>
        </p:txBody>
      </p:sp>
      <p:sp>
        <p:nvSpPr>
          <p:cNvPr id="54" name="cell5"/>
          <p:cNvSpPr/>
          <p:nvPr/>
        </p:nvSpPr>
        <p:spPr>
          <a:xfrm>
            <a:off x="2788920" y="1901952"/>
            <a:ext cx="274320" cy="347472"/>
          </a:xfrm>
          <a:prstGeom prst="rect">
            <a:avLst/>
          </a:prstGeom>
          <a:solidFill>
            <a:srgbClr val="E8743B"/>
          </a:solidFill>
          <a:ln w="12700">
            <a:solidFill>
              <a:srgbClr val="E8743B"/>
            </a:solidFill>
            <a:prstDash val="solid"/>
          </a:ln>
        </p:spPr>
      </p:sp>
      <p:sp>
        <p:nvSpPr>
          <p:cNvPr id="55" name="Text 53"/>
          <p:cNvSpPr txBox="1"/>
          <p:nvPr/>
        </p:nvSpPr>
        <p:spPr>
          <a:xfrm>
            <a:off x="2788920"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56" name="cell6"/>
          <p:cNvSpPr/>
          <p:nvPr/>
        </p:nvSpPr>
        <p:spPr>
          <a:xfrm>
            <a:off x="3099816" y="1901952"/>
            <a:ext cx="274320" cy="347472"/>
          </a:xfrm>
          <a:prstGeom prst="rect">
            <a:avLst/>
          </a:prstGeom>
          <a:solidFill>
            <a:srgbClr val="E8743B"/>
          </a:solidFill>
          <a:ln w="12700">
            <a:solidFill>
              <a:srgbClr val="E8743B"/>
            </a:solidFill>
            <a:prstDash val="solid"/>
          </a:ln>
        </p:spPr>
      </p:sp>
      <p:sp>
        <p:nvSpPr>
          <p:cNvPr id="57" name="Text 55"/>
          <p:cNvSpPr txBox="1"/>
          <p:nvPr/>
        </p:nvSpPr>
        <p:spPr>
          <a:xfrm>
            <a:off x="3099816"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a:t>
            </a:r>
            <a:endParaRPr lang="en-US" sz="1200" dirty="0"/>
          </a:p>
        </p:txBody>
      </p:sp>
      <p:sp>
        <p:nvSpPr>
          <p:cNvPr id="58" name="cell7"/>
          <p:cNvSpPr/>
          <p:nvPr/>
        </p:nvSpPr>
        <p:spPr>
          <a:xfrm>
            <a:off x="3410712" y="1901952"/>
            <a:ext cx="274320" cy="347472"/>
          </a:xfrm>
          <a:prstGeom prst="rect">
            <a:avLst/>
          </a:prstGeom>
          <a:solidFill>
            <a:srgbClr val="E8743B"/>
          </a:solidFill>
          <a:ln w="12700">
            <a:solidFill>
              <a:srgbClr val="E8743B"/>
            </a:solidFill>
            <a:prstDash val="solid"/>
          </a:ln>
        </p:spPr>
      </p:sp>
      <p:sp>
        <p:nvSpPr>
          <p:cNvPr id="59" name="Text 57"/>
          <p:cNvSpPr txBox="1"/>
          <p:nvPr/>
        </p:nvSpPr>
        <p:spPr>
          <a:xfrm>
            <a:off x="3410712"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60" name="cell8"/>
          <p:cNvSpPr/>
          <p:nvPr/>
        </p:nvSpPr>
        <p:spPr>
          <a:xfrm>
            <a:off x="3721608" y="1901952"/>
            <a:ext cx="274320" cy="347472"/>
          </a:xfrm>
          <a:prstGeom prst="rect">
            <a:avLst/>
          </a:prstGeom>
          <a:solidFill>
            <a:srgbClr val="E8743B"/>
          </a:solidFill>
          <a:ln w="12700">
            <a:solidFill>
              <a:srgbClr val="E8743B"/>
            </a:solidFill>
            <a:prstDash val="solid"/>
          </a:ln>
        </p:spPr>
      </p:sp>
      <p:sp>
        <p:nvSpPr>
          <p:cNvPr id="61" name="Text 59"/>
          <p:cNvSpPr txBox="1"/>
          <p:nvPr/>
        </p:nvSpPr>
        <p:spPr>
          <a:xfrm>
            <a:off x="3721608"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62" name="cell9"/>
          <p:cNvSpPr/>
          <p:nvPr/>
        </p:nvSpPr>
        <p:spPr>
          <a:xfrm>
            <a:off x="4032504" y="1901952"/>
            <a:ext cx="274320" cy="347472"/>
          </a:xfrm>
          <a:prstGeom prst="rect">
            <a:avLst/>
          </a:prstGeom>
          <a:solidFill>
            <a:srgbClr val="E8743B"/>
          </a:solidFill>
          <a:ln w="12700">
            <a:solidFill>
              <a:srgbClr val="E8743B"/>
            </a:solidFill>
            <a:prstDash val="solid"/>
          </a:ln>
        </p:spPr>
      </p:sp>
      <p:sp>
        <p:nvSpPr>
          <p:cNvPr id="63" name="Text 61"/>
          <p:cNvSpPr txBox="1"/>
          <p:nvPr/>
        </p:nvSpPr>
        <p:spPr>
          <a:xfrm>
            <a:off x="4032504"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64" name="cell10"/>
          <p:cNvSpPr/>
          <p:nvPr/>
        </p:nvSpPr>
        <p:spPr>
          <a:xfrm>
            <a:off x="4343400" y="1901952"/>
            <a:ext cx="274320" cy="347472"/>
          </a:xfrm>
          <a:prstGeom prst="rect">
            <a:avLst/>
          </a:prstGeom>
          <a:solidFill>
            <a:srgbClr val="E8743B"/>
          </a:solidFill>
          <a:ln w="12700">
            <a:solidFill>
              <a:srgbClr val="E8743B"/>
            </a:solidFill>
            <a:prstDash val="solid"/>
          </a:ln>
        </p:spPr>
      </p:sp>
      <p:sp>
        <p:nvSpPr>
          <p:cNvPr id="65" name="Text 63"/>
          <p:cNvSpPr txBox="1"/>
          <p:nvPr/>
        </p:nvSpPr>
        <p:spPr>
          <a:xfrm>
            <a:off x="4343400"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66" name="cell11"/>
          <p:cNvSpPr/>
          <p:nvPr/>
        </p:nvSpPr>
        <p:spPr>
          <a:xfrm>
            <a:off x="4654296" y="1901952"/>
            <a:ext cx="274320" cy="347472"/>
          </a:xfrm>
          <a:prstGeom prst="rect">
            <a:avLst/>
          </a:prstGeom>
          <a:solidFill>
            <a:srgbClr val="E8743B"/>
          </a:solidFill>
          <a:ln w="12700">
            <a:solidFill>
              <a:srgbClr val="E8743B"/>
            </a:solidFill>
            <a:prstDash val="solid"/>
          </a:ln>
        </p:spPr>
      </p:sp>
      <p:sp>
        <p:nvSpPr>
          <p:cNvPr id="67" name="Text 65"/>
          <p:cNvSpPr txBox="1"/>
          <p:nvPr/>
        </p:nvSpPr>
        <p:spPr>
          <a:xfrm>
            <a:off x="4654296" y="1901952"/>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68" name="Text 66"/>
          <p:cNvSpPr txBox="1"/>
          <p:nvPr/>
        </p:nvSpPr>
        <p:spPr>
          <a:xfrm>
            <a:off x="457200" y="2340864"/>
            <a:ext cx="777240" cy="347472"/>
          </a:xfrm>
          <a:prstGeom prst="rect">
            <a:avLst/>
          </a:prstGeom>
          <a:noFill/>
          <a:ln/>
        </p:spPr>
        <p:txBody>
          <a:bodyPr wrap="square" lIns="0" tIns="0" rIns="0" bIns="0" rtlCol="0" anchor="ctr"/>
          <a:lstStyle/>
          <a:p>
            <a:pPr indent="0" marL="0">
              <a:buNone/>
            </a:pPr>
            <a:r>
              <a:rPr lang="en-US" sz="1200" b="1" dirty="0">
                <a:solidFill>
                  <a:schemeClr val="tx1"/>
                </a:solidFill>
                <a:latin typeface="Malgun Gothic" pitchFamily="34" charset="0"/>
                <a:ea typeface="Malgun Gothic" pitchFamily="34" charset="-122"/>
                <a:cs typeface="Malgun Gothic" pitchFamily="34" charset="-120"/>
              </a:rPr>
              <a:t>자식</a:t>
            </a:r>
            <a:endParaRPr lang="en-US" sz="1200" dirty="0"/>
          </a:p>
        </p:txBody>
      </p:sp>
      <p:sp>
        <p:nvSpPr>
          <p:cNvPr id="69" name="cell0"/>
          <p:cNvSpPr/>
          <p:nvPr/>
        </p:nvSpPr>
        <p:spPr>
          <a:xfrm>
            <a:off x="1234440" y="2340864"/>
            <a:ext cx="274320" cy="347472"/>
          </a:xfrm>
          <a:prstGeom prst="rect">
            <a:avLst/>
          </a:prstGeom>
          <a:solidFill>
            <a:srgbClr val="0E7C86"/>
          </a:solidFill>
          <a:ln w="12700">
            <a:solidFill>
              <a:srgbClr val="0E7C86"/>
            </a:solidFill>
            <a:prstDash val="solid"/>
          </a:ln>
        </p:spPr>
      </p:sp>
      <p:sp>
        <p:nvSpPr>
          <p:cNvPr id="70" name="Text 68"/>
          <p:cNvSpPr txBox="1"/>
          <p:nvPr/>
        </p:nvSpPr>
        <p:spPr>
          <a:xfrm>
            <a:off x="1234440"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a:t>
            </a:r>
            <a:endParaRPr lang="en-US" sz="1200" dirty="0"/>
          </a:p>
        </p:txBody>
      </p:sp>
      <p:sp>
        <p:nvSpPr>
          <p:cNvPr id="71" name="cell1"/>
          <p:cNvSpPr/>
          <p:nvPr/>
        </p:nvSpPr>
        <p:spPr>
          <a:xfrm>
            <a:off x="1545336" y="2340864"/>
            <a:ext cx="274320" cy="347472"/>
          </a:xfrm>
          <a:prstGeom prst="rect">
            <a:avLst/>
          </a:prstGeom>
          <a:solidFill>
            <a:srgbClr val="E8743B"/>
          </a:solidFill>
          <a:ln w="12700">
            <a:solidFill>
              <a:srgbClr val="E8743B"/>
            </a:solidFill>
            <a:prstDash val="solid"/>
          </a:ln>
        </p:spPr>
      </p:sp>
      <p:sp>
        <p:nvSpPr>
          <p:cNvPr id="72" name="Text 70"/>
          <p:cNvSpPr txBox="1"/>
          <p:nvPr/>
        </p:nvSpPr>
        <p:spPr>
          <a:xfrm>
            <a:off x="1545336"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a:t>
            </a:r>
            <a:endParaRPr lang="en-US" sz="1200" dirty="0"/>
          </a:p>
        </p:txBody>
      </p:sp>
      <p:sp>
        <p:nvSpPr>
          <p:cNvPr id="73" name="cell2"/>
          <p:cNvSpPr/>
          <p:nvPr/>
        </p:nvSpPr>
        <p:spPr>
          <a:xfrm>
            <a:off x="1856232" y="2340864"/>
            <a:ext cx="274320" cy="347472"/>
          </a:xfrm>
          <a:prstGeom prst="rect">
            <a:avLst/>
          </a:prstGeom>
          <a:solidFill>
            <a:srgbClr val="6C8EA4"/>
          </a:solidFill>
          <a:ln w="12700">
            <a:solidFill>
              <a:srgbClr val="6C8EA4"/>
            </a:solidFill>
            <a:prstDash val="solid"/>
          </a:ln>
        </p:spPr>
      </p:sp>
      <p:sp>
        <p:nvSpPr>
          <p:cNvPr id="74" name="Text 72"/>
          <p:cNvSpPr txBox="1"/>
          <p:nvPr/>
        </p:nvSpPr>
        <p:spPr>
          <a:xfrm>
            <a:off x="1856232"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75" name="cell3"/>
          <p:cNvSpPr/>
          <p:nvPr/>
        </p:nvSpPr>
        <p:spPr>
          <a:xfrm>
            <a:off x="2167128" y="2340864"/>
            <a:ext cx="274320" cy="347472"/>
          </a:xfrm>
          <a:prstGeom prst="rect">
            <a:avLst/>
          </a:prstGeom>
          <a:solidFill>
            <a:srgbClr val="0E7C86"/>
          </a:solidFill>
          <a:ln w="12700">
            <a:solidFill>
              <a:srgbClr val="0E7C86"/>
            </a:solidFill>
            <a:prstDash val="solid"/>
          </a:ln>
        </p:spPr>
      </p:sp>
      <p:sp>
        <p:nvSpPr>
          <p:cNvPr id="76" name="Text 74"/>
          <p:cNvSpPr txBox="1"/>
          <p:nvPr/>
        </p:nvSpPr>
        <p:spPr>
          <a:xfrm>
            <a:off x="2167128"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0</a:t>
            </a:r>
            <a:endParaRPr lang="en-US" sz="1200" dirty="0"/>
          </a:p>
        </p:txBody>
      </p:sp>
      <p:sp>
        <p:nvSpPr>
          <p:cNvPr id="77" name="cell4"/>
          <p:cNvSpPr/>
          <p:nvPr/>
        </p:nvSpPr>
        <p:spPr>
          <a:xfrm>
            <a:off x="2478024" y="2340864"/>
            <a:ext cx="274320" cy="347472"/>
          </a:xfrm>
          <a:prstGeom prst="rect">
            <a:avLst/>
          </a:prstGeom>
          <a:solidFill>
            <a:srgbClr val="E8743B"/>
          </a:solidFill>
          <a:ln w="12700">
            <a:solidFill>
              <a:srgbClr val="E8743B"/>
            </a:solidFill>
            <a:prstDash val="solid"/>
          </a:ln>
        </p:spPr>
      </p:sp>
      <p:sp>
        <p:nvSpPr>
          <p:cNvPr id="78" name="Text 76"/>
          <p:cNvSpPr txBox="1"/>
          <p:nvPr/>
        </p:nvSpPr>
        <p:spPr>
          <a:xfrm>
            <a:off x="2478024"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0</a:t>
            </a:r>
            <a:endParaRPr lang="en-US" sz="1200" dirty="0"/>
          </a:p>
        </p:txBody>
      </p:sp>
      <p:sp>
        <p:nvSpPr>
          <p:cNvPr id="79" name="cell5"/>
          <p:cNvSpPr/>
          <p:nvPr/>
        </p:nvSpPr>
        <p:spPr>
          <a:xfrm>
            <a:off x="2788920" y="2340864"/>
            <a:ext cx="274320" cy="347472"/>
          </a:xfrm>
          <a:prstGeom prst="rect">
            <a:avLst/>
          </a:prstGeom>
          <a:solidFill>
            <a:srgbClr val="0E7C86"/>
          </a:solidFill>
          <a:ln w="12700">
            <a:solidFill>
              <a:srgbClr val="0E7C86"/>
            </a:solidFill>
            <a:prstDash val="solid"/>
          </a:ln>
        </p:spPr>
      </p:sp>
      <p:sp>
        <p:nvSpPr>
          <p:cNvPr id="80" name="Text 78"/>
          <p:cNvSpPr txBox="1"/>
          <p:nvPr/>
        </p:nvSpPr>
        <p:spPr>
          <a:xfrm>
            <a:off x="2788920"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a:t>
            </a:r>
            <a:endParaRPr lang="en-US" sz="1200" dirty="0"/>
          </a:p>
        </p:txBody>
      </p:sp>
      <p:sp>
        <p:nvSpPr>
          <p:cNvPr id="81" name="cell6"/>
          <p:cNvSpPr/>
          <p:nvPr/>
        </p:nvSpPr>
        <p:spPr>
          <a:xfrm>
            <a:off x="3099816" y="2340864"/>
            <a:ext cx="274320" cy="347472"/>
          </a:xfrm>
          <a:prstGeom prst="rect">
            <a:avLst/>
          </a:prstGeom>
          <a:solidFill>
            <a:srgbClr val="E8743B"/>
          </a:solidFill>
          <a:ln w="12700">
            <a:solidFill>
              <a:srgbClr val="E8743B"/>
            </a:solidFill>
            <a:prstDash val="solid"/>
          </a:ln>
        </p:spPr>
      </p:sp>
      <p:sp>
        <p:nvSpPr>
          <p:cNvPr id="82" name="Text 80"/>
          <p:cNvSpPr txBox="1"/>
          <p:nvPr/>
        </p:nvSpPr>
        <p:spPr>
          <a:xfrm>
            <a:off x="3099816"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1</a:t>
            </a:r>
            <a:endParaRPr lang="en-US" sz="1200" dirty="0"/>
          </a:p>
        </p:txBody>
      </p:sp>
      <p:sp>
        <p:nvSpPr>
          <p:cNvPr id="83" name="cell7"/>
          <p:cNvSpPr/>
          <p:nvPr/>
        </p:nvSpPr>
        <p:spPr>
          <a:xfrm>
            <a:off x="3410712" y="2340864"/>
            <a:ext cx="274320" cy="347472"/>
          </a:xfrm>
          <a:prstGeom prst="rect">
            <a:avLst/>
          </a:prstGeom>
          <a:solidFill>
            <a:srgbClr val="6C8EA4"/>
          </a:solidFill>
          <a:ln w="12700">
            <a:solidFill>
              <a:srgbClr val="6C8EA4"/>
            </a:solidFill>
            <a:prstDash val="solid"/>
          </a:ln>
        </p:spPr>
      </p:sp>
      <p:sp>
        <p:nvSpPr>
          <p:cNvPr id="84" name="Text 82"/>
          <p:cNvSpPr txBox="1"/>
          <p:nvPr/>
        </p:nvSpPr>
        <p:spPr>
          <a:xfrm>
            <a:off x="3410712"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85" name="cell8"/>
          <p:cNvSpPr/>
          <p:nvPr/>
        </p:nvSpPr>
        <p:spPr>
          <a:xfrm>
            <a:off x="3721608" y="2340864"/>
            <a:ext cx="274320" cy="347472"/>
          </a:xfrm>
          <a:prstGeom prst="rect">
            <a:avLst/>
          </a:prstGeom>
          <a:solidFill>
            <a:srgbClr val="6C8EA4"/>
          </a:solidFill>
          <a:ln w="12700">
            <a:solidFill>
              <a:srgbClr val="6C8EA4"/>
            </a:solidFill>
            <a:prstDash val="solid"/>
          </a:ln>
        </p:spPr>
      </p:sp>
      <p:sp>
        <p:nvSpPr>
          <p:cNvPr id="86" name="Text 84"/>
          <p:cNvSpPr txBox="1"/>
          <p:nvPr/>
        </p:nvSpPr>
        <p:spPr>
          <a:xfrm>
            <a:off x="3721608"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87" name="cell9"/>
          <p:cNvSpPr/>
          <p:nvPr/>
        </p:nvSpPr>
        <p:spPr>
          <a:xfrm>
            <a:off x="4032504" y="2340864"/>
            <a:ext cx="274320" cy="347472"/>
          </a:xfrm>
          <a:prstGeom prst="rect">
            <a:avLst/>
          </a:prstGeom>
          <a:solidFill>
            <a:srgbClr val="6C8EA4"/>
          </a:solidFill>
          <a:ln w="12700">
            <a:solidFill>
              <a:srgbClr val="6C8EA4"/>
            </a:solidFill>
            <a:prstDash val="solid"/>
          </a:ln>
        </p:spPr>
      </p:sp>
      <p:sp>
        <p:nvSpPr>
          <p:cNvPr id="88" name="Text 86"/>
          <p:cNvSpPr txBox="1"/>
          <p:nvPr/>
        </p:nvSpPr>
        <p:spPr>
          <a:xfrm>
            <a:off x="4032504"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89" name="cell10"/>
          <p:cNvSpPr/>
          <p:nvPr/>
        </p:nvSpPr>
        <p:spPr>
          <a:xfrm>
            <a:off x="4343400" y="2340864"/>
            <a:ext cx="274320" cy="347472"/>
          </a:xfrm>
          <a:prstGeom prst="rect">
            <a:avLst/>
          </a:prstGeom>
          <a:solidFill>
            <a:srgbClr val="6C8EA4"/>
          </a:solidFill>
          <a:ln w="12700">
            <a:solidFill>
              <a:srgbClr val="6C8EA4"/>
            </a:solidFill>
            <a:prstDash val="solid"/>
          </a:ln>
        </p:spPr>
      </p:sp>
      <p:sp>
        <p:nvSpPr>
          <p:cNvPr id="90" name="Text 88"/>
          <p:cNvSpPr txBox="1"/>
          <p:nvPr/>
        </p:nvSpPr>
        <p:spPr>
          <a:xfrm>
            <a:off x="4343400"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91" name="cell11"/>
          <p:cNvSpPr/>
          <p:nvPr/>
        </p:nvSpPr>
        <p:spPr>
          <a:xfrm>
            <a:off x="4654296" y="2340864"/>
            <a:ext cx="274320" cy="347472"/>
          </a:xfrm>
          <a:prstGeom prst="rect">
            <a:avLst/>
          </a:prstGeom>
          <a:solidFill>
            <a:srgbClr val="6C8EA4"/>
          </a:solidFill>
          <a:ln w="12700">
            <a:solidFill>
              <a:srgbClr val="6C8EA4"/>
            </a:solidFill>
            <a:prstDash val="solid"/>
          </a:ln>
        </p:spPr>
      </p:sp>
      <p:sp>
        <p:nvSpPr>
          <p:cNvPr id="92" name="Text 90"/>
          <p:cNvSpPr txBox="1"/>
          <p:nvPr/>
        </p:nvSpPr>
        <p:spPr>
          <a:xfrm>
            <a:off x="4654296" y="2340864"/>
            <a:ext cx="274320" cy="347472"/>
          </a:xfrm>
          <a:prstGeom prst="rect">
            <a:avLst/>
          </a:prstGeom>
          <a:noFill/>
          <a:ln/>
        </p:spPr>
        <p:txBody>
          <a:bodyPr wrap="square" lIns="0" tIns="0" rIns="0" bIns="0" rtlCol="0" anchor="ctr"/>
          <a:lstStyle/>
          <a:p>
            <a:pPr algn="ctr" indent="0" marL="0">
              <a:buNone/>
            </a:pPr>
            <a:r>
              <a:rPr lang="en-US" sz="1200" b="1" dirty="0">
                <a:solidFill>
                  <a:schemeClr val="bg1"/>
                </a:solidFill>
                <a:latin typeface="Malgun Gothic" pitchFamily="34" charset="0"/>
                <a:ea typeface="Malgun Gothic" pitchFamily="34" charset="-122"/>
                <a:cs typeface="Malgun Gothic" pitchFamily="34" charset="-120"/>
              </a:rPr>
              <a:t>#</a:t>
            </a:r>
            <a:endParaRPr lang="en-US" sz="1200" dirty="0"/>
          </a:p>
        </p:txBody>
      </p:sp>
      <p:sp>
        <p:nvSpPr>
          <p:cNvPr id="93" name="Text 91"/>
          <p:cNvSpPr txBox="1"/>
          <p:nvPr/>
        </p:nvSpPr>
        <p:spPr>
          <a:xfrm>
            <a:off x="457200" y="2834640"/>
            <a:ext cx="4846320" cy="457200"/>
          </a:xfrm>
          <a:prstGeom prst="rect">
            <a:avLst/>
          </a:prstGeom>
          <a:noFill/>
          <a:ln/>
        </p:spPr>
        <p:txBody>
          <a:bodyPr wrap="square" lIns="0" tIns="0" rIns="0" bIns="0" rtlCol="0" anchor="t"/>
          <a:lstStyle/>
          <a:p>
            <a:pPr indent="0" marL="0">
              <a:buNone/>
            </a:pPr>
            <a:r>
              <a:rPr lang="en-US" sz="1100" dirty="0">
                <a:solidFill>
                  <a:schemeClr val="accent3"/>
                </a:solidFill>
                <a:latin typeface="Malgun Gothic" pitchFamily="34" charset="0"/>
                <a:ea typeface="Malgun Gothic" pitchFamily="34" charset="-122"/>
                <a:cs typeface="Malgun Gothic" pitchFamily="34" charset="-120"/>
              </a:rPr>
              <a:t>예시: 칸마다 부모의 비트 중 하나를 같은 확률로 고름 (둘 다 #이면 #). 파랑=P, 주황=Q</a:t>
            </a:r>
            <a:endParaRPr lang="en-US" sz="1100" dirty="0"/>
          </a:p>
        </p:txBody>
      </p:sp>
      <p:sp>
        <p:nvSpPr>
          <p:cNvPr id="94" name="bitc"/>
          <p:cNvSpPr/>
          <p:nvPr/>
        </p:nvSpPr>
        <p:spPr>
          <a:xfrm>
            <a:off x="5486400" y="1417320"/>
            <a:ext cx="3200400" cy="685800"/>
          </a:xfrm>
          <a:prstGeom prst="roundRect">
            <a:avLst>
              <a:gd name="adj" fmla="val 8000"/>
            </a:avLst>
          </a:prstGeom>
          <a:solidFill>
            <a:schemeClr val="bg2"/>
          </a:solidFill>
          <a:ln w="12700">
            <a:solidFill>
              <a:schemeClr val="bg2"/>
            </a:solidFill>
            <a:prstDash val="solid"/>
          </a:ln>
        </p:spPr>
      </p:sp>
      <p:sp>
        <p:nvSpPr>
          <p:cNvPr id="95" name="Text 93"/>
          <p:cNvSpPr txBox="1"/>
          <p:nvPr/>
        </p:nvSpPr>
        <p:spPr>
          <a:xfrm>
            <a:off x="5596128" y="1444752"/>
            <a:ext cx="3017520" cy="640080"/>
          </a:xfrm>
          <a:prstGeom prst="rect">
            <a:avLst/>
          </a:prstGeom>
          <a:noFill/>
          <a:ln/>
        </p:spPr>
        <p:txBody>
          <a:bodyPr wrap="square" lIns="0" tIns="0" rIns="0" bIns="0" rtlCol="0" anchor="ctr"/>
          <a:lstStyle/>
          <a:p>
            <a:pPr indent="0" marL="0">
              <a:buNone/>
            </a:pPr>
            <a:r>
              <a:rPr lang="en-US" sz="1200" b="1" dirty="0">
                <a:solidFill>
                  <a:schemeClr val="accent1"/>
                </a:solidFill>
                <a:latin typeface="Malgun Gothic" pitchFamily="34" charset="0"/>
                <a:ea typeface="Malgun Gothic" pitchFamily="34" charset="-122"/>
                <a:cs typeface="Malgun Gothic" pitchFamily="34" charset="-120"/>
              </a:rPr>
              <a:t>조건 비트</a:t>
            </a:r>
            <a:endParaRPr lang="en-US" sz="1200" dirty="0"/>
          </a:p>
          <a:p>
            <a:pPr indent="0" marL="0">
              <a:buNone/>
            </a:pPr>
            <a:r>
              <a:rPr lang="en-US" sz="1200" dirty="0">
                <a:solidFill>
                  <a:schemeClr val="tx1"/>
                </a:solidFill>
                <a:latin typeface="Malgun Gothic" pitchFamily="34" charset="0"/>
                <a:ea typeface="Malgun Gothic" pitchFamily="34" charset="-122"/>
                <a:cs typeface="Malgun Gothic" pitchFamily="34" charset="-120"/>
              </a:rPr>
              <a:t>각 비트마다 부모의 비트 중 하나를 동일한 확률로 선택</a:t>
            </a:r>
            <a:endParaRPr lang="en-US" sz="1200" dirty="0"/>
          </a:p>
        </p:txBody>
      </p:sp>
      <p:sp>
        <p:nvSpPr>
          <p:cNvPr id="96" name="abc"/>
          <p:cNvSpPr/>
          <p:nvPr/>
        </p:nvSpPr>
        <p:spPr>
          <a:xfrm>
            <a:off x="5486400" y="2194560"/>
            <a:ext cx="3200400" cy="1417320"/>
          </a:xfrm>
          <a:prstGeom prst="roundRect">
            <a:avLst>
              <a:gd name="adj" fmla="val 3871"/>
            </a:avLst>
          </a:prstGeom>
          <a:solidFill>
            <a:schemeClr val="bg2"/>
          </a:solidFill>
          <a:ln w="12700">
            <a:solidFill>
              <a:schemeClr val="bg2"/>
            </a:solidFill>
            <a:prstDash val="solid"/>
          </a:ln>
        </p:spPr>
      </p:sp>
      <p:sp>
        <p:nvSpPr>
          <p:cNvPr id="97" name="Text 95"/>
          <p:cNvSpPr txBox="1"/>
          <p:nvPr/>
        </p:nvSpPr>
        <p:spPr>
          <a:xfrm>
            <a:off x="5596128" y="2231136"/>
            <a:ext cx="3017520" cy="1353312"/>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(a, b): 3가지 중 하나, 선택 확률 동일</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① 구성 요소별 교차 (a, b를 각각 한 부모에서)</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② 두 부모 가중 평균 (가중치 = 예측 분산의 역수)</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③ 두 부모 중 무작위 하나의 값을 그대로 복사</a:t>
            </a:r>
            <a:endParaRPr lang="en-US" sz="1200" dirty="0"/>
          </a:p>
        </p:txBody>
      </p:sp>
      <p:sp>
        <p:nvSpPr>
          <p:cNvPr id="98"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99" name="Text 97"/>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새 식은 없음. 가중 평균의 가중치만 사용</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w_j = (1/var_j) / Σ_k (1/var_k)  (표기는 슬라이드용)</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var_j: 쪽지 j의 예측 분산 · P: 교차 확률</a:t>
            </a:r>
            <a:endParaRPr lang="en-US" sz="1200" dirty="0"/>
          </a:p>
        </p:txBody>
      </p:sp>
      <p:sp>
        <p:nvSpPr>
          <p:cNvPr id="100"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101" name="Text 99"/>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교차 확률 0.3/0.1의 뜻?  → 새 쪽지를 만들 때 교차를 쓸 확률. 안 쓰면 변이로 만듦</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교차 때 변이도 같이 하나?  → 아니오. 후속 자료는 "순수 교차"라고 서술</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bg2"/>
          </a:solidFill>
          <a:ln w="12700">
            <a:solidFill>
              <a:schemeClr val="bg2"/>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bg2"/>
          </a:solidFill>
          <a:ln w="12700">
            <a:solidFill>
              <a:schemeClr val="bg2"/>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bg2"/>
          </a:solidFill>
          <a:ln w="12700">
            <a:solidFill>
              <a:schemeClr val="bg2"/>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bg2"/>
          </a:solidFill>
          <a:ln w="12700">
            <a:solidFill>
              <a:schemeClr val="bg2"/>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bg2"/>
          </a:solidFill>
          <a:ln w="12700">
            <a:solidFill>
              <a:schemeClr val="bg2"/>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accent2"/>
          </a:solidFill>
          <a:ln w="12700">
            <a:solidFill>
              <a:schemeClr val="accent2"/>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bg2"/>
          </a:solidFill>
          <a:ln w="12700">
            <a:solidFill>
              <a:schemeClr val="bg2"/>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⑥ 변이: 한 부모를 바꾼다</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교차하지 않으면(확률 1−P) 하나의 부모를 골라 변이를 적용</a:t>
            </a:r>
            <a:endParaRPr lang="en-US" sz="1400" dirty="0"/>
          </a:p>
        </p:txBody>
      </p:sp>
      <p:sp>
        <p:nvSpPr>
          <p:cNvPr id="18" name="bitm"/>
          <p:cNvSpPr/>
          <p:nvPr/>
        </p:nvSpPr>
        <p:spPr>
          <a:xfrm>
            <a:off x="457200" y="1371600"/>
            <a:ext cx="4023360" cy="2240280"/>
          </a:xfrm>
          <a:prstGeom prst="roundRect">
            <a:avLst>
              <a:gd name="adj" fmla="val 2449"/>
            </a:avLst>
          </a:prstGeom>
          <a:solidFill>
            <a:schemeClr val="bg2"/>
          </a:solidFill>
          <a:ln w="12700">
            <a:solidFill>
              <a:schemeClr val="bg2"/>
            </a:solidFill>
            <a:prstDash val="solid"/>
          </a:ln>
        </p:spPr>
      </p:sp>
      <p:sp>
        <p:nvSpPr>
          <p:cNvPr id="19" name="Text 17"/>
          <p:cNvSpPr txBox="1"/>
          <p:nvPr/>
        </p:nvSpPr>
        <p:spPr>
          <a:xfrm>
            <a:off x="594360" y="1417320"/>
            <a:ext cx="3749040" cy="457200"/>
          </a:xfrm>
          <a:prstGeom prst="rect">
            <a:avLst/>
          </a:prstGeom>
          <a:noFill/>
          <a:ln/>
        </p:spPr>
        <p:txBody>
          <a:bodyPr wrap="square" lIns="0" tIns="0" rIns="0" bIns="0" rtlCol="0" anchor="t"/>
          <a:lstStyle/>
          <a:p>
            <a:pPr indent="0" marL="0">
              <a:buNone/>
            </a:pPr>
            <a:r>
              <a:rPr lang="en-US" sz="1200" b="1" dirty="0">
                <a:solidFill>
                  <a:schemeClr val="accent1"/>
                </a:solidFill>
                <a:latin typeface="Malgun Gothic" pitchFamily="34" charset="0"/>
                <a:ea typeface="Malgun Gothic" pitchFamily="34" charset="-122"/>
                <a:cs typeface="Malgun Gothic" pitchFamily="34" charset="-120"/>
              </a:rPr>
              <a:t>조건 비트 변이: 칸마다 3% 확률로 변이가 일어남. 바뀔 때는</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1920240"/>
          <a:ext cx="3749040" cy="914400"/>
        </p:xfrm>
        <a:graphic>
          <a:graphicData uri="http://schemas.openxmlformats.org/drawingml/2006/table">
            <a:tbl>
              <a:tblPr/>
              <a:tblGrid>
                <a:gridCol w="1097280"/>
                <a:gridCol w="2651760"/>
              </a:tblGrid>
              <a:tr h="310896">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원래 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바뀌는 값 (확률)</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 67%  ·  1 33%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 67%  ·  0 33%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 · 1 · # 각 33.3%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594360" y="3310128"/>
            <a:ext cx="3749040" cy="274320"/>
          </a:xfrm>
          <a:prstGeom prst="rect">
            <a:avLst/>
          </a:prstGeom>
          <a:noFill/>
          <a:ln/>
        </p:spPr>
        <p:txBody>
          <a:bodyPr wrap="square" lIns="0" tIns="0" rIns="0" bIns="0" rtlCol="0" anchor="ctr"/>
          <a:lstStyle/>
          <a:p>
            <a:pPr indent="0" marL="0">
              <a:buNone/>
            </a:pPr>
            <a:r>
              <a:rPr lang="en-US" sz="1100" dirty="0">
                <a:solidFill>
                  <a:schemeClr val="accent3"/>
                </a:solidFill>
                <a:latin typeface="Malgun Gothic" pitchFamily="34" charset="0"/>
                <a:ea typeface="Malgun Gothic" pitchFamily="34" charset="-122"/>
                <a:cs typeface="Malgun Gothic" pitchFamily="34" charset="-120"/>
              </a:rPr>
              <a:t>평균적으로 정한 칸의 비율(특정성)이 유지됨</a:t>
            </a:r>
            <a:endParaRPr lang="en-US" sz="1100" dirty="0"/>
          </a:p>
        </p:txBody>
      </p:sp>
      <p:sp>
        <p:nvSpPr>
          <p:cNvPr id="22" name="abm"/>
          <p:cNvSpPr/>
          <p:nvPr/>
        </p:nvSpPr>
        <p:spPr>
          <a:xfrm>
            <a:off x="4663440" y="1371600"/>
            <a:ext cx="4023360" cy="2240280"/>
          </a:xfrm>
          <a:prstGeom prst="roundRect">
            <a:avLst>
              <a:gd name="adj" fmla="val 2449"/>
            </a:avLst>
          </a:prstGeom>
          <a:solidFill>
            <a:schemeClr val="bg2"/>
          </a:solidFill>
          <a:ln w="12700">
            <a:solidFill>
              <a:schemeClr val="bg2"/>
            </a:solidFill>
            <a:prstDash val="solid"/>
          </a:ln>
        </p:spPr>
      </p:sp>
      <p:sp>
        <p:nvSpPr>
          <p:cNvPr id="23" name="Text 20"/>
          <p:cNvSpPr txBox="1"/>
          <p:nvPr/>
        </p:nvSpPr>
        <p:spPr>
          <a:xfrm>
            <a:off x="4800600" y="1417320"/>
            <a:ext cx="3749040" cy="457200"/>
          </a:xfrm>
          <a:prstGeom prst="rect">
            <a:avLst/>
          </a:prstGeom>
          <a:noFill/>
          <a:ln/>
        </p:spPr>
        <p:txBody>
          <a:bodyPr wrap="square" lIns="0" tIns="0" rIns="0" bIns="0" rtlCol="0" anchor="t"/>
          <a:lstStyle/>
          <a:p>
            <a:pPr indent="0" marL="0">
              <a:buNone/>
            </a:pPr>
            <a:r>
              <a:rPr lang="en-US" sz="1200" b="1" dirty="0">
                <a:solidFill>
                  <a:schemeClr val="accent1"/>
                </a:solidFill>
                <a:latin typeface="Malgun Gothic" pitchFamily="34" charset="0"/>
                <a:ea typeface="Malgun Gothic" pitchFamily="34" charset="-122"/>
                <a:cs typeface="Malgun Gothic" pitchFamily="34" charset="-120"/>
              </a:rPr>
              <a:t>(a, b) 변이: 3가지 중 하나 (a, b 각각)</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800600" y="1920240"/>
          <a:ext cx="3749040" cy="914400"/>
        </p:xfrm>
        <a:graphic>
          <a:graphicData uri="http://schemas.openxmlformats.org/drawingml/2006/table">
            <a:tbl>
              <a:tblPr/>
              <a:tblGrid>
                <a:gridCol w="2926080"/>
                <a:gridCol w="822960"/>
              </a:tblGrid>
              <a:tr h="310896">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방법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확률</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r>
              <a:tr h="310896">
                <a:tc>
                  <a:txBody>
                    <a:bodyPr/>
                    <a:lstStyle/>
                    <a:p>
                      <a:pPr algn="l" indent="0" marL="0">
                        <a:buNone/>
                      </a:pPr>
                      <a:r>
                        <a:rPr lang="en-US" sz="1200" dirty="0">
                          <a:solidFill>
                            <a:srgbClr val="14263A"/>
                          </a:solidFill>
                          <a:latin typeface="Malgun Gothic" pitchFamily="34" charset="0"/>
                          <a:ea typeface="Malgun Gothic" pitchFamily="34" charset="-122"/>
                          <a:cs typeface="Malgun Gothic" pitchFamily="34" charset="-120"/>
                        </a:rPr>
                        <a:t>원래 값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60%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4263A"/>
                          </a:solidFill>
                          <a:latin typeface="Malgun Gothic" pitchFamily="34" charset="0"/>
                          <a:ea typeface="Malgun Gothic" pitchFamily="34" charset="-122"/>
                          <a:cs typeface="Malgun Gothic" pitchFamily="34" charset="-120"/>
                        </a:rPr>
                        <a:t>허용 범위에서 균등분포로 새로 선정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4263A"/>
                          </a:solidFill>
                          <a:latin typeface="Malgun Gothic" pitchFamily="34" charset="0"/>
                          <a:ea typeface="Malgun Gothic" pitchFamily="34" charset="-122"/>
                          <a:cs typeface="Malgun Gothic" pitchFamily="34" charset="-120"/>
                        </a:rPr>
                        <a:t>허용 범위 폭의 ±0.05% 안에서 재선정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FFFFFF"/>
                    </a:solidFill>
                  </a:tcPr>
                </a:tc>
              </a:tr>
            </a:tbl>
          </a:graphicData>
        </a:graphic>
      </p:graphicFrame>
      <p:sp>
        <p:nvSpPr>
          <p:cNvPr id="25" name="Text 21"/>
          <p:cNvSpPr txBox="1"/>
          <p:nvPr/>
        </p:nvSpPr>
        <p:spPr>
          <a:xfrm>
            <a:off x="4800600" y="3310128"/>
            <a:ext cx="3749040" cy="274320"/>
          </a:xfrm>
          <a:prstGeom prst="rect">
            <a:avLst/>
          </a:prstGeom>
          <a:noFill/>
          <a:ln/>
        </p:spPr>
        <p:txBody>
          <a:bodyPr wrap="square" lIns="0" tIns="0" rIns="0" bIns="0" rtlCol="0" anchor="ctr"/>
          <a:lstStyle/>
          <a:p>
            <a:pPr indent="0" marL="0">
              <a:buNone/>
            </a:pPr>
            <a:r>
              <a:rPr lang="en-US" sz="1100" dirty="0">
                <a:solidFill>
                  <a:schemeClr val="accent3"/>
                </a:solidFill>
                <a:latin typeface="Malgun Gothic" pitchFamily="34" charset="0"/>
                <a:ea typeface="Malgun Gothic" pitchFamily="34" charset="-122"/>
                <a:cs typeface="Malgun Gothic" pitchFamily="34" charset="-120"/>
              </a:rPr>
              <a:t>허용 범위: a 0.7~1.2, b −10~19.002</a:t>
            </a:r>
            <a:endParaRPr lang="en-US" sz="1100" dirty="0"/>
          </a:p>
        </p:txBody>
      </p:sp>
      <p:sp>
        <p:nvSpPr>
          <p:cNvPr id="26"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27" name="Text 23"/>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새 식 없음 (확률 값만 사용)</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칸 변이 0.03 · 칸이 바뀔 때의 확률 표</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a, b 변이 60% / 20% / 20%</a:t>
            </a:r>
            <a:endParaRPr lang="en-US" sz="1200" dirty="0"/>
          </a:p>
        </p:txBody>
      </p:sp>
      <p:sp>
        <p:nvSpPr>
          <p:cNvPr id="28"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29" name="Text 25"/>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칸이 확률 0.03으로 바뀐다는 건?  → 12칸 각각이 3%로 변이 후보. 변이 시 위 표의 확률로 결정</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예측 계수의 무작위 값이란?  → 오른쪽 표: 60% 유지, 40%는 새로 뽑거나 작게 흔듦</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bg2"/>
          </a:solidFill>
          <a:ln w="12700">
            <a:solidFill>
              <a:schemeClr val="bg2"/>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bg2"/>
          </a:solidFill>
          <a:ln w="12700">
            <a:solidFill>
              <a:schemeClr val="bg2"/>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bg2"/>
          </a:solidFill>
          <a:ln w="12700">
            <a:solidFill>
              <a:schemeClr val="bg2"/>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bg2"/>
          </a:solidFill>
          <a:ln w="12700">
            <a:solidFill>
              <a:schemeClr val="bg2"/>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bg2"/>
          </a:solidFill>
          <a:ln w="12700">
            <a:solidFill>
              <a:schemeClr val="bg2"/>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bg2"/>
          </a:solidFill>
          <a:ln w="12700">
            <a:solidFill>
              <a:schemeClr val="bg2"/>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accent3"/>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accent2"/>
          </a:solidFill>
          <a:ln w="12700">
            <a:solidFill>
              <a:schemeClr val="accent2"/>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⑦ 시험과 반복</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새 쪽지는 정확할 때만 쓰인다. 그리고 다시 ②로</a:t>
            </a:r>
            <a:endParaRPr lang="en-US" sz="1400" dirty="0"/>
          </a:p>
        </p:txBody>
      </p:sp>
      <p:sp>
        <p:nvSpPr>
          <p:cNvPr id="18" name="newvar"/>
          <p:cNvSpPr/>
          <p:nvPr/>
        </p:nvSpPr>
        <p:spPr>
          <a:xfrm>
            <a:off x="457200" y="1417320"/>
            <a:ext cx="4023360" cy="1691640"/>
          </a:xfrm>
          <a:prstGeom prst="roundRect">
            <a:avLst>
              <a:gd name="adj" fmla="val 3243"/>
            </a:avLst>
          </a:prstGeom>
          <a:solidFill>
            <a:schemeClr val="bg2"/>
          </a:solidFill>
          <a:ln w="12700">
            <a:solidFill>
              <a:schemeClr val="bg2"/>
            </a:solidFill>
            <a:prstDash val="solid"/>
          </a:ln>
        </p:spPr>
      </p:sp>
      <p:sp>
        <p:nvSpPr>
          <p:cNvPr id="19" name="Text 17"/>
          <p:cNvSpPr txBox="1"/>
          <p:nvPr/>
        </p:nvSpPr>
        <p:spPr>
          <a:xfrm>
            <a:off x="594360" y="1463040"/>
            <a:ext cx="3794760" cy="1600200"/>
          </a:xfrm>
          <a:prstGeom prst="rect">
            <a:avLst/>
          </a:prstGeom>
          <a:noFill/>
          <a:ln/>
        </p:spPr>
        <p:txBody>
          <a:bodyPr wrap="square" lIns="0" tIns="0" rIns="0" bIns="0" rtlCol="0" anchor="t"/>
          <a:lstStyle/>
          <a:p>
            <a:pPr indent="0" marL="0">
              <a:spcAft>
                <a:spcPts val="300"/>
              </a:spcAft>
              <a:buNone/>
            </a:pPr>
            <a:r>
              <a:rPr lang="en-US" sz="1200" b="1" dirty="0">
                <a:solidFill>
                  <a:schemeClr val="accent1"/>
                </a:solidFill>
                <a:latin typeface="Malgun Gothic" pitchFamily="34" charset="0"/>
                <a:ea typeface="Malgun Gothic" pitchFamily="34" charset="-122"/>
                <a:cs typeface="Malgun Gothic" pitchFamily="34" charset="-120"/>
              </a:rPr>
              <a:t>새 쪽지의 시작 (분산 초기값)</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 부모 분산의 평균</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칸이 바뀌었으면 = 전체 쪽지의 평균</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그 값이 기본 쪽지 분산 − 평균절대편차보다 낮으면 = 중앙값</a:t>
            </a:r>
            <a:endParaRPr lang="en-US" sz="1200" dirty="0"/>
          </a:p>
          <a:p>
            <a:pPr indent="0" marL="0">
              <a:spcAft>
                <a:spcPts val="300"/>
              </a:spcAft>
              <a:buNone/>
            </a:pPr>
            <a:r>
              <a:rPr lang="en-US" sz="1200" b="1" dirty="0">
                <a:solidFill>
                  <a:schemeClr val="tx1"/>
                </a:solidFill>
                <a:latin typeface="Malgun Gothic" pitchFamily="34" charset="0"/>
                <a:ea typeface="Malgun Gothic" pitchFamily="34" charset="-122"/>
                <a:cs typeface="Malgun Gothic" pitchFamily="34" charset="-120"/>
              </a:rPr>
              <a:t>→ 근거 없이 유리해지지 않게</a:t>
            </a:r>
            <a:endParaRPr lang="en-US" sz="1200" dirty="0"/>
          </a:p>
        </p:txBody>
      </p:sp>
      <p:sp>
        <p:nvSpPr>
          <p:cNvPr id="20" name="speeds"/>
          <p:cNvSpPr/>
          <p:nvPr/>
        </p:nvSpPr>
        <p:spPr>
          <a:xfrm>
            <a:off x="4663440" y="1417320"/>
            <a:ext cx="4023360" cy="1691640"/>
          </a:xfrm>
          <a:prstGeom prst="roundRect">
            <a:avLst>
              <a:gd name="adj" fmla="val 3243"/>
            </a:avLst>
          </a:prstGeom>
          <a:solidFill>
            <a:schemeClr val="bg2"/>
          </a:solidFill>
          <a:ln w="12700">
            <a:solidFill>
              <a:schemeClr val="bg2"/>
            </a:solidFill>
            <a:prstDash val="solid"/>
          </a:ln>
        </p:spPr>
      </p:sp>
      <p:sp>
        <p:nvSpPr>
          <p:cNvPr id="21" name="Text 19"/>
          <p:cNvSpPr txBox="1"/>
          <p:nvPr/>
        </p:nvSpPr>
        <p:spPr>
          <a:xfrm>
            <a:off x="4800600" y="1463040"/>
            <a:ext cx="3794760" cy="1600200"/>
          </a:xfrm>
          <a:prstGeom prst="rect">
            <a:avLst/>
          </a:prstGeom>
          <a:noFill/>
          <a:ln/>
        </p:spPr>
        <p:txBody>
          <a:bodyPr wrap="square" lIns="0" tIns="0" rIns="0" bIns="0" rtlCol="0" anchor="t"/>
          <a:lstStyle/>
          <a:p>
            <a:pPr indent="0" marL="0">
              <a:spcAft>
                <a:spcPts val="300"/>
              </a:spcAft>
              <a:buNone/>
            </a:pPr>
            <a:r>
              <a:rPr lang="en-US" sz="1200" b="1" dirty="0">
                <a:solidFill>
                  <a:schemeClr val="accent1"/>
                </a:solidFill>
                <a:latin typeface="Malgun Gothic" pitchFamily="34" charset="0"/>
                <a:ea typeface="Malgun Gothic" pitchFamily="34" charset="-122"/>
                <a:cs typeface="Malgun Gothic" pitchFamily="34" charset="-120"/>
              </a:rPr>
              <a:t>학습의 두 속도</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빠르게 (매 기): 맞는 쪽지 중 가장 정확한 것을 선택</a:t>
            </a:r>
            <a:endParaRPr lang="en-US" sz="1200" dirty="0"/>
          </a:p>
          <a:p>
            <a:pPr marL="342900" indent="-342900">
              <a:spcAft>
                <a:spcPts val="3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느리게 (GA): 평균 250기(복잡)·1000기(RE)마다, 투자자마다 따로 20% 교체</a:t>
            </a:r>
            <a:endParaRPr lang="en-US" sz="1200" dirty="0"/>
          </a:p>
        </p:txBody>
      </p:sp>
      <p:sp>
        <p:nvSpPr>
          <p:cNvPr id="22" name="loop"/>
          <p:cNvSpPr/>
          <p:nvPr/>
        </p:nvSpPr>
        <p:spPr>
          <a:xfrm>
            <a:off x="457200" y="3246120"/>
            <a:ext cx="8229600" cy="347472"/>
          </a:xfrm>
          <a:prstGeom prst="roundRect">
            <a:avLst>
              <a:gd name="adj" fmla="val 15789"/>
            </a:avLst>
          </a:prstGeom>
          <a:solidFill>
            <a:schemeClr val="accent1"/>
          </a:solidFill>
          <a:ln w="12700">
            <a:solidFill>
              <a:schemeClr val="accent1"/>
            </a:solidFill>
            <a:prstDash val="solid"/>
          </a:ln>
        </p:spPr>
      </p:sp>
      <p:sp>
        <p:nvSpPr>
          <p:cNvPr id="23" name="Text 21"/>
          <p:cNvSpPr txBox="1"/>
          <p:nvPr/>
        </p:nvSpPr>
        <p:spPr>
          <a:xfrm>
            <a:off x="457200" y="3246120"/>
            <a:ext cx="8229600"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Malgun Gothic" pitchFamily="34" charset="0"/>
                <a:ea typeface="Malgun Gothic" pitchFamily="34" charset="-122"/>
                <a:cs typeface="Malgun Gothic" pitchFamily="34" charset="-120"/>
              </a:rPr>
              <a:t>↻  다음에는 ② 시장 돌리기로. 이 사이클이 수십만 기간 반복된다 (250,000기 × 25회)</a:t>
            </a:r>
            <a:endParaRPr lang="en-US" sz="1300" dirty="0"/>
          </a:p>
        </p:txBody>
      </p:sp>
      <p:sp>
        <p:nvSpPr>
          <p:cNvPr id="24"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25" name="Text 23"/>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식 (7) 다시 사용: 새 쪽지의 e²는 활성이 될 때마다 갱신</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분산 초기값 규칙은 말로만 적혀 있음 (식 없음)</a:t>
            </a:r>
            <a:endParaRPr lang="en-US" sz="1200" dirty="0"/>
          </a:p>
        </p:txBody>
      </p:sp>
      <p:sp>
        <p:nvSpPr>
          <p:cNvPr id="26"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27" name="Text 25"/>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새 쪽지가 시장을 흔들지 않나?  → 정확도가 입증될 때만 쓰임 (원고: gracefulness)</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모든 투자자가 같이 GA를 돌리나?  → 아니오, 투자자마다 따로(비동기)</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accent1"/>
          </a:solidFill>
          <a:ln w="12700">
            <a:solidFill>
              <a:schemeClr val="accent1"/>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accent1"/>
          </a:solidFill>
          <a:ln w="12700">
            <a:solidFill>
              <a:schemeClr val="accent1"/>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accent1"/>
          </a:solidFill>
          <a:ln w="12700">
            <a:solidFill>
              <a:schemeClr val="accent1"/>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accent1"/>
          </a:solidFill>
          <a:ln w="12700">
            <a:solidFill>
              <a:schemeClr val="accent1"/>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accent1"/>
          </a:solidFill>
          <a:ln w="12700">
            <a:solidFill>
              <a:schemeClr val="accent1"/>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accent1"/>
          </a:solidFill>
          <a:ln w="12700">
            <a:solidFill>
              <a:schemeClr val="accent1"/>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accent1"/>
          </a:solidFill>
          <a:ln w="12700">
            <a:solidFill>
              <a:schemeClr val="accent1"/>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실험 설정: 논문마다 달랐던 것</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Arthur 외(1997)는 3개 매개변수, LeBaron 외(1999)는 1개만 변경</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2103120"/>
                <a:gridCol w="1737360"/>
                <a:gridCol w="1737360"/>
                <a:gridCol w="2651760"/>
              </a:tblGrid>
              <a:tr h="365760">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매개변수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Arthur 외 느린 학습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Arthur 외 중간 학습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LeBaron 외(1999)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r>
              <a:tr h="365760">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GA 호출 (업데이트 확률)</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1/1000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1/250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1/1000, 1/250 (이것만 변경)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65760">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교차 확률 P</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0.30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0.10 (고정)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65760">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예측 분산의 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1/150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1/75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1/75 (고정)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bl>
          </a:graphicData>
        </a:graphic>
      </p:graphicFrame>
      <p:sp>
        <p:nvSpPr>
          <p:cNvPr id="19" name="same"/>
          <p:cNvSpPr/>
          <p:nvPr/>
        </p:nvSpPr>
        <p:spPr>
          <a:xfrm>
            <a:off x="457200" y="3154680"/>
            <a:ext cx="8229600" cy="457200"/>
          </a:xfrm>
          <a:prstGeom prst="roundRect">
            <a:avLst>
              <a:gd name="adj" fmla="val 12000"/>
            </a:avLst>
          </a:prstGeom>
          <a:solidFill>
            <a:schemeClr val="bg2"/>
          </a:solidFill>
          <a:ln w="12700">
            <a:solidFill>
              <a:schemeClr val="bg2"/>
            </a:solidFill>
            <a:prstDash val="solid"/>
          </a:ln>
        </p:spPr>
      </p:sp>
      <p:sp>
        <p:nvSpPr>
          <p:cNvPr id="20" name="Text 17"/>
          <p:cNvSpPr txBox="1"/>
          <p:nvPr/>
        </p:nvSpPr>
        <p:spPr>
          <a:xfrm>
            <a:off x="594360" y="3154680"/>
            <a:ext cx="7955280" cy="45720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LeBaron 외(1999)는 모든 실험을 다시 수행했고, 1997의 결과와 유의미한 차이가 없었다</a:t>
            </a:r>
            <a:endParaRPr lang="en-US" sz="1400" dirty="0"/>
          </a:p>
        </p:txBody>
      </p:sp>
      <p:sp>
        <p:nvSpPr>
          <p:cNvPr id="21"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22" name="Text 19"/>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새 식 없음 (θ는 식 (7))</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GA 호출 간격: 평균 K기 (K = 1000 또는 250)</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 Tesfatsion 노트는 쪽지 수를 K로 표기 (원고는 M)</a:t>
            </a:r>
            <a:endParaRPr lang="en-US" sz="1200" dirty="0"/>
          </a:p>
        </p:txBody>
      </p:sp>
      <p:sp>
        <p:nvSpPr>
          <p:cNvPr id="23"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24" name="Text 21"/>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두 체제의 차이는 무엇 때문인가?  → 결국 GA 호출 빈도(학습 속도) 하나로 설명됨</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1996 원고 각주 9: GA 호출 빈도만 바꿔도 두 체제가 나타나고 결과가 실질적으로 같음</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tep0"/>
          <p:cNvSpPr/>
          <p:nvPr/>
        </p:nvSpPr>
        <p:spPr>
          <a:xfrm>
            <a:off x="457200" y="128016"/>
            <a:ext cx="1097280" cy="256032"/>
          </a:xfrm>
          <a:prstGeom prst="roundRect">
            <a:avLst>
              <a:gd name="adj" fmla="val 17857"/>
            </a:avLst>
          </a:prstGeom>
          <a:solidFill>
            <a:schemeClr val="accent1"/>
          </a:solidFill>
          <a:ln w="12700">
            <a:solidFill>
              <a:schemeClr val="accent1"/>
            </a:solidFill>
            <a:prstDash val="solid"/>
          </a:ln>
        </p:spPr>
      </p:sp>
      <p:sp>
        <p:nvSpPr>
          <p:cNvPr id="3" name="Text 1"/>
          <p:cNvSpPr txBox="1"/>
          <p:nvPr/>
        </p:nvSpPr>
        <p:spPr>
          <a:xfrm>
            <a:off x="45720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① 초기 쪽지</a:t>
            </a:r>
            <a:endParaRPr lang="en-US" sz="1000" dirty="0"/>
          </a:p>
        </p:txBody>
      </p:sp>
      <p:sp>
        <p:nvSpPr>
          <p:cNvPr id="4" name="step1"/>
          <p:cNvSpPr/>
          <p:nvPr/>
        </p:nvSpPr>
        <p:spPr>
          <a:xfrm>
            <a:off x="1645920" y="128016"/>
            <a:ext cx="1097280" cy="256032"/>
          </a:xfrm>
          <a:prstGeom prst="roundRect">
            <a:avLst>
              <a:gd name="adj" fmla="val 17857"/>
            </a:avLst>
          </a:prstGeom>
          <a:solidFill>
            <a:schemeClr val="accent1"/>
          </a:solidFill>
          <a:ln w="12700">
            <a:solidFill>
              <a:schemeClr val="accent1"/>
            </a:solidFill>
            <a:prstDash val="solid"/>
          </a:ln>
        </p:spPr>
      </p:sp>
      <p:sp>
        <p:nvSpPr>
          <p:cNvPr id="5" name="Text 3"/>
          <p:cNvSpPr txBox="1"/>
          <p:nvPr/>
        </p:nvSpPr>
        <p:spPr>
          <a:xfrm>
            <a:off x="164592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② 시장</a:t>
            </a:r>
            <a:endParaRPr lang="en-US" sz="1000" dirty="0"/>
          </a:p>
        </p:txBody>
      </p:sp>
      <p:sp>
        <p:nvSpPr>
          <p:cNvPr id="6" name="step2"/>
          <p:cNvSpPr/>
          <p:nvPr/>
        </p:nvSpPr>
        <p:spPr>
          <a:xfrm>
            <a:off x="2834640" y="128016"/>
            <a:ext cx="1097280" cy="256032"/>
          </a:xfrm>
          <a:prstGeom prst="roundRect">
            <a:avLst>
              <a:gd name="adj" fmla="val 17857"/>
            </a:avLst>
          </a:prstGeom>
          <a:solidFill>
            <a:schemeClr val="accent1"/>
          </a:solidFill>
          <a:ln w="12700">
            <a:solidFill>
              <a:schemeClr val="accent1"/>
            </a:solidFill>
            <a:prstDash val="solid"/>
          </a:ln>
        </p:spPr>
      </p:sp>
      <p:sp>
        <p:nvSpPr>
          <p:cNvPr id="7" name="Text 5"/>
          <p:cNvSpPr txBox="1"/>
          <p:nvPr/>
        </p:nvSpPr>
        <p:spPr>
          <a:xfrm>
            <a:off x="283464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③ 채점</a:t>
            </a:r>
            <a:endParaRPr lang="en-US" sz="1000" dirty="0"/>
          </a:p>
        </p:txBody>
      </p:sp>
      <p:sp>
        <p:nvSpPr>
          <p:cNvPr id="8" name="step3"/>
          <p:cNvSpPr/>
          <p:nvPr/>
        </p:nvSpPr>
        <p:spPr>
          <a:xfrm>
            <a:off x="4023360" y="128016"/>
            <a:ext cx="1097280" cy="256032"/>
          </a:xfrm>
          <a:prstGeom prst="roundRect">
            <a:avLst>
              <a:gd name="adj" fmla="val 17857"/>
            </a:avLst>
          </a:prstGeom>
          <a:solidFill>
            <a:schemeClr val="accent1"/>
          </a:solidFill>
          <a:ln w="12700">
            <a:solidFill>
              <a:schemeClr val="accent1"/>
            </a:solidFill>
            <a:prstDash val="solid"/>
          </a:ln>
        </p:spPr>
      </p:sp>
      <p:sp>
        <p:nvSpPr>
          <p:cNvPr id="9" name="Text 7"/>
          <p:cNvSpPr txBox="1"/>
          <p:nvPr/>
        </p:nvSpPr>
        <p:spPr>
          <a:xfrm>
            <a:off x="402336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④ 삭제</a:t>
            </a:r>
            <a:endParaRPr lang="en-US" sz="1000" dirty="0"/>
          </a:p>
        </p:txBody>
      </p:sp>
      <p:sp>
        <p:nvSpPr>
          <p:cNvPr id="10" name="step4"/>
          <p:cNvSpPr/>
          <p:nvPr/>
        </p:nvSpPr>
        <p:spPr>
          <a:xfrm>
            <a:off x="5212080" y="128016"/>
            <a:ext cx="1097280" cy="256032"/>
          </a:xfrm>
          <a:prstGeom prst="roundRect">
            <a:avLst>
              <a:gd name="adj" fmla="val 17857"/>
            </a:avLst>
          </a:prstGeom>
          <a:solidFill>
            <a:schemeClr val="accent1"/>
          </a:solidFill>
          <a:ln w="12700">
            <a:solidFill>
              <a:schemeClr val="accent1"/>
            </a:solidFill>
            <a:prstDash val="solid"/>
          </a:ln>
        </p:spPr>
      </p:sp>
      <p:sp>
        <p:nvSpPr>
          <p:cNvPr id="11" name="Text 9"/>
          <p:cNvSpPr txBox="1"/>
          <p:nvPr/>
        </p:nvSpPr>
        <p:spPr>
          <a:xfrm>
            <a:off x="521208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⑤ 부모</a:t>
            </a:r>
            <a:endParaRPr lang="en-US" sz="1000" dirty="0"/>
          </a:p>
        </p:txBody>
      </p:sp>
      <p:sp>
        <p:nvSpPr>
          <p:cNvPr id="12" name="step5"/>
          <p:cNvSpPr/>
          <p:nvPr/>
        </p:nvSpPr>
        <p:spPr>
          <a:xfrm>
            <a:off x="6400800" y="128016"/>
            <a:ext cx="1097280" cy="256032"/>
          </a:xfrm>
          <a:prstGeom prst="roundRect">
            <a:avLst>
              <a:gd name="adj" fmla="val 17857"/>
            </a:avLst>
          </a:prstGeom>
          <a:solidFill>
            <a:schemeClr val="accent1"/>
          </a:solidFill>
          <a:ln w="12700">
            <a:solidFill>
              <a:schemeClr val="accent1"/>
            </a:solidFill>
            <a:prstDash val="solid"/>
          </a:ln>
        </p:spPr>
      </p:sp>
      <p:sp>
        <p:nvSpPr>
          <p:cNvPr id="13" name="Text 11"/>
          <p:cNvSpPr txBox="1"/>
          <p:nvPr/>
        </p:nvSpPr>
        <p:spPr>
          <a:xfrm>
            <a:off x="640080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⑥ 교차·변이</a:t>
            </a:r>
            <a:endParaRPr lang="en-US" sz="1000" dirty="0"/>
          </a:p>
        </p:txBody>
      </p:sp>
      <p:sp>
        <p:nvSpPr>
          <p:cNvPr id="14" name="step6"/>
          <p:cNvSpPr/>
          <p:nvPr/>
        </p:nvSpPr>
        <p:spPr>
          <a:xfrm>
            <a:off x="7589520" y="128016"/>
            <a:ext cx="1097280" cy="256032"/>
          </a:xfrm>
          <a:prstGeom prst="roundRect">
            <a:avLst>
              <a:gd name="adj" fmla="val 17857"/>
            </a:avLst>
          </a:prstGeom>
          <a:solidFill>
            <a:schemeClr val="accent1"/>
          </a:solidFill>
          <a:ln w="12700">
            <a:solidFill>
              <a:schemeClr val="accent1"/>
            </a:solidFill>
            <a:prstDash val="solid"/>
          </a:ln>
        </p:spPr>
      </p:sp>
      <p:sp>
        <p:nvSpPr>
          <p:cNvPr id="15" name="Text 13"/>
          <p:cNvSpPr txBox="1"/>
          <p:nvPr/>
        </p:nvSpPr>
        <p:spPr>
          <a:xfrm>
            <a:off x="7589520" y="128016"/>
            <a:ext cx="1097280" cy="256032"/>
          </a:xfrm>
          <a:prstGeom prst="rect">
            <a:avLst/>
          </a:prstGeom>
          <a:noFill/>
          <a:ln/>
        </p:spPr>
        <p:txBody>
          <a:bodyPr wrap="square" lIns="0" tIns="0" rIns="0" bIns="0" rtlCol="0" anchor="ctr"/>
          <a:lstStyle/>
          <a:p>
            <a:pPr algn="ctr" indent="0" marL="0">
              <a:buNone/>
            </a:pPr>
            <a:r>
              <a:rPr lang="en-US" sz="1000" b="1" dirty="0">
                <a:solidFill>
                  <a:schemeClr val="bg1"/>
                </a:solidFill>
                <a:latin typeface="Malgun Gothic" pitchFamily="34" charset="0"/>
                <a:ea typeface="Malgun Gothic" pitchFamily="34" charset="-122"/>
                <a:cs typeface="Malgun Gothic" pitchFamily="34" charset="-120"/>
              </a:rPr>
              <a:t>⑦ 시험</a:t>
            </a:r>
            <a:endParaRPr lang="en-US" sz="1000" dirty="0"/>
          </a:p>
        </p:txBody>
      </p:sp>
      <p:sp>
        <p:nvSpPr>
          <p:cNvPr id="16"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반복의 결과: GA 빈도가 시장의 성격을 가른다</a:t>
            </a:r>
            <a:endParaRPr lang="en-US" sz="2600" dirty="0"/>
          </a:p>
        </p:txBody>
      </p:sp>
      <p:sp>
        <p:nvSpPr>
          <p:cNvPr id="17" name="Text 15"/>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두 체제 비교 (원고 5절 B, Table 1, Fig. 3)</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011680"/>
                <a:gridCol w="2743200"/>
                <a:gridCol w="3474720"/>
              </a:tblGrid>
              <a:tr h="310896">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항목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RE 체제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복잡 체제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GA 호출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평균 1000기마다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평균 250기마다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교차 확률 / 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0.3 / 1/150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0.1 / 1/75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가격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이론가격(RE)으로 수렴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이론가에서 이탈, 일시적 버블·급락 (더 낮음)</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기술적 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쓸모없어 사라짐</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늘어 약 15만 기 뒤 정상상태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첨도 (Table 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0.0131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0.3429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거래량 /1만 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2,461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ctr" indent="0" marL="0">
                        <a:buNone/>
                      </a:pPr>
                      <a:r>
                        <a:rPr lang="en-US" sz="1200" b="1" dirty="0">
                          <a:solidFill>
                            <a:srgbClr val="14263A"/>
                          </a:solidFill>
                          <a:latin typeface="Malgun Gothic" pitchFamily="34" charset="0"/>
                          <a:ea typeface="Malgun Gothic" pitchFamily="34" charset="-122"/>
                          <a:cs typeface="Malgun Gothic" pitchFamily="34" charset="-120"/>
                        </a:rPr>
                        <a:t>7,784 (약 3배)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bl>
          </a:graphicData>
        </a:graphic>
      </p:graphicFrame>
      <p:sp>
        <p:nvSpPr>
          <p:cNvPr id="19" name="eqbox"/>
          <p:cNvSpPr/>
          <p:nvPr/>
        </p:nvSpPr>
        <p:spPr>
          <a:xfrm>
            <a:off x="457200" y="3703320"/>
            <a:ext cx="4023360" cy="1069848"/>
          </a:xfrm>
          <a:prstGeom prst="roundRect">
            <a:avLst>
              <a:gd name="adj" fmla="val 5128"/>
            </a:avLst>
          </a:prstGeom>
          <a:solidFill>
            <a:schemeClr val="bg2"/>
          </a:solidFill>
          <a:ln w="12700">
            <a:solidFill>
              <a:schemeClr val="bg2"/>
            </a:solidFill>
            <a:prstDash val="solid"/>
          </a:ln>
        </p:spPr>
      </p:sp>
      <p:sp>
        <p:nvSpPr>
          <p:cNvPr id="20" name="Text 17"/>
          <p:cNvSpPr txBox="1"/>
          <p:nvPr/>
        </p:nvSpPr>
        <p:spPr>
          <a:xfrm>
            <a:off x="56692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latin typeface="Malgun Gothic" pitchFamily="34" charset="0"/>
                <a:ea typeface="Malgun Gothic" pitchFamily="34" charset="-122"/>
                <a:cs typeface="Malgun Gothic" pitchFamily="34" charset="-120"/>
              </a:rPr>
              <a:t>이 장에서 쓰는 식</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RE 가격  p_t = f·d_t + g</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f = ρ/(1+r−ρ) = 6.3333 · g = 16.688</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 원고 g 식의 (1+f)는 숫자로 검산해 보정 (원고 식대로면 가격 약 97)</a:t>
            </a:r>
            <a:endParaRPr lang="en-US" sz="1200" dirty="0"/>
          </a:p>
        </p:txBody>
      </p:sp>
      <p:sp>
        <p:nvSpPr>
          <p:cNvPr id="21" name="qbox"/>
          <p:cNvSpPr/>
          <p:nvPr/>
        </p:nvSpPr>
        <p:spPr>
          <a:xfrm>
            <a:off x="4663440" y="3703320"/>
            <a:ext cx="4023360" cy="1069848"/>
          </a:xfrm>
          <a:prstGeom prst="roundRect">
            <a:avLst>
              <a:gd name="adj" fmla="val 5128"/>
            </a:avLst>
          </a:prstGeom>
          <a:solidFill>
            <a:schemeClr val="bg2"/>
          </a:solidFill>
          <a:ln w="12700">
            <a:solidFill>
              <a:schemeClr val="bg2"/>
            </a:solidFill>
            <a:prstDash val="solid"/>
          </a:ln>
        </p:spPr>
      </p:sp>
      <p:sp>
        <p:nvSpPr>
          <p:cNvPr id="22" name="Text 19"/>
          <p:cNvSpPr txBox="1"/>
          <p:nvPr/>
        </p:nvSpPr>
        <p:spPr>
          <a:xfrm>
            <a:off x="4773168" y="3730752"/>
            <a:ext cx="3822192" cy="1014984"/>
          </a:xfrm>
          <a:prstGeom prst="rect">
            <a:avLst/>
          </a:prstGeom>
          <a:noFill/>
          <a:ln/>
        </p:spPr>
        <p:txBody>
          <a:bodyPr wrap="square" lIns="0" tIns="0" rIns="0" bIns="0" rtlCol="0" anchor="t"/>
          <a:lstStyle/>
          <a:p>
            <a:pPr indent="0" marL="0">
              <a:spcAft>
                <a:spcPts val="200"/>
              </a:spcAft>
              <a:buNone/>
            </a:pPr>
            <a:r>
              <a:rPr lang="en-US" sz="1200" b="1" dirty="0">
                <a:solidFill>
                  <a:schemeClr val="accent2"/>
                </a:solidFill>
                <a:latin typeface="Malgun Gothic" pitchFamily="34" charset="0"/>
                <a:ea typeface="Malgun Gothic" pitchFamily="34" charset="-122"/>
                <a:cs typeface="Malgun Gothic" pitchFamily="34" charset="-120"/>
              </a:rPr>
              <a:t>헷갈리기 쉬운 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Q. 왜 복잡해지나?  → 시장 상태 칸이 신호가 되어 서로를 강화하는 쪽지 집단이 생김. 조건을 #로 고정하면 사라짐</a:t>
            </a:r>
            <a:endParaRPr lang="en-US" sz="1200" dirty="0"/>
          </a:p>
          <a:p>
            <a:pPr indent="0" marL="0">
              <a:spcAft>
                <a:spcPts val="200"/>
              </a:spcAft>
              <a:buNone/>
            </a:pPr>
            <a:r>
              <a:rPr lang="en-US" sz="1200" dirty="0">
                <a:solidFill>
                  <a:schemeClr val="tx1"/>
                </a:solidFill>
                <a:latin typeface="Malgun Gothic" pitchFamily="34" charset="0"/>
                <a:ea typeface="Malgun Gothic" pitchFamily="34" charset="-122"/>
                <a:cs typeface="Malgun Gothic" pitchFamily="34" charset="-120"/>
              </a:rPr>
              <a:t>각주 9: GA 호출 빈도만 바꿔도 두 체제가 나타남</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정리와 다음 단계</a:t>
            </a:r>
            <a:endParaRPr lang="en-US" sz="2600" dirty="0"/>
          </a:p>
        </p:txBody>
      </p:sp>
      <p:sp>
        <p:nvSpPr>
          <p:cNvPr id="3" name="Text 1"/>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한 사이클이 반복되며 시장의 성격이 정해진다</a:t>
            </a:r>
            <a:endParaRPr lang="en-US" sz="1400" dirty="0"/>
          </a:p>
        </p:txBody>
      </p:sp>
      <p:sp>
        <p:nvSpPr>
          <p:cNvPr id="4" name="wrap0"/>
          <p:cNvSpPr/>
          <p:nvPr/>
        </p:nvSpPr>
        <p:spPr>
          <a:xfrm>
            <a:off x="457200" y="1417320"/>
            <a:ext cx="2651760" cy="2743200"/>
          </a:xfrm>
          <a:prstGeom prst="roundRect">
            <a:avLst>
              <a:gd name="adj" fmla="val 2069"/>
            </a:avLst>
          </a:prstGeom>
          <a:solidFill>
            <a:schemeClr val="bg2"/>
          </a:solidFill>
          <a:ln w="12700">
            <a:solidFill>
              <a:schemeClr val="bg2"/>
            </a:solidFill>
            <a:prstDash val="solid"/>
          </a:ln>
        </p:spPr>
      </p:sp>
      <p:sp>
        <p:nvSpPr>
          <p:cNvPr id="5" name="Text 3"/>
          <p:cNvSpPr txBox="1"/>
          <p:nvPr/>
        </p:nvSpPr>
        <p:spPr>
          <a:xfrm>
            <a:off x="594360" y="1508760"/>
            <a:ext cx="2377440" cy="365760"/>
          </a:xfrm>
          <a:prstGeom prst="rect">
            <a:avLst/>
          </a:prstGeom>
          <a:noFill/>
          <a:ln/>
        </p:spPr>
        <p:txBody>
          <a:bodyPr wrap="square" lIns="0" tIns="0" rIns="0" bIns="0" rtlCol="0" anchor="ctr"/>
          <a:lstStyle/>
          <a:p>
            <a:pPr indent="0" marL="0">
              <a:buNone/>
            </a:pPr>
            <a:r>
              <a:rPr lang="en-US" sz="1400" b="1" dirty="0">
                <a:solidFill>
                  <a:srgbClr val="0E7C86"/>
                </a:solidFill>
                <a:latin typeface="Malgun Gothic" pitchFamily="34" charset="0"/>
                <a:ea typeface="Malgun Gothic" pitchFamily="34" charset="-122"/>
                <a:cs typeface="Malgun Gothic" pitchFamily="34" charset="-120"/>
              </a:rPr>
              <a:t>이 모형이 보여 준 것</a:t>
            </a:r>
            <a:endParaRPr lang="en-US" sz="1400" dirty="0"/>
          </a:p>
        </p:txBody>
      </p:sp>
      <p:sp>
        <p:nvSpPr>
          <p:cNvPr id="6" name="Text 4"/>
          <p:cNvSpPr txBox="1"/>
          <p:nvPr/>
        </p:nvSpPr>
        <p:spPr>
          <a:xfrm>
            <a:off x="594360" y="1920240"/>
            <a:ext cx="237744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학습(탐색) 빈도에 따라 효율적 시장과 복잡한 시장이 모두 나타남</a:t>
            </a:r>
            <a:endParaRPr lang="en-US" sz="1300" dirty="0"/>
          </a:p>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두 견해가 모두 맞다: 체제가 다를 뿐</a:t>
            </a:r>
            <a:endParaRPr lang="en-US" sz="1300" dirty="0"/>
          </a:p>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외부 충격은 배당 하나뿐</a:t>
            </a:r>
            <a:endParaRPr lang="en-US" sz="1300" dirty="0"/>
          </a:p>
        </p:txBody>
      </p:sp>
      <p:sp>
        <p:nvSpPr>
          <p:cNvPr id="7" name="wrap1"/>
          <p:cNvSpPr/>
          <p:nvPr/>
        </p:nvSpPr>
        <p:spPr>
          <a:xfrm>
            <a:off x="3246120" y="1417320"/>
            <a:ext cx="2651760" cy="2743200"/>
          </a:xfrm>
          <a:prstGeom prst="roundRect">
            <a:avLst>
              <a:gd name="adj" fmla="val 2069"/>
            </a:avLst>
          </a:prstGeom>
          <a:solidFill>
            <a:schemeClr val="bg2"/>
          </a:solidFill>
          <a:ln w="12700">
            <a:solidFill>
              <a:schemeClr val="bg2"/>
            </a:solidFill>
            <a:prstDash val="solid"/>
          </a:ln>
        </p:spPr>
      </p:sp>
      <p:sp>
        <p:nvSpPr>
          <p:cNvPr id="8" name="Text 6"/>
          <p:cNvSpPr txBox="1"/>
          <p:nvPr/>
        </p:nvSpPr>
        <p:spPr>
          <a:xfrm>
            <a:off x="3383280" y="1508760"/>
            <a:ext cx="2377440" cy="365760"/>
          </a:xfrm>
          <a:prstGeom prst="rect">
            <a:avLst/>
          </a:prstGeom>
          <a:noFill/>
          <a:ln/>
        </p:spPr>
        <p:txBody>
          <a:bodyPr wrap="square" lIns="0" tIns="0" rIns="0" bIns="0" rtlCol="0" anchor="ctr"/>
          <a:lstStyle/>
          <a:p>
            <a:pPr indent="0" marL="0">
              <a:buNone/>
            </a:pPr>
            <a:r>
              <a:rPr lang="en-US" sz="1400" b="1" dirty="0">
                <a:solidFill>
                  <a:srgbClr val="E8743B"/>
                </a:solidFill>
                <a:latin typeface="Malgun Gothic" pitchFamily="34" charset="0"/>
                <a:ea typeface="Malgun Gothic" pitchFamily="34" charset="-122"/>
                <a:cs typeface="Malgun Gothic" pitchFamily="34" charset="-120"/>
              </a:rPr>
              <a:t>레버리지 확장 시 짚을 점</a:t>
            </a:r>
            <a:endParaRPr lang="en-US" sz="1400" dirty="0"/>
          </a:p>
        </p:txBody>
      </p:sp>
      <p:sp>
        <p:nvSpPr>
          <p:cNvPr id="9" name="Text 7"/>
          <p:cNvSpPr txBox="1"/>
          <p:nvPr/>
        </p:nvSpPr>
        <p:spPr>
          <a:xfrm>
            <a:off x="3383280" y="1920240"/>
            <a:ext cx="237744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식 (5)의 수요에는 부(wealth)가 없음</a:t>
            </a:r>
            <a:endParaRPr lang="en-US" sz="1300" dirty="0"/>
          </a:p>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쪽지는 이익이 아닌 정확도로 평가 (각주 14: 저자도 한계로 인정)</a:t>
            </a:r>
            <a:endParaRPr lang="en-US" sz="1300" dirty="0"/>
          </a:p>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부록 B: CRRA, 재고 있는 전문가, 거래세, 부에 의한 선택을 허용</a:t>
            </a:r>
            <a:endParaRPr lang="en-US" sz="1300" dirty="0"/>
          </a:p>
        </p:txBody>
      </p:sp>
      <p:sp>
        <p:nvSpPr>
          <p:cNvPr id="10" name="wrap2"/>
          <p:cNvSpPr/>
          <p:nvPr/>
        </p:nvSpPr>
        <p:spPr>
          <a:xfrm>
            <a:off x="6035040" y="1417320"/>
            <a:ext cx="2651760" cy="2743200"/>
          </a:xfrm>
          <a:prstGeom prst="roundRect">
            <a:avLst>
              <a:gd name="adj" fmla="val 2069"/>
            </a:avLst>
          </a:prstGeom>
          <a:solidFill>
            <a:srgbClr val="FBEFCB"/>
          </a:solidFill>
          <a:ln w="12700">
            <a:solidFill>
              <a:srgbClr val="FBEFCB"/>
            </a:solidFill>
            <a:prstDash val="solid"/>
          </a:ln>
        </p:spPr>
      </p:sp>
      <p:sp>
        <p:nvSpPr>
          <p:cNvPr id="11" name="Text 9"/>
          <p:cNvSpPr txBox="1"/>
          <p:nvPr/>
        </p:nvSpPr>
        <p:spPr>
          <a:xfrm>
            <a:off x="6172200" y="1508760"/>
            <a:ext cx="2377440" cy="365760"/>
          </a:xfrm>
          <a:prstGeom prst="rect">
            <a:avLst/>
          </a:prstGeom>
          <a:noFill/>
          <a:ln/>
        </p:spPr>
        <p:txBody>
          <a:bodyPr wrap="square" lIns="0" tIns="0" rIns="0" bIns="0" rtlCol="0" anchor="ctr"/>
          <a:lstStyle/>
          <a:p>
            <a:pPr indent="0" marL="0">
              <a:buNone/>
            </a:pPr>
            <a:r>
              <a:rPr lang="en-US" sz="1400" b="1" dirty="0">
                <a:solidFill>
                  <a:srgbClr val="E8743B"/>
                </a:solidFill>
                <a:latin typeface="Malgun Gothic" pitchFamily="34" charset="0"/>
                <a:ea typeface="Malgun Gothic" pitchFamily="34" charset="-122"/>
                <a:cs typeface="Malgun Gothic" pitchFamily="34" charset="-120"/>
              </a:rPr>
              <a:t>※ 1996 원고에 없는 것</a:t>
            </a:r>
            <a:endParaRPr lang="en-US" sz="1400" dirty="0"/>
          </a:p>
        </p:txBody>
      </p:sp>
      <p:sp>
        <p:nvSpPr>
          <p:cNvPr id="12" name="Text 10"/>
          <p:cNvSpPr txBox="1"/>
          <p:nvPr/>
        </p:nvSpPr>
        <p:spPr>
          <a:xfrm>
            <a:off x="6172200" y="1920240"/>
            <a:ext cx="237744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부모 선택(2개 비교, 80개 풀), 교차 안 할 때(변이), 변이 확률 → LeBaron 1999로 보완</a:t>
            </a:r>
            <a:endParaRPr lang="en-US" sz="1300" dirty="0"/>
          </a:p>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아직 불명: 기본 쪽지가 부모 후보인지</a:t>
            </a:r>
            <a:endParaRPr lang="en-US" sz="1300" dirty="0"/>
          </a:p>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경계값을 고른 이유</a:t>
            </a:r>
            <a:endParaRPr lang="en-US" sz="1300" dirty="0"/>
          </a:p>
          <a:p>
            <a:pPr marL="342900" indent="-342900">
              <a:spcAft>
                <a:spcPts val="600"/>
              </a:spcAft>
              <a:buSzPct val="100000"/>
              <a:buChar char="•"/>
            </a:pPr>
            <a:r>
              <a:rPr lang="en-US" sz="1300" dirty="0">
                <a:solidFill>
                  <a:schemeClr val="tx1"/>
                </a:solidFill>
                <a:latin typeface="Malgun Gothic" pitchFamily="34" charset="0"/>
                <a:ea typeface="Malgun Gothic" pitchFamily="34" charset="-122"/>
                <a:cs typeface="Malgun Gothic" pitchFamily="34" charset="-120"/>
              </a:rPr>
              <a:t>초기 부 W0</a:t>
            </a:r>
            <a:endParaRPr lang="en-US" sz="13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부록 1. 파라미터 표</a:t>
            </a:r>
            <a:endParaRPr lang="en-US" sz="2600" dirty="0"/>
          </a:p>
        </p:txBody>
      </p:sp>
      <p:sp>
        <p:nvSpPr>
          <p:cNvPr id="3" name="Text 1"/>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모두 1996 원고에 적힌 값</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4023360" cy="914400"/>
        </p:xfrm>
        <a:graphic>
          <a:graphicData uri="http://schemas.openxmlformats.org/drawingml/2006/table">
            <a:tbl>
              <a:tblPr/>
              <a:tblGrid>
                <a:gridCol w="2011680"/>
                <a:gridCol w="2011680"/>
              </a:tblGrid>
              <a:tr h="283464">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파라미터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값</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이자율 r</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위험회피 λ</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평균 배당 d̄</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지속성 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0.95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충격 분산 σ²_e</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0.0743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투자자 수 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25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쪽지 수 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시장 상태 칸 J</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초기 분산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4.0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663440" y="1371600"/>
          <a:ext cx="4023360" cy="914400"/>
        </p:xfrm>
        <a:graphic>
          <a:graphicData uri="http://schemas.openxmlformats.org/drawingml/2006/table">
            <a:tbl>
              <a:tblPr/>
              <a:tblGrid>
                <a:gridCol w="1554480"/>
                <a:gridCol w="2468880"/>
              </a:tblGrid>
              <a:tr h="283464">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파라미터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값</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a 초기값</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U(0.7, 1.2)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b 초기값</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U(−10, 19.002)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1/75(복잡), 1/150(RE)</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복잡함 벌점 C</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0.005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GA 호출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평균 250기 / 1000기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교체 비율</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최저 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교차 확률</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0.1(복잡), 0.3(RE)</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칸 변이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0.03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283464">
                <a:tc>
                  <a:txBody>
                    <a:bodyPr/>
                    <a:lstStyle/>
                    <a:p>
                      <a:pPr algn="l" indent="0" marL="0">
                        <a:buNone/>
                      </a:pPr>
                      <a:r>
                        <a:rPr lang="en-US" sz="1200" b="1" dirty="0">
                          <a:solidFill>
                            <a:srgbClr val="14263A"/>
                          </a:solidFill>
                          <a:latin typeface="Malgun Gothic" pitchFamily="34" charset="0"/>
                          <a:ea typeface="Malgun Gothic" pitchFamily="34" charset="-122"/>
                          <a:cs typeface="Malgun Gothic" pitchFamily="34" charset="-120"/>
                        </a:rPr>
                        <a:t>실험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EEF3F5"/>
                    </a:solidFill>
                  </a:tcPr>
                </a:tc>
                <a:tc>
                  <a:txBody>
                    <a:bodyPr/>
                    <a:lstStyle/>
                    <a:p>
                      <a:pPr algn="ctr" indent="0" marL="0">
                        <a:buNone/>
                      </a:pPr>
                      <a:r>
                        <a:rPr lang="en-US" sz="1200" dirty="0">
                          <a:solidFill>
                            <a:srgbClr val="14263A"/>
                          </a:solidFill>
                          <a:latin typeface="Malgun Gothic" pitchFamily="34" charset="0"/>
                          <a:ea typeface="Malgun Gothic" pitchFamily="34" charset="-122"/>
                          <a:cs typeface="Malgun Gothic" pitchFamily="34" charset="-120"/>
                        </a:rPr>
                        <a:t>250,000기 × 25회</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부록 2. 왜 귀납인가, 그리고 RE 균형</a:t>
            </a:r>
            <a:endParaRPr lang="en-US" sz="2600" dirty="0"/>
          </a:p>
        </p:txBody>
      </p:sp>
      <p:sp>
        <p:nvSpPr>
          <p:cNvPr id="3" name="Text 1"/>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본문에서 뺀 식 (1)(2)(3)(9)</a:t>
            </a:r>
            <a:endParaRPr lang="en-US" sz="1400" dirty="0"/>
          </a:p>
        </p:txBody>
      </p:sp>
      <p:sp>
        <p:nvSpPr>
          <p:cNvPr id="4" name="indu"/>
          <p:cNvSpPr/>
          <p:nvPr/>
        </p:nvSpPr>
        <p:spPr>
          <a:xfrm>
            <a:off x="457200" y="1417320"/>
            <a:ext cx="4023360" cy="2743200"/>
          </a:xfrm>
          <a:prstGeom prst="roundRect">
            <a:avLst>
              <a:gd name="adj" fmla="val 2000"/>
            </a:avLst>
          </a:prstGeom>
          <a:solidFill>
            <a:schemeClr val="bg2"/>
          </a:solidFill>
          <a:ln w="12700">
            <a:solidFill>
              <a:schemeClr val="bg2"/>
            </a:solidFill>
            <a:prstDash val="solid"/>
          </a:ln>
        </p:spPr>
      </p:sp>
      <p:sp>
        <p:nvSpPr>
          <p:cNvPr id="5" name="Text 3"/>
          <p:cNvSpPr txBox="1"/>
          <p:nvPr/>
        </p:nvSpPr>
        <p:spPr>
          <a:xfrm>
            <a:off x="594360" y="1463040"/>
            <a:ext cx="3794760" cy="265176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latin typeface="Malgun Gothic" pitchFamily="34" charset="0"/>
                <a:ea typeface="Malgun Gothic" pitchFamily="34" charset="-122"/>
                <a:cs typeface="Malgun Gothic" pitchFamily="34" charset="-120"/>
              </a:rPr>
              <a:t>왜 연역이 막히나 (2절 A)</a:t>
            </a:r>
            <a:endParaRPr lang="en-US" sz="1200" dirty="0"/>
          </a:p>
          <a:p>
            <a:pPr indent="0" marL="0">
              <a:spcAft>
                <a:spcPts val="400"/>
              </a:spcAft>
              <a:buNone/>
            </a:pPr>
            <a:r>
              <a:rPr lang="en-US" sz="1200" dirty="0">
                <a:solidFill>
                  <a:schemeClr val="tx1"/>
                </a:solidFill>
                <a:latin typeface="Malgun Gothic" pitchFamily="34" charset="0"/>
                <a:ea typeface="Malgun Gothic" pitchFamily="34" charset="-122"/>
                <a:cs typeface="Malgun Gothic" pitchFamily="34" charset="-120"/>
              </a:rPr>
              <a:t>식 (1)  p_t = β Σ_j w_j (E_j[d_{t+1}] + E_j[p_{t+1}])</a:t>
            </a:r>
            <a:endParaRPr lang="en-US" sz="1200" dirty="0"/>
          </a:p>
          <a:p>
            <a:pPr indent="0" marL="0">
              <a:spcAft>
                <a:spcPts val="400"/>
              </a:spcAft>
              <a:buNone/>
            </a:pPr>
            <a:r>
              <a:rPr lang="en-US" sz="1100" dirty="0">
                <a:solidFill>
                  <a:schemeClr val="accent3"/>
                </a:solidFill>
                <a:latin typeface="Malgun Gothic" pitchFamily="34" charset="0"/>
                <a:ea typeface="Malgun Gothic" pitchFamily="34" charset="-122"/>
                <a:cs typeface="Malgun Gothic" pitchFamily="34" charset="-120"/>
              </a:rPr>
              <a:t>가격 = 확신으로 가중한 예상의 할인값</a:t>
            </a:r>
            <a:endParaRPr lang="en-US" sz="1200" dirty="0"/>
          </a:p>
          <a:p>
            <a:pPr indent="0" marL="0">
              <a:spcAft>
                <a:spcPts val="400"/>
              </a:spcAft>
              <a:buNone/>
            </a:pPr>
            <a:r>
              <a:rPr lang="en-US" sz="1200" dirty="0">
                <a:solidFill>
                  <a:schemeClr val="tx1"/>
                </a:solidFill>
                <a:latin typeface="Malgun Gothic" pitchFamily="34" charset="0"/>
                <a:ea typeface="Malgun Gothic" pitchFamily="34" charset="-122"/>
                <a:cs typeface="Malgun Gothic" pitchFamily="34" charset="-120"/>
              </a:rPr>
              <a:t>식 (2)  p_t = Σ_k β^k E[d_{t+k}]</a:t>
            </a:r>
            <a:endParaRPr lang="en-US" sz="1200" dirty="0"/>
          </a:p>
          <a:p>
            <a:pPr indent="0" marL="0">
              <a:spcAft>
                <a:spcPts val="400"/>
              </a:spcAft>
              <a:buNone/>
            </a:pPr>
            <a:r>
              <a:rPr lang="en-US" sz="1100" dirty="0">
                <a:solidFill>
                  <a:schemeClr val="accent3"/>
                </a:solidFill>
                <a:latin typeface="Malgun Gothic" pitchFamily="34" charset="0"/>
                <a:ea typeface="Malgun Gothic" pitchFamily="34" charset="-122"/>
                <a:cs typeface="Malgun Gothic" pitchFamily="34" charset="-120"/>
              </a:rPr>
              <a:t>모두 같은 예상이면 배당의 현재가치</a:t>
            </a:r>
            <a:endParaRPr lang="en-US" sz="1200" dirty="0"/>
          </a:p>
          <a:p>
            <a:pPr indent="0" marL="0">
              <a:spcAft>
                <a:spcPts val="400"/>
              </a:spcAft>
              <a:buNone/>
            </a:pPr>
            <a:r>
              <a:rPr lang="en-US" sz="1200" dirty="0">
                <a:solidFill>
                  <a:schemeClr val="tx1"/>
                </a:solidFill>
                <a:latin typeface="Malgun Gothic" pitchFamily="34" charset="0"/>
                <a:ea typeface="Malgun Gothic" pitchFamily="34" charset="-122"/>
                <a:cs typeface="Malgun Gothic" pitchFamily="34" charset="-120"/>
              </a:rPr>
              <a:t>식 (3)  내일 가격 예상에는 남들의 모레 예상이 필요</a:t>
            </a:r>
            <a:endParaRPr lang="en-US" sz="1200" dirty="0"/>
          </a:p>
          <a:p>
            <a:pPr indent="0" marL="0">
              <a:spcAft>
                <a:spcPts val="400"/>
              </a:spcAft>
              <a:buNone/>
            </a:pPr>
            <a:r>
              <a:rPr lang="en-US" sz="1200" b="1" dirty="0">
                <a:solidFill>
                  <a:schemeClr val="tx1"/>
                </a:solidFill>
                <a:latin typeface="Malgun Gothic" pitchFamily="34" charset="0"/>
                <a:ea typeface="Malgun Gothic" pitchFamily="34" charset="-122"/>
                <a:cs typeface="Malgun Gothic" pitchFamily="34" charset="-120"/>
              </a:rPr>
              <a:t>→ "남의 예상의 예상" 무한소급, 연역 불가 → 귀납</a:t>
            </a:r>
            <a:endParaRPr lang="en-US" sz="1200" dirty="0"/>
          </a:p>
        </p:txBody>
      </p:sp>
      <p:sp>
        <p:nvSpPr>
          <p:cNvPr id="6" name="ree"/>
          <p:cNvSpPr/>
          <p:nvPr/>
        </p:nvSpPr>
        <p:spPr>
          <a:xfrm>
            <a:off x="4663440" y="1417320"/>
            <a:ext cx="4023360" cy="2743200"/>
          </a:xfrm>
          <a:prstGeom prst="roundRect">
            <a:avLst>
              <a:gd name="adj" fmla="val 2000"/>
            </a:avLst>
          </a:prstGeom>
          <a:solidFill>
            <a:schemeClr val="bg2"/>
          </a:solidFill>
          <a:ln w="12700">
            <a:solidFill>
              <a:schemeClr val="bg2"/>
            </a:solidFill>
            <a:prstDash val="solid"/>
          </a:ln>
        </p:spPr>
      </p:sp>
      <p:sp>
        <p:nvSpPr>
          <p:cNvPr id="7" name="Text 5"/>
          <p:cNvSpPr txBox="1"/>
          <p:nvPr/>
        </p:nvSpPr>
        <p:spPr>
          <a:xfrm>
            <a:off x="4800600" y="1463040"/>
            <a:ext cx="3794760" cy="265176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latin typeface="Malgun Gothic" pitchFamily="34" charset="0"/>
                <a:ea typeface="Malgun Gothic" pitchFamily="34" charset="-122"/>
                <a:cs typeface="Malgun Gothic" pitchFamily="34" charset="-120"/>
              </a:rPr>
              <a:t>RE 균형 (부록 A)</a:t>
            </a:r>
            <a:endParaRPr lang="en-US" sz="1200" dirty="0"/>
          </a:p>
          <a:p>
            <a:pPr indent="0" marL="0">
              <a:spcAft>
                <a:spcPts val="400"/>
              </a:spcAft>
              <a:buNone/>
            </a:pPr>
            <a:r>
              <a:rPr lang="en-US" sz="1200" dirty="0">
                <a:solidFill>
                  <a:schemeClr val="tx1"/>
                </a:solidFill>
                <a:latin typeface="Malgun Gothic" pitchFamily="34" charset="0"/>
                <a:ea typeface="Malgun Gothic" pitchFamily="34" charset="-122"/>
                <a:cs typeface="Malgun Gothic" pitchFamily="34" charset="-120"/>
              </a:rPr>
              <a:t>식 (9)  E(p+d) − (1+r)p = λσ²_{p+d}</a:t>
            </a:r>
            <a:endParaRPr lang="en-US" sz="1200" dirty="0"/>
          </a:p>
          <a:p>
            <a:pPr indent="0" marL="0">
              <a:spcAft>
                <a:spcPts val="400"/>
              </a:spcAft>
              <a:buNone/>
            </a:pPr>
            <a:r>
              <a:rPr lang="en-US" sz="1100" dirty="0">
                <a:solidFill>
                  <a:schemeClr val="accent3"/>
                </a:solidFill>
                <a:latin typeface="Malgun Gothic" pitchFamily="34" charset="0"/>
                <a:ea typeface="Malgun Gothic" pitchFamily="34" charset="-122"/>
                <a:cs typeface="Malgun Gothic" pitchFamily="34" charset="-120"/>
              </a:rPr>
              <a:t>모두 1주씩 보유하는 균형 조건</a:t>
            </a:r>
            <a:endParaRPr lang="en-US" sz="1200" dirty="0"/>
          </a:p>
          <a:p>
            <a:pPr indent="0" marL="0">
              <a:spcAft>
                <a:spcPts val="400"/>
              </a:spcAft>
              <a:buNone/>
            </a:pPr>
            <a:r>
              <a:rPr lang="en-US" sz="1200" dirty="0">
                <a:solidFill>
                  <a:schemeClr val="tx1"/>
                </a:solidFill>
                <a:latin typeface="Malgun Gothic" pitchFamily="34" charset="0"/>
                <a:ea typeface="Malgun Gothic" pitchFamily="34" charset="-122"/>
                <a:cs typeface="Malgun Gothic" pitchFamily="34" charset="-120"/>
              </a:rPr>
              <a:t>p_t = f·d_t + g,  f = ρ/(1+r−ρ) = 6.3333</a:t>
            </a:r>
            <a:endParaRPr lang="en-US" sz="1200" dirty="0"/>
          </a:p>
          <a:p>
            <a:pPr indent="0" marL="0">
              <a:spcAft>
                <a:spcPts val="400"/>
              </a:spcAft>
              <a:buNone/>
            </a:pPr>
            <a:r>
              <a:rPr lang="en-US" sz="1100" dirty="0">
                <a:solidFill>
                  <a:schemeClr val="accent3"/>
                </a:solidFill>
                <a:latin typeface="Malgun Gothic" pitchFamily="34" charset="0"/>
                <a:ea typeface="Malgun Gothic" pitchFamily="34" charset="-122"/>
                <a:cs typeface="Malgun Gothic" pitchFamily="34" charset="-120"/>
              </a:rPr>
              <a:t>검산: g = 16.688이면 d=10일 때 p ≈ 80</a:t>
            </a:r>
            <a:endParaRPr lang="en-US" sz="1200" dirty="0"/>
          </a:p>
          <a:p>
            <a:pPr indent="0" marL="0">
              <a:spcAft>
                <a:spcPts val="400"/>
              </a:spcAft>
              <a:buNone/>
            </a:pPr>
            <a:r>
              <a:rPr lang="en-US" sz="1200" b="1" dirty="0">
                <a:solidFill>
                  <a:schemeClr val="accent2"/>
                </a:solidFill>
                <a:latin typeface="Malgun Gothic" pitchFamily="34" charset="0"/>
                <a:ea typeface="Malgun Gothic" pitchFamily="34" charset="-122"/>
                <a:cs typeface="Malgun Gothic" pitchFamily="34" charset="-120"/>
              </a:rPr>
              <a:t>원고 오타 후보 (숫자로 검산)</a:t>
            </a:r>
            <a:endParaRPr lang="en-US" sz="1200" dirty="0"/>
          </a:p>
          <a:p>
            <a:pPr marL="342900" indent="-342900">
              <a:spcAft>
                <a:spcPts val="4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g 식의 (1+f)가 한 번만 있음 (제곱이 맞음)</a:t>
            </a:r>
            <a:endParaRPr lang="en-US" sz="1200" dirty="0"/>
          </a:p>
          <a:p>
            <a:pPr marL="342900" indent="-342900">
              <a:spcAft>
                <a:spcPts val="4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식 (10)이 σ²_{p+d}=4.0과 안 맞음</a:t>
            </a:r>
            <a:endParaRPr lang="en-US" sz="1200" dirty="0"/>
          </a:p>
          <a:p>
            <a:pPr marL="342900" indent="-342900">
              <a:spcAft>
                <a:spcPts val="400"/>
              </a:spcAft>
              <a:buSzPct val="100000"/>
              <a:buChar char="•"/>
            </a:pPr>
            <a:r>
              <a:rPr lang="en-US" sz="1200" dirty="0">
                <a:solidFill>
                  <a:schemeClr val="tx1"/>
                </a:solidFill>
                <a:latin typeface="Malgun Gothic" pitchFamily="34" charset="0"/>
                <a:ea typeface="Malgun Gothic" pitchFamily="34" charset="-122"/>
                <a:cs typeface="Malgun Gothic" pitchFamily="34" charset="-120"/>
              </a:rPr>
              <a:t>Table 1: RE 체제 왜도 = 첨도 = 0.0131</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rPr>
              <a:t>부록 3. 원고에 없는 것과 후속 자료의 보완</a:t>
            </a:r>
            <a:endParaRPr lang="en-US" sz="2600" dirty="0"/>
          </a:p>
        </p:txBody>
      </p:sp>
      <p:sp>
        <p:nvSpPr>
          <p:cNvPr id="3" name="Text 1"/>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chemeClr val="accent1"/>
                </a:solidFill>
                <a:latin typeface="Malgun Gothic" pitchFamily="34" charset="0"/>
                <a:ea typeface="Malgun Gothic" pitchFamily="34" charset="-122"/>
                <a:cs typeface="Malgun Gothic" pitchFamily="34" charset="-120"/>
              </a:rPr>
              <a:t>1996 원고, 후속 자료(LeBaron 1999, Tesfatsion 노트), 여전히 불명인 것</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2286000"/>
                <a:gridCol w="3200400"/>
              </a:tblGrid>
              <a:tr h="310896">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항목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1996 원고</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후속 자료</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solidFill>
                      <a:srgbClr val="0F4C5C"/>
                    </a:solidFill>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부모 선택 (2개 비교, 80개 풀)</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원고에 없음</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80개 중 무작위 2개, 적합도 높은 쪽 (×2)</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교차를 쓰지 않을 때</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원고에 없음</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순수 변이 (부모 1명 선택)</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변이 때 칸·a·b의 변화</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원고에 없음</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칸 확률 표, a·b 60/20/20 (LeBaron 1999)</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초기 칸의 0:1 비율</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0 또는 1 합쳐 0.1</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0과 1 각 0.05</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활성 쪽지: 하나 vs H개</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3절 B와 부록 A가 다름</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가장 정확한 하나 (LeBaron 확인)</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상태 칸의 가격 시점</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불명확</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500기 예비 기간으로 이력을 채움</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경계값을 고른 이유</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원고에 없음</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후속 자료에도 없음</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기본 쪽지가 부모 후보인지</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원고에 없음</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후속 자료에도 없음</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r h="310896">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a, b가 평생 고정이라는 문장</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b="1" dirty="0">
                          <a:solidFill>
                            <a:srgbClr val="E8743B"/>
                          </a:solidFill>
                          <a:latin typeface="Malgun Gothic" pitchFamily="34" charset="0"/>
                          <a:ea typeface="Malgun Gothic" pitchFamily="34" charset="-122"/>
                          <a:cs typeface="Malgun Gothic" pitchFamily="34" charset="-120"/>
                        </a:rPr>
                        <a:t>원고에 없음 (해석)</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c>
                  <a:txBody>
                    <a:bodyPr/>
                    <a:lstStyle/>
                    <a:p>
                      <a:pPr algn="l" indent="0" marL="0">
                        <a:buNone/>
                      </a:pPr>
                      <a:r>
                        <a:rPr lang="en-US" sz="1100" dirty="0">
                          <a:solidFill>
                            <a:srgbClr val="14263A"/>
                          </a:solidFill>
                          <a:latin typeface="Malgun Gothic" pitchFamily="34" charset="0"/>
                          <a:ea typeface="Malgun Gothic" pitchFamily="34" charset="-122"/>
                          <a:cs typeface="Malgun Gothic" pitchFamily="34" charset="-120"/>
                        </a:rPr>
                        <a:t>—</a:t>
                      </a:r>
                      <a:endParaRPr lang="en-US" sz="1100" dirty="0">
                        <a:latin typeface="Malgun Gothic" charset="0"/>
                        <a:ea typeface="Malgun Gothic" charset="0"/>
                        <a:cs typeface="Malgun Gothic" charset="0"/>
                      </a:endParaRPr>
                    </a:p>
                  </a:txBody>
                  <a:tcPr marL="91440" marR="91440" marT="45720" marB="45720" anchor="ctr">
                    <a:lnL w="9525" cap="flat" cmpd="sng" algn="ctr">
                      <a:solidFill>
                        <a:srgbClr val="D9E2E7"/>
                      </a:solidFill>
                      <a:prstDash val="solid"/>
                      <a:round/>
                      <a:headEnd type="none" w="med" len="med"/>
                      <a:tailEnd type="none" w="med" len="med"/>
                    </a:lnL>
                    <a:lnR w="9525" cap="flat" cmpd="sng" algn="ctr">
                      <a:solidFill>
                        <a:srgbClr val="D9E2E7"/>
                      </a:solidFill>
                      <a:prstDash val="solid"/>
                      <a:round/>
                      <a:headEnd type="none" w="med" len="med"/>
                      <a:tailEnd type="none" w="med" len="med"/>
                    </a:lnR>
                    <a:lnT w="9525" cap="flat" cmpd="sng" algn="ctr">
                      <a:solidFill>
                        <a:srgbClr val="D9E2E7"/>
                      </a:solidFill>
                      <a:prstDash val="solid"/>
                      <a:round/>
                      <a:headEnd type="none" w="med" len="med"/>
                      <a:tailEnd type="none" w="med" len="med"/>
                    </a:lnT>
                    <a:lnB w="9525" cap="flat" cmpd="sng" algn="ctr">
                      <a:solidFill>
                        <a:srgbClr val="D9E2E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FI-GA">
  <a:themeElements>
    <a:clrScheme name="SFI-GA">
      <a:dk1>
        <a:srgbClr val="14263A"/>
      </a:dk1>
      <a:lt1>
        <a:srgbClr val="FFFFFF"/>
      </a:lt1>
      <a:dk2>
        <a:srgbClr val="0F4C5C"/>
      </a:dk2>
      <a:lt2>
        <a:srgbClr val="EEF3F5"/>
      </a:lt2>
      <a:accent1>
        <a:srgbClr val="0E7C86"/>
      </a:accent1>
      <a:accent2>
        <a:srgbClr val="E8743B"/>
      </a:accent2>
      <a:accent3>
        <a:srgbClr val="6C8EA4"/>
      </a:accent3>
      <a:accent4>
        <a:srgbClr val="F2B84B"/>
      </a:accent4>
      <a:accent5>
        <a:srgbClr val="7A5C99"/>
      </a:accent5>
      <a:accent6>
        <a:srgbClr val="4C9F70"/>
      </a:accent6>
      <a:hlink>
        <a:srgbClr val="0E7C86"/>
      </a:hlink>
      <a:folHlink>
        <a:srgbClr val="6C8EA4"/>
      </a:folHlink>
    </a:clrScheme>
    <a:fontScheme name="SFI-GA">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GA로 보는 산타페 인공주식시장</dc:title>
  <dc:subject>PptxGenJS Presentation</dc:subject>
  <dc:creator>PptxGenJS</dc:creator>
  <cp:lastModifiedBy>PptxGenJS</cp:lastModifiedBy>
  <cp:revision>1</cp:revision>
  <dcterms:created xsi:type="dcterms:W3CDTF">2026-10-14T01:36:09Z</dcterms:created>
  <dcterms:modified xsi:type="dcterms:W3CDTF">2026-10-14T01:36:09Z</dcterms:modified>
</cp:coreProperties>
</file>