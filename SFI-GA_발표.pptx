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8c4784fc-9482-444a-e52b-9bee3ce7d328}">
          <p14:sldIdLst>
            <p14:sldId id="256"/>
          </p14:sldIdLst>
        </p14:section>
        <p14:section name="GA 사이클" id="{134b289c-17b2-92ca-9d13-d1ff129728c2}">
          <p14:sldIdLst>
            <p14:sldId id="257"/>
            <p14:sldId id="258"/>
            <p14:sldId id="259"/>
            <p14:sldId id="260"/>
            <p14:sldId id="261"/>
            <p14:sldId id="262"/>
          </p14:sldIdLst>
        </p14:section>
        <p14:section name="결과와 정리" id="{9fd6f07e-850a-98e2-eb43-2c4ef6c1d55a}">
          <p14:sldIdLst>
            <p14:sldId id="263"/>
            <p14:sldId id="264"/>
          </p14:sldIdLst>
        </p14:section>
        <p14:section name="부록" id="{80ba0b5d-2d19-a61f-f6ff-5c5660d22672}">
          <p14:sldIdLst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오늘은 산타페 인공주식시장을 '유전알고리즘이 쪽지를 진화시키는 순서'대로 설명합니다. 순서는 ① 초기 쪽지 만들기, ② 쪽지로 시장 돌리기, ③ 채점, ④ 하위 20% 삭제, ⑤ 부모 선택, ⑥ 교차와 변이로 새 쪽지 만들기, ⑦ 새 쪽지 시험이고, 이것이 평균 250기(복잡 체제)나 1000기(RE 체제)마다 반복됩니다. 이 발표는 1996년 12월 원고만을 근거로 합니다. 원고에 없는 내용은 '원고에 없음'으로 표시했습니다.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쪽지 한 장은 조건 12칸과 예측 계수 (a, b)로 이뤄집니다. 12칸은 연구자가 정한 고정 질문이고, 매일 바뀌는 것은 그 질문의 답(0 또는 1)입니다 (원고 5절 A, p.12). 11번은 항상 1, 12번은 항상 0으로, 정보가 없는 통제용입니다. 기술적 칸(7~10번)이 통제 칸보다 유의하게 더 자주 설정되면 '기술적 거래가 생겨났다'고 판단합니다.
a, b는 예측식 a(p+d)+b의 계수입니다. 원고 3절 B는 '에이전트는 파라미터를 갱신하는 것이 아니라 가설이 맞는지 보고 GA로 새 가설을 만들어 학습한다'고 말합니다. 그래서 기존 쪽지의 a, b는 매일 고치지 않습니다. ('평생 고정'이라는 문장 자체는 원고에 없고 이 서술에서 읽어 낸 해석입니다.)
예상 질문: 투자자끼리 영향을 주나요? → 서로 예상이나 주문을 주고받지 않고, 가격을 통해서만 영향을 줍니다 (3절 A, p.8). 경계값(0.25 등)을 왜 이렇게 골랐나요? → 원고에 없음.
RE 균형의 a는 ρ=0.95와 같고 b는 약 4.5입니다. 원고에 이 숫자가 직접 쓰여 있지는 않고 원고의 식에서 유도한 값입니다.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하루의 흐름입니다 (원고 3절 A, p.9). 기 초에 배당 d_t가 공시되고, 에이전트들이 과거 가격·배당 이력에서 시장 상태 12칸을 확인합니다. 조건이 맞는 활성 쪽지 중 가장 정확한 쪽지의 (a, b)로 다음 기의 가격+배당을 예상하고, 식 (5)로 수요를 계산해 전문가에게 넘깁니다. 전문가는 식 (6)을 만족시키는 가격 p_t를 선언합니다. 다음 기에 새 배당이 공개되면 그때 활성이었던 쪽지의 정확도가 갱신됩니다.
핵심: 투자자는 한 가지 수량이 아니라 '가격이 얼마면 몇 주'라는 수요함수를 냅니다. 분자에는 쪽지의 예상이, 분자의 p(1+r)에는 가격이 들어가므로 쪽지와 가격이 모두 수량을 정합니다. 가격은 누구의 최적값이 아니라 모든 수요가 공급과 만나는 값입니다. 원고 부록 A는 식 (5)와 (6)을 '직접 풀어' 가격을 구한다고 적습니다.
표는 제가 계산한 예시입니다. 12명이 b=4.5, 13명이 b=5.5이면 식 (6)을 풀어 가격이 83.47이 되고, 각자의 수량은 0.74주와 1.24주로 합이 25주입니다.
예상 질문 1: 합이 25가 되는 가격이 하나인가요? → 원고에는 이 서술이 없습니다. 제 분석으로는 식 (5)가 p의 일차식이라 총수요가 직선이고 보통 교차점이 하나입니다. a가 1.1 이상인 쪽지가 지배적이면 예외일 수 있습니다.
예상 질문 2: 어느 쪽지를 쓰나요? → 활성 쪽지 중 가장 정확한 하나(부록 A). 3절 B는 H개를 결합한다고 써서 원고 내부가 불일치합니다.
예상 질문 3: 시장 상태에 쓰는 가격은 현재 가격인가요? → 3절 A의 타이밍 설명에서는 가격 이력이 p_{t−1}까지이고 5절의 칸 목록에는 'Current price'라고 적혀 있어 원고 내부에서 불명확합니다.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정확도는 식 (7)로 갱신됩니다. 새 오차 평균 = 옛 오차 평균×(1−θ) + 이번 예측 오차의 제곱×θ입니다. 원고 부록 A는 이 정확도가 '쪽지가 활성일 때마다' 갱신된다고 적습니다. θ는 복잡 체제에서 1/75, RE 체제에서 1/150입니다.
정확도는 세 곳에 쓰입니다 (부록 A, p.23). 첫째, 활성 쪽지가 여럿이면 가장 정확한 것만 씁니다. 둘째, GA에서 재조합할 쪽지를 고르는 적합도 식 (8)의 일부입니다. 셋째, 수요식 (5)의 분산으로 쓰이는데, GA가 도는 시점에만 현재 값으로 갱신됩니다.
식 (8)의 점수는 M − e² − C·s입니다. C=0.005이고 s는 0 또는 1로 정한 칸의 수입니다. 표의 예시는 제가 만든 숫자로, 정확도가 거의 같으면 단순한 쪽지가 이긴다는 점을 보여 줍니다. 이 때문에 쓸모없는 칸이 '#'로 돌아가는 약한 흐름이 생겨, 정보가 정말 유용할 때만 그 칸이 쓰입니다.
주의: 식 (8)의 M은 상수이고 투자자당 쪽지 수 M=100과 다른 것입니다. 원고가 같은 글자를 씁니다.
예상 질문: 매일 쪽지를 고르는 것과 GA는 같은 건가요? → 아닙니다. 학습은 두 속도로 일어납니다. 빠르게는 어느 쪽지가 정확한지 배우는 것(매 기), 느리게는 GA가 못한 쪽지를 버리고 새 쪽지를 만드는 것입니다 (3절 B, p.10).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GA가 도는 날, 그 투자자의 100장 중 정확도가 가장 낮은 20%(20장)를 버립니다 (부록 A, p.23). 그러면 80장이 남습니다. 버린 자리는 새 쪽지 20장으로 채워서 다시 100장이 됩니다.
새 쪽지의 재료인 부모는 정확도가 높을수록 유리하게 뽑습니다. 원고 5절 A는 '재조합용 쪽지는 무작위로 뽑되, 정한 칸이 많을수록 확률을 약간 낮춘다'고 적고, 부록 A는 'M은 토너먼트 순위에서는 무관하다'고 말합니다.
중요: 우월한 쪽지가 자식으로 들어가는 것이 아닙니다. 우월한 쪽지는 부모가 되고, 자식은 부모를 교차하거나 변이시킨 새 쪽지입니다.
원고에 없는 것: 2개를 뽑아 비교하는 절차(앞서 제가 1999 논문에서 가져와 말했던 내용이라 이 발표에서는 뺐습니다), 그리고 부모를 80개에서 뽑는지 100개에서 뽑는지. 구현할 때 정해야 하는 선택입니다.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새 쪽지는 부모에서 교차나 변이로 만듭니다 (부록 A, p.24).
교차 확률 0.3/0.1의 뜻: '새 쪽지를 만들 때 교차를 쓸 확률이 RE 체제에서 0.3, 복잡 체제에서 0.1'입니다. 교차는 두 부모를 섞는 것이고, 조건 문자열은 균일 교차(칸마다 두 부모 중 한쪽에서 무작위로)를 씁니다. 교차를 쓰지 않을 때 무엇을 하는지는 원고에 없습니다.
칸 변이 0.03의 뜻: 새 쪽지의 12칸 각각이 3% 확률로 바뀝니다. 12칸이면 평균 0.36칸입니다. 부모에 없던 조건을 가끔 시험해 보려는 것입니다. 어떤 값으로 바뀌는지는 원고에 없습니다. (앞서 제가 '0↔1↔#'로 표기한 것은 원고의 표기가 아닙니다.)
예측 계수 (a, b)의 무작위 값: 원고는 '예측 계수 벡터는 각 성분에 무작위 변수를 더해 변이시키고, 성분별 교차 또는 두 벡터의 선형결합 또는 한쪽 벡터 통째 선택으로 교차한다. 이 절차들은 같은 확률로 수행된다'고 적습니다. 더하는 값의 크기와 '각 절차'가 네 가지 전부인지 교차 세 가지인지는 문장만으로 확정되지 않습니다.
슬라이드의 그림은 제가 만든 예시입니다.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새 쪽지는 분산 초기값을 받고 시작합니다 (부록 A, p.24). 부모 분산의 평균이고, 칸이 바뀌었으면 전체 쪽지의 평균 분산입니다. 그 값이 현재 기본 쪽지의 분산에서 평균절대편차를 뺀 값보다 낮으면 중앙값으로 올립니다. 새 쪽지가 근거 없이 너무 유리해지지 않게 하는 장치입니다.
새 쪽지는 매 기 쪽지를 고르는 기준(가장 정확한 것)에서 이겨야 활성이 됩니다. 그래서 새로 만든 쪽지가 시장을 흔들지 않습니다. 원고는 이것을 '시험되지 않은 새 쪽지는 혼란을 일으키지 않는다. 정확할 때만 쓰이므로 학습이 부드럽다(gracefulness)'고 표현합니다 (3절 B, p.10).
학습은 두 속도로 일어납니다. 빠르게는 어느 쪽지가 정확한지 배우는 것(매 기), 느리게는 GA가 못한 쪽지를 버리고 새 쪽지를 만드는 것입니다. GA는 평균 250기(복잡 체제) 또는 1000기(RE 체제)마다 투자자마다 따로 돕니다 (부록 A, p.23). 이 사이클을 250,000기간 돌리고 25회 반복합니다 (5절 A, p.12).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두 체제는 GA 호출 빈도뿐 아니라 교차 확률과 θ도 다르게 쓰였습니다 (RE 체제: 1000기, 0.3, 1/150 / 복잡 체제: 250기, 0.1, 1/75). 그러나 각주 9는 'GA 호출 빈도만 바꿔도 두 체제가 나타나고 결과가 실질적으로 같다'고 밝힙니다.
결과 (Table 1, 25회의 중앙값, 250,000기 이후): 표준편차는 2.1002 대 2.1007로 같고, 첨도는 0.0131 대 0.3429, 거래량(1만 기)은 2,460.9 대 7,783.8로 복잡 체제에서 약 300% 큽니다. 기술적 칸은 RE 체제에서는 사라지고 복잡 체제에서는 늘어나 약 15만 기 뒤 정상상태에 이릅니다 (Fig. 3). 500기 이동평균 지표를 넣은 회귀에서 복잡 체제의 t값은 5.1입니다. 변동성 군집(GARCH)과 거래량의 지속성은 IBM 일별 자료와 모양이 비슷합니다 (Fig. 4~6).
왜 복잡해지나: 시장 상태 칸이 신호(sunspot처럼) 역할을 해서, 우연히 생긴 '오르면 계속 오른다' 같은 쪽지를 쓰는 사람들이 가격을 움직여 그 쪽지를 맞아 보이게 만들고, 이렇게 서로를 강화하는 쪽지 집단이 유지됩니다. 모든 쪽지의 조건을 비교체 #로 고정하면 복잡 체제가 나타나지 않는다는 실험이 이를 뒷받침합니다 (p.17).
주의: 원고 부록의 g 식에는 (1+f)가 한 번만 쓰여 있는데, 원고의 값(σ²_{p+d}=4.0)과 맞추려면 (1+f)²이어야 하고 그래야 g=16.69, 가격 80이 됩니다. 원고 식대로 계산하면 가격이 약 97이 됩니다. 식 (10)과 Table 1의 RE 체제 첨도(왜도와 같은 0.0131)도 오타로 보입니다. 모두 원고 내부 숫자로 검산한 결과입니다.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정리: 이 모형은 외부 충격이 배당 하나뿐인데도, GA가 쪽지를 갱신하는 빈도에 따라 효율적 시장(RE 체제)과 복잡한 시장(복잡 체제)이 모두 나타남을 보입니다. 저자들은 두 견해(학자와 트레이더)가 모두 맞고 체제가 다를 뿐이라고 결론 내립니다 (7절).
레버리지 확장을 위해 짚을 점: (1) 식 (5)의 수요에는 부가 들어 있지 않아서, 증거금과 강제청산은 수요식 바깥의 제약으로 붙여야 합니다. (2) 쪽지는 이익이 아니라 예측 정확도로 평가됩니다. 원고 각주 14는 슬리피지가 있으면 이익 기준과 정확도 기준의 결과가 다를 수 있고, 같은 질적 결과가 나오리라 믿지만 증명하지는 않았다고 인정합니다. (3) 부록 B는 이 틀이 CRRA 효용, 재고를 가진 전문가(시장조성자), 거래세, 부에 의한 에이전트 선택을 허용한다고 말합니다.
세 번째 카드는 원고에 적혀 있지 않아서 구현할 때 정해야 하는 것들입니다. 자세한 목록은 부록 3을 참고하세요.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부록 A와 5절의 값입니다. a와 b의 초기 범위는 RE 값(a=0.95, b≈4.5)을 중심으로 대칭입니다. 초기 분산 4.0은 RE 균형에서의 (가격+배당) 분산입니다. σ²_e=0.0743은 이 분산이 4.0이 되도록 고른 값입니다 (부록 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식 (1)~(3)은 원고 2절 A에서 '연역으로는 기대를 정할 수 없다'는 논증에 쓰입니다. 식 (1)은 차익거래가 완전한 시장의 가격, 식 (2)는 모두가 같은 예상일 때의 닫힌 해, 식 (3)은 이질적일 때 남의 예상의 예상으로 무한소급이 되는 모습입니다 (케인스의 미인대회).
식 (9)는 모두가 1주씩 보유하는 균형입니다. 원고의 g 식과 식 (10)은 σ²_{p+d}=4.0과 숫자가 맞지 않아 오타로 보입니다. 구현 때는 f=6.3333, g=16.688을 쓰고 원고 식은 쓰지 마세요.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표는 구현 단계에서 하나씩 결정하고 문서에 기록해야 할 목록입니다. 원고 내부의 불일치 두 건(활성 쪽지 개수, 상태 칸의 가격 시점)은 어느 쪽을 따를지 정해야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42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산타페 인공주식시장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463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쪽지가 진화하며 시장의 성격이 바뀐다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1031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유전알고리즘(GA) 한 사이클의 순서대로 설명합니다</a:t>
            </a:r>
            <a:endParaRPr lang="en-US" sz="1600" dirty="0"/>
          </a:p>
        </p:txBody>
      </p:sp>
      <p:sp>
        <p:nvSpPr>
          <p:cNvPr id="5" name="cover0"/>
          <p:cNvSpPr/>
          <p:nvPr/>
        </p:nvSpPr>
        <p:spPr>
          <a:xfrm>
            <a:off x="640080" y="2926080"/>
            <a:ext cx="1024128" cy="50292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2926080"/>
            <a:ext cx="1024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초기 쪽지</a:t>
            </a:r>
            <a:endParaRPr lang="en-US" sz="1100" dirty="0"/>
          </a:p>
        </p:txBody>
      </p:sp>
      <p:sp>
        <p:nvSpPr>
          <p:cNvPr id="7" name="cover1"/>
          <p:cNvSpPr/>
          <p:nvPr/>
        </p:nvSpPr>
        <p:spPr>
          <a:xfrm>
            <a:off x="1755648" y="2926080"/>
            <a:ext cx="1024128" cy="50292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755648" y="2926080"/>
            <a:ext cx="1024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시장</a:t>
            </a:r>
            <a:endParaRPr lang="en-US" sz="1100" dirty="0"/>
          </a:p>
        </p:txBody>
      </p:sp>
      <p:sp>
        <p:nvSpPr>
          <p:cNvPr id="9" name="cover2"/>
          <p:cNvSpPr/>
          <p:nvPr/>
        </p:nvSpPr>
        <p:spPr>
          <a:xfrm>
            <a:off x="2871216" y="2926080"/>
            <a:ext cx="1024128" cy="50292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871216" y="2926080"/>
            <a:ext cx="1024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채점</a:t>
            </a:r>
            <a:endParaRPr lang="en-US" sz="1100" dirty="0"/>
          </a:p>
        </p:txBody>
      </p:sp>
      <p:sp>
        <p:nvSpPr>
          <p:cNvPr id="11" name="cover3"/>
          <p:cNvSpPr/>
          <p:nvPr/>
        </p:nvSpPr>
        <p:spPr>
          <a:xfrm>
            <a:off x="3986784" y="2926080"/>
            <a:ext cx="1024128" cy="50292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986784" y="2926080"/>
            <a:ext cx="1024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삭제</a:t>
            </a:r>
            <a:endParaRPr lang="en-US" sz="1100" dirty="0"/>
          </a:p>
        </p:txBody>
      </p:sp>
      <p:sp>
        <p:nvSpPr>
          <p:cNvPr id="13" name="cover4"/>
          <p:cNvSpPr/>
          <p:nvPr/>
        </p:nvSpPr>
        <p:spPr>
          <a:xfrm>
            <a:off x="5102352" y="2926080"/>
            <a:ext cx="1024128" cy="50292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102352" y="2926080"/>
            <a:ext cx="1024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부모</a:t>
            </a:r>
            <a:endParaRPr lang="en-US" sz="1100" dirty="0"/>
          </a:p>
        </p:txBody>
      </p:sp>
      <p:sp>
        <p:nvSpPr>
          <p:cNvPr id="15" name="cover5"/>
          <p:cNvSpPr/>
          <p:nvPr/>
        </p:nvSpPr>
        <p:spPr>
          <a:xfrm>
            <a:off x="6217920" y="2926080"/>
            <a:ext cx="1024128" cy="50292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17920" y="2926080"/>
            <a:ext cx="1024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⑥ 교차·변이</a:t>
            </a:r>
            <a:endParaRPr lang="en-US" sz="1100" dirty="0"/>
          </a:p>
        </p:txBody>
      </p:sp>
      <p:sp>
        <p:nvSpPr>
          <p:cNvPr id="17" name="cover6"/>
          <p:cNvSpPr/>
          <p:nvPr/>
        </p:nvSpPr>
        <p:spPr>
          <a:xfrm>
            <a:off x="7333488" y="2926080"/>
            <a:ext cx="1024128" cy="50292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33488" y="2926080"/>
            <a:ext cx="1024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⑦ 시험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35661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↻ 평균 250기(복잡 체제) 또는 1000기(RE 체제)마다 반복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42976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Arthur, Holland, LeBaron, Palmer &amp; Tayler, "Asset Pricing Under Endogenous Expectations in an Artificial Stock Market" (Dec 12, 1996 working paper)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ep0"/>
          <p:cNvSpPr/>
          <p:nvPr/>
        </p:nvSpPr>
        <p:spPr>
          <a:xfrm>
            <a:off x="457200" y="128016"/>
            <a:ext cx="1097280" cy="256032"/>
          </a:xfrm>
          <a:prstGeom prst="roundRect">
            <a:avLst>
              <a:gd name="adj" fmla="val 1785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2801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초기 쪽지</a:t>
            </a:r>
            <a:endParaRPr lang="en-US" sz="1000" dirty="0"/>
          </a:p>
        </p:txBody>
      </p:sp>
      <p:sp>
        <p:nvSpPr>
          <p:cNvPr id="4" name="step1"/>
          <p:cNvSpPr/>
          <p:nvPr/>
        </p:nvSpPr>
        <p:spPr>
          <a:xfrm>
            <a:off x="1645920" y="128016"/>
            <a:ext cx="1097280" cy="256032"/>
          </a:xfrm>
          <a:prstGeom prst="roundRect">
            <a:avLst>
              <a:gd name="adj" fmla="val 17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645920" y="12801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시장</a:t>
            </a:r>
            <a:endParaRPr lang="en-US" sz="1000" dirty="0"/>
          </a:p>
        </p:txBody>
      </p:sp>
      <p:sp>
        <p:nvSpPr>
          <p:cNvPr id="6" name="step2"/>
          <p:cNvSpPr/>
          <p:nvPr/>
        </p:nvSpPr>
        <p:spPr>
          <a:xfrm>
            <a:off x="2834640" y="128016"/>
            <a:ext cx="1097280" cy="256032"/>
          </a:xfrm>
          <a:prstGeom prst="roundRect">
            <a:avLst>
              <a:gd name="adj" fmla="val 17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834640" y="12801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채점</a:t>
            </a:r>
            <a:endParaRPr lang="en-US" sz="1000" dirty="0"/>
          </a:p>
        </p:txBody>
      </p:sp>
      <p:sp>
        <p:nvSpPr>
          <p:cNvPr id="8" name="step3"/>
          <p:cNvSpPr/>
          <p:nvPr/>
        </p:nvSpPr>
        <p:spPr>
          <a:xfrm>
            <a:off x="4023360" y="128016"/>
            <a:ext cx="1097280" cy="256032"/>
          </a:xfrm>
          <a:prstGeom prst="roundRect">
            <a:avLst>
              <a:gd name="adj" fmla="val 17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023360" y="12801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삭제</a:t>
            </a:r>
            <a:endParaRPr lang="en-US" sz="1000" dirty="0"/>
          </a:p>
        </p:txBody>
      </p:sp>
      <p:sp>
        <p:nvSpPr>
          <p:cNvPr id="10" name="step4"/>
          <p:cNvSpPr/>
          <p:nvPr/>
        </p:nvSpPr>
        <p:spPr>
          <a:xfrm>
            <a:off x="5212080" y="128016"/>
            <a:ext cx="1097280" cy="256032"/>
          </a:xfrm>
          <a:prstGeom prst="roundRect">
            <a:avLst>
              <a:gd name="adj" fmla="val 17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212080" y="12801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부모</a:t>
            </a:r>
            <a:endParaRPr lang="en-US" sz="1000" dirty="0"/>
          </a:p>
        </p:txBody>
      </p:sp>
      <p:sp>
        <p:nvSpPr>
          <p:cNvPr id="12" name="step5"/>
          <p:cNvSpPr/>
          <p:nvPr/>
        </p:nvSpPr>
        <p:spPr>
          <a:xfrm>
            <a:off x="6400800" y="128016"/>
            <a:ext cx="1097280" cy="256032"/>
          </a:xfrm>
          <a:prstGeom prst="roundRect">
            <a:avLst>
              <a:gd name="adj" fmla="val 17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0" y="12801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⑥ 교차·변이</a:t>
            </a:r>
            <a:endParaRPr lang="en-US" sz="1000" dirty="0"/>
          </a:p>
        </p:txBody>
      </p:sp>
      <p:sp>
        <p:nvSpPr>
          <p:cNvPr id="14" name="step6"/>
          <p:cNvSpPr/>
          <p:nvPr/>
        </p:nvSpPr>
        <p:spPr>
          <a:xfrm>
            <a:off x="7589520" y="128016"/>
            <a:ext cx="1097280" cy="256032"/>
          </a:xfrm>
          <a:prstGeom prst="roundRect">
            <a:avLst>
              <a:gd name="adj" fmla="val 17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589520" y="12801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⑦ 시험</a:t>
            </a:r>
            <a:endParaRPr lang="en-US" sz="1000" dirty="0"/>
          </a:p>
        </p:txBody>
      </p:sp>
      <p:sp>
        <p:nvSpPr>
          <p:cNvPr id="16" name="Text 0"/>
          <p:cNvSpPr/>
          <p:nvPr>
            <p:ph idx="100" type="title" hasCustomPrompt="1"/>
          </p:nvPr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① 초기 쪽지: 무작위 100장에서 출발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쪽지 한 장 = 조건 12칸 + 예측 (a, b)</a:t>
            </a:r>
            <a:endParaRPr lang="en-US" sz="1400" dirty="0"/>
          </a:p>
        </p:txBody>
      </p:sp>
      <p:sp>
        <p:nvSpPr>
          <p:cNvPr id="18" name="cell0"/>
          <p:cNvSpPr/>
          <p:nvPr/>
        </p:nvSpPr>
        <p:spPr>
          <a:xfrm>
            <a:off x="457200" y="1417320"/>
            <a:ext cx="347472" cy="41148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" y="1417320"/>
            <a:ext cx="347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20" name="cell1"/>
          <p:cNvSpPr/>
          <p:nvPr/>
        </p:nvSpPr>
        <p:spPr>
          <a:xfrm>
            <a:off x="859536" y="1417320"/>
            <a:ext cx="347472" cy="41148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59536" y="1417320"/>
            <a:ext cx="347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</a:t>
            </a:r>
            <a:endParaRPr lang="en-US" sz="1400" dirty="0"/>
          </a:p>
        </p:txBody>
      </p:sp>
      <p:sp>
        <p:nvSpPr>
          <p:cNvPr id="22" name="cell2"/>
          <p:cNvSpPr/>
          <p:nvPr/>
        </p:nvSpPr>
        <p:spPr>
          <a:xfrm>
            <a:off x="1261872" y="1417320"/>
            <a:ext cx="347472" cy="41148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261872" y="1417320"/>
            <a:ext cx="347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</a:t>
            </a:r>
            <a:endParaRPr lang="en-US" sz="1400" dirty="0"/>
          </a:p>
        </p:txBody>
      </p:sp>
      <p:sp>
        <p:nvSpPr>
          <p:cNvPr id="24" name="cell3"/>
          <p:cNvSpPr/>
          <p:nvPr/>
        </p:nvSpPr>
        <p:spPr>
          <a:xfrm>
            <a:off x="1664208" y="1417320"/>
            <a:ext cx="347472" cy="41148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664208" y="1417320"/>
            <a:ext cx="347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1400" dirty="0"/>
          </a:p>
        </p:txBody>
      </p:sp>
      <p:sp>
        <p:nvSpPr>
          <p:cNvPr id="26" name="cell4"/>
          <p:cNvSpPr/>
          <p:nvPr/>
        </p:nvSpPr>
        <p:spPr>
          <a:xfrm>
            <a:off x="2066544" y="1417320"/>
            <a:ext cx="347472" cy="41148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066544" y="1417320"/>
            <a:ext cx="347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</a:t>
            </a:r>
            <a:endParaRPr lang="en-US" sz="1400" dirty="0"/>
          </a:p>
        </p:txBody>
      </p:sp>
      <p:sp>
        <p:nvSpPr>
          <p:cNvPr id="28" name="cell5"/>
          <p:cNvSpPr/>
          <p:nvPr/>
        </p:nvSpPr>
        <p:spPr>
          <a:xfrm>
            <a:off x="2468880" y="1417320"/>
            <a:ext cx="347472" cy="41148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468880" y="1417320"/>
            <a:ext cx="347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30" name="cell6"/>
          <p:cNvSpPr/>
          <p:nvPr/>
        </p:nvSpPr>
        <p:spPr>
          <a:xfrm>
            <a:off x="2871216" y="1417320"/>
            <a:ext cx="347472" cy="411480"/>
          </a:xfrm>
          <a:prstGeom prst="rect">
            <a:avLst/>
          </a:prstGeom>
          <a:solidFill>
            <a:srgbClr val="E8743B"/>
          </a:solidFill>
          <a:ln w="12700">
            <a:solidFill>
              <a:srgbClr val="E8743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871216" y="1417320"/>
            <a:ext cx="347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</a:t>
            </a:r>
            <a:endParaRPr lang="en-US" sz="1400" dirty="0"/>
          </a:p>
        </p:txBody>
      </p:sp>
      <p:sp>
        <p:nvSpPr>
          <p:cNvPr id="32" name="cell7"/>
          <p:cNvSpPr/>
          <p:nvPr/>
        </p:nvSpPr>
        <p:spPr>
          <a:xfrm>
            <a:off x="3273552" y="1417320"/>
            <a:ext cx="347472" cy="411480"/>
          </a:xfrm>
          <a:prstGeom prst="rect">
            <a:avLst/>
          </a:prstGeom>
          <a:solidFill>
            <a:srgbClr val="E8743B"/>
          </a:solidFill>
          <a:ln w="12700">
            <a:solidFill>
              <a:srgbClr val="E8743B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273552" y="1417320"/>
            <a:ext cx="347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</a:t>
            </a:r>
            <a:endParaRPr lang="en-US" sz="1400" dirty="0"/>
          </a:p>
        </p:txBody>
      </p:sp>
      <p:sp>
        <p:nvSpPr>
          <p:cNvPr id="34" name="cell8"/>
          <p:cNvSpPr/>
          <p:nvPr/>
        </p:nvSpPr>
        <p:spPr>
          <a:xfrm>
            <a:off x="3675888" y="1417320"/>
            <a:ext cx="347472" cy="411480"/>
          </a:xfrm>
          <a:prstGeom prst="rect">
            <a:avLst/>
          </a:prstGeom>
          <a:solidFill>
            <a:srgbClr val="E8743B"/>
          </a:solidFill>
          <a:ln w="12700">
            <a:solidFill>
              <a:srgbClr val="E8743B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3675888" y="1417320"/>
            <a:ext cx="347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</a:t>
            </a:r>
            <a:endParaRPr lang="en-US" sz="1400" dirty="0"/>
          </a:p>
        </p:txBody>
      </p:sp>
      <p:sp>
        <p:nvSpPr>
          <p:cNvPr id="36" name="cell9"/>
          <p:cNvSpPr/>
          <p:nvPr/>
        </p:nvSpPr>
        <p:spPr>
          <a:xfrm>
            <a:off x="4078224" y="1417320"/>
            <a:ext cx="347472" cy="411480"/>
          </a:xfrm>
          <a:prstGeom prst="rect">
            <a:avLst/>
          </a:prstGeom>
          <a:solidFill>
            <a:srgbClr val="E8743B"/>
          </a:solidFill>
          <a:ln w="12700">
            <a:solidFill>
              <a:srgbClr val="E8743B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078224" y="1417320"/>
            <a:ext cx="347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</a:t>
            </a:r>
            <a:endParaRPr lang="en-US" sz="1400" dirty="0"/>
          </a:p>
        </p:txBody>
      </p:sp>
      <p:sp>
        <p:nvSpPr>
          <p:cNvPr id="38" name="cell10"/>
          <p:cNvSpPr/>
          <p:nvPr/>
        </p:nvSpPr>
        <p:spPr>
          <a:xfrm>
            <a:off x="4480560" y="1417320"/>
            <a:ext cx="347472" cy="411480"/>
          </a:xfrm>
          <a:prstGeom prst="rect">
            <a:avLst/>
          </a:prstGeom>
          <a:solidFill>
            <a:srgbClr val="6C8EA4"/>
          </a:solidFill>
          <a:ln w="12700">
            <a:solidFill>
              <a:srgbClr val="6C8EA4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4480560" y="1417320"/>
            <a:ext cx="347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</a:t>
            </a:r>
            <a:endParaRPr lang="en-US" sz="1400" dirty="0"/>
          </a:p>
        </p:txBody>
      </p:sp>
      <p:sp>
        <p:nvSpPr>
          <p:cNvPr id="40" name="cell11"/>
          <p:cNvSpPr/>
          <p:nvPr/>
        </p:nvSpPr>
        <p:spPr>
          <a:xfrm>
            <a:off x="4882896" y="1417320"/>
            <a:ext cx="347472" cy="411480"/>
          </a:xfrm>
          <a:prstGeom prst="rect">
            <a:avLst/>
          </a:prstGeom>
          <a:solidFill>
            <a:srgbClr val="6C8EA4"/>
          </a:solidFill>
          <a:ln w="12700">
            <a:solidFill>
              <a:srgbClr val="6C8EA4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4882896" y="1417320"/>
            <a:ext cx="347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457200" y="192024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1~6번  배당 대비 가격이 비싼가 (펀더멘털)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chemeClr val="accent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7~10번  가격이 5·10·100·500기 평균보다 높은가 (기술적)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chemeClr val="accent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11번 = 항상 1, 12번 = 항상 0  (정보 없는 통제용)</a:t>
            </a:r>
            <a:endParaRPr lang="en-US" sz="1200" dirty="0"/>
          </a:p>
        </p:txBody>
      </p:sp>
      <p:sp>
        <p:nvSpPr>
          <p:cNvPr id="43" name="pred"/>
          <p:cNvSpPr/>
          <p:nvPr/>
        </p:nvSpPr>
        <p:spPr>
          <a:xfrm>
            <a:off x="457200" y="2697480"/>
            <a:ext cx="4846320" cy="82296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594360" y="2724912"/>
            <a:ext cx="45720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예측: 내일 (가격+배당) = a × 오늘 (가격+배당) + b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예시: a = 0.96, b = 0 이면 "오늘 값의 96%"로 예상 (원고의 예)</a:t>
            </a:r>
            <a:endParaRPr lang="en-US" sz="1300" dirty="0"/>
          </a:p>
        </p:txBody>
      </p:sp>
      <p:sp>
        <p:nvSpPr>
          <p:cNvPr id="45" name="init"/>
          <p:cNvSpPr/>
          <p:nvPr/>
        </p:nvSpPr>
        <p:spPr>
          <a:xfrm>
            <a:off x="5486400" y="1417320"/>
            <a:ext cx="3200400" cy="2103120"/>
          </a:xfrm>
          <a:prstGeom prst="roundRect">
            <a:avLst>
              <a:gd name="adj" fmla="val 26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5623560" y="1463040"/>
            <a:ext cx="2971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초기화 (무작위)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투자자 25명 × 쪽지 100장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칸: 90% `#`, 0 또는 1은 합쳐 10%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a: 0.7 ~ 1.2 균등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b: −10 ~ 19.002 균등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분산: 4.0 (RE 값)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모두 `#`인 기본 쪽지 1장</a:t>
            </a:r>
            <a:endParaRPr lang="en-US" sz="1200" dirty="0"/>
          </a:p>
        </p:txBody>
      </p:sp>
      <p:sp>
        <p:nvSpPr>
          <p:cNvPr id="47" name="eqbox"/>
          <p:cNvSpPr/>
          <p:nvPr/>
        </p:nvSpPr>
        <p:spPr>
          <a:xfrm>
            <a:off x="457200" y="3703320"/>
            <a:ext cx="4023360" cy="1069848"/>
          </a:xfrm>
          <a:prstGeom prst="roundRect">
            <a:avLst>
              <a:gd name="adj" fmla="val 512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566928" y="3730752"/>
            <a:ext cx="3822192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장에서 쓰는 식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식 (4)  d_t = d̄ + ρ(d_{t−1} − d̄) + ε_t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예측식  E(p+d) = a(p_t + d_t) + b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d̄=10 평균 · ρ=0.95 지속성 · ε 충격(분산 0.0743) · a, b 예측 계수 · # 상관없음</a:t>
            </a:r>
            <a:endParaRPr lang="en-US" sz="1200" dirty="0"/>
          </a:p>
        </p:txBody>
      </p:sp>
      <p:sp>
        <p:nvSpPr>
          <p:cNvPr id="49" name="qbox"/>
          <p:cNvSpPr/>
          <p:nvPr/>
        </p:nvSpPr>
        <p:spPr>
          <a:xfrm>
            <a:off x="4663440" y="3703320"/>
            <a:ext cx="4023360" cy="1069848"/>
          </a:xfrm>
          <a:prstGeom prst="roundRect">
            <a:avLst>
              <a:gd name="adj" fmla="val 512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4773168" y="3730752"/>
            <a:ext cx="3822192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chemeClr val="accent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헷갈리기 쉬운 점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Q. 12칸은 누가 정하나?  → 연구자가 정한 고정 질문. 매일 바뀌는 것은 답(0/1)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Q. a, b는 고정인가?  → 기존 쪽지의 a,b는 매일 고치지 않음. GA가 새 쪽지를 만들 때만 새 값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ep0"/>
          <p:cNvSpPr/>
          <p:nvPr/>
        </p:nvSpPr>
        <p:spPr>
          <a:xfrm>
            <a:off x="457200" y="128016"/>
            <a:ext cx="1097280" cy="256032"/>
          </a:xfrm>
          <a:prstGeom prst="roundRect">
            <a:avLst>
              <a:gd name="adj" fmla="val 17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2801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초기 쪽지</a:t>
            </a:r>
            <a:endParaRPr lang="en-US" sz="1000" dirty="0"/>
          </a:p>
        </p:txBody>
      </p:sp>
      <p:sp>
        <p:nvSpPr>
          <p:cNvPr id="4" name="step1"/>
          <p:cNvSpPr/>
          <p:nvPr/>
        </p:nvSpPr>
        <p:spPr>
          <a:xfrm>
            <a:off x="1645920" y="128016"/>
            <a:ext cx="1097280" cy="256032"/>
          </a:xfrm>
          <a:prstGeom prst="roundRect">
            <a:avLst>
              <a:gd name="adj" fmla="val 1785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645920" y="12801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시장</a:t>
            </a:r>
            <a:endParaRPr lang="en-US" sz="1000" dirty="0"/>
          </a:p>
        </p:txBody>
      </p:sp>
      <p:sp>
        <p:nvSpPr>
          <p:cNvPr id="6" name="step2"/>
          <p:cNvSpPr/>
          <p:nvPr/>
        </p:nvSpPr>
        <p:spPr>
          <a:xfrm>
            <a:off x="2834640" y="128016"/>
            <a:ext cx="1097280" cy="256032"/>
          </a:xfrm>
          <a:prstGeom prst="roundRect">
            <a:avLst>
              <a:gd name="adj" fmla="val 17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834640" y="12801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채점</a:t>
            </a:r>
            <a:endParaRPr lang="en-US" sz="1000" dirty="0"/>
          </a:p>
        </p:txBody>
      </p:sp>
      <p:sp>
        <p:nvSpPr>
          <p:cNvPr id="8" name="step3"/>
          <p:cNvSpPr/>
          <p:nvPr/>
        </p:nvSpPr>
        <p:spPr>
          <a:xfrm>
            <a:off x="4023360" y="128016"/>
            <a:ext cx="1097280" cy="256032"/>
          </a:xfrm>
          <a:prstGeom prst="roundRect">
            <a:avLst>
              <a:gd name="adj" fmla="val 17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023360" y="12801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삭제</a:t>
            </a:r>
            <a:endParaRPr lang="en-US" sz="1000" dirty="0"/>
          </a:p>
        </p:txBody>
      </p:sp>
      <p:sp>
        <p:nvSpPr>
          <p:cNvPr id="10" name="step4"/>
          <p:cNvSpPr/>
          <p:nvPr/>
        </p:nvSpPr>
        <p:spPr>
          <a:xfrm>
            <a:off x="5212080" y="128016"/>
            <a:ext cx="1097280" cy="256032"/>
          </a:xfrm>
          <a:prstGeom prst="roundRect">
            <a:avLst>
              <a:gd name="adj" fmla="val 17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212080" y="12801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부모</a:t>
            </a:r>
            <a:endParaRPr lang="en-US" sz="1000" dirty="0"/>
          </a:p>
        </p:txBody>
      </p:sp>
      <p:sp>
        <p:nvSpPr>
          <p:cNvPr id="12" name="step5"/>
          <p:cNvSpPr/>
          <p:nvPr/>
        </p:nvSpPr>
        <p:spPr>
          <a:xfrm>
            <a:off x="6400800" y="128016"/>
            <a:ext cx="1097280" cy="256032"/>
          </a:xfrm>
          <a:prstGeom prst="roundRect">
            <a:avLst>
              <a:gd name="adj" fmla="val 17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0" y="12801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⑥ 교차·변이</a:t>
            </a:r>
            <a:endParaRPr lang="en-US" sz="1000" dirty="0"/>
          </a:p>
        </p:txBody>
      </p:sp>
      <p:sp>
        <p:nvSpPr>
          <p:cNvPr id="14" name="step6"/>
          <p:cNvSpPr/>
          <p:nvPr/>
        </p:nvSpPr>
        <p:spPr>
          <a:xfrm>
            <a:off x="7589520" y="128016"/>
            <a:ext cx="1097280" cy="256032"/>
          </a:xfrm>
          <a:prstGeom prst="roundRect">
            <a:avLst>
              <a:gd name="adj" fmla="val 17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589520" y="12801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⑦ 시험</a:t>
            </a:r>
            <a:endParaRPr lang="en-US" sz="1000" dirty="0"/>
          </a:p>
        </p:txBody>
      </p:sp>
      <p:sp>
        <p:nvSpPr>
          <p:cNvPr id="16" name="Text 0"/>
          <p:cNvSpPr/>
          <p:nvPr>
            <p:ph idx="100" type="title" hasCustomPrompt="1"/>
          </p:nvPr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② 시장 돌리기: 예상 → 수요 → 가격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가격은 아무도 정하지 않고, 수요가 모이는 곳에서 나온다</a:t>
            </a:r>
            <a:endParaRPr lang="en-US" sz="1400" dirty="0"/>
          </a:p>
        </p:txBody>
      </p:sp>
      <p:sp>
        <p:nvSpPr>
          <p:cNvPr id="18" name="flow0"/>
          <p:cNvSpPr/>
          <p:nvPr/>
        </p:nvSpPr>
        <p:spPr>
          <a:xfrm>
            <a:off x="457200" y="1417320"/>
            <a:ext cx="1508760" cy="731520"/>
          </a:xfrm>
          <a:prstGeom prst="roundRect">
            <a:avLst>
              <a:gd name="adj" fmla="val 75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02920" y="141732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배당 d_t 공시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965960" y="1417320"/>
            <a:ext cx="1737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000" dirty="0"/>
          </a:p>
        </p:txBody>
      </p:sp>
      <p:sp>
        <p:nvSpPr>
          <p:cNvPr id="21" name="flow1"/>
          <p:cNvSpPr/>
          <p:nvPr/>
        </p:nvSpPr>
        <p:spPr>
          <a:xfrm>
            <a:off x="2139696" y="1417320"/>
            <a:ext cx="1508760" cy="731520"/>
          </a:xfrm>
          <a:prstGeom prst="roundRect">
            <a:avLst>
              <a:gd name="adj" fmla="val 75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185416" y="141732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12칸의 답 확인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3648456" y="1417320"/>
            <a:ext cx="1737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000" dirty="0"/>
          </a:p>
        </p:txBody>
      </p:sp>
      <p:sp>
        <p:nvSpPr>
          <p:cNvPr id="24" name="flow2"/>
          <p:cNvSpPr/>
          <p:nvPr/>
        </p:nvSpPr>
        <p:spPr>
          <a:xfrm>
            <a:off x="3822192" y="1417320"/>
            <a:ext cx="1508760" cy="731520"/>
          </a:xfrm>
          <a:prstGeom prst="roundRect">
            <a:avLst>
              <a:gd name="adj" fmla="val 75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867912" y="141732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활성 쪽지 선택 (가장 정확한 것)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330952" y="1417320"/>
            <a:ext cx="1737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000" dirty="0"/>
          </a:p>
        </p:txBody>
      </p:sp>
      <p:sp>
        <p:nvSpPr>
          <p:cNvPr id="27" name="flow3"/>
          <p:cNvSpPr/>
          <p:nvPr/>
        </p:nvSpPr>
        <p:spPr>
          <a:xfrm>
            <a:off x="5504688" y="1417320"/>
            <a:ext cx="1508760" cy="731520"/>
          </a:xfrm>
          <a:prstGeom prst="roundRect">
            <a:avLst>
              <a:gd name="adj" fmla="val 75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550408" y="141732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수요함수 x(p) 제출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013448" y="1417320"/>
            <a:ext cx="1737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000" dirty="0"/>
          </a:p>
        </p:txBody>
      </p:sp>
      <p:sp>
        <p:nvSpPr>
          <p:cNvPr id="30" name="flow4"/>
          <p:cNvSpPr/>
          <p:nvPr/>
        </p:nvSpPr>
        <p:spPr>
          <a:xfrm>
            <a:off x="7187184" y="1417320"/>
            <a:ext cx="1508760" cy="731520"/>
          </a:xfrm>
          <a:prstGeom prst="roundRect">
            <a:avLst>
              <a:gd name="adj" fmla="val 75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232904" y="141732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전문가가 Σx=25인 p 선언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286000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280160"/>
                <a:gridCol w="2377440"/>
                <a:gridCol w="1188720"/>
                <a:gridCol w="192024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그룹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쪽지의 b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가격 83.47에서 1인 수량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인원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합계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426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 (평범)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426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426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0.74주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426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12명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426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8.88주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426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 (낙관)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426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5.5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426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1.24주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426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13명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426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16.12주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426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합계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426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426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426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25명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426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25.0주 = 공급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3" name="Text 30"/>
          <p:cNvSpPr txBox="1"/>
          <p:nvPr/>
        </p:nvSpPr>
        <p:spPr>
          <a:xfrm>
            <a:off x="457200" y="34564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예시(식 (5)(6)에 제가 값을 넣어 계산): d=10, a=0.95, λσ²=2. 모두 b=4.5이면 가격 80, 낙관이 섞이면 83.47</a:t>
            </a:r>
            <a:endParaRPr lang="en-US" sz="1100" dirty="0"/>
          </a:p>
        </p:txBody>
      </p:sp>
      <p:sp>
        <p:nvSpPr>
          <p:cNvPr id="34" name="eqbox"/>
          <p:cNvSpPr/>
          <p:nvPr/>
        </p:nvSpPr>
        <p:spPr>
          <a:xfrm>
            <a:off x="457200" y="3703320"/>
            <a:ext cx="4023360" cy="1069848"/>
          </a:xfrm>
          <a:prstGeom prst="roundRect">
            <a:avLst>
              <a:gd name="adj" fmla="val 512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566928" y="3730752"/>
            <a:ext cx="3822192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장에서 쓰는 식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식 (5)  x = [예상 − p(1+r)] / (λσ²)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식 (6)  Σ x_i = N  (N = 25)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 수량 · 예상 = a(p+d)+b · r=0.1 · λ=0.5 위험회피 · σ² 분산(초기 4.0)</a:t>
            </a:r>
            <a:endParaRPr lang="en-US" sz="1200" dirty="0"/>
          </a:p>
        </p:txBody>
      </p:sp>
      <p:sp>
        <p:nvSpPr>
          <p:cNvPr id="36" name="qbox"/>
          <p:cNvSpPr/>
          <p:nvPr/>
        </p:nvSpPr>
        <p:spPr>
          <a:xfrm>
            <a:off x="4663440" y="3703320"/>
            <a:ext cx="4023360" cy="1069848"/>
          </a:xfrm>
          <a:prstGeom prst="roundRect">
            <a:avLst>
              <a:gd name="adj" fmla="val 512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4773168" y="3730752"/>
            <a:ext cx="3822192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chemeClr val="accent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헷갈리기 쉬운 점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Q. 쪽지만 보고 사나, 가격을 보고 사나?  → 둘 다. 쪽지가 예상을, 가격이 비교 기준 p(1+r)을 정함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Q. 가격은 최적값인가?  → 최적은 각자의 수량. 가격은 Σx=N인 청산가격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ep0"/>
          <p:cNvSpPr/>
          <p:nvPr/>
        </p:nvSpPr>
        <p:spPr>
          <a:xfrm>
            <a:off x="457200" y="128016"/>
            <a:ext cx="1097280" cy="256032"/>
          </a:xfrm>
          <a:prstGeom prst="roundRect">
            <a:avLst>
              <a:gd name="adj" fmla="val 17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2801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초기 쪽지</a:t>
            </a:r>
            <a:endParaRPr lang="en-US" sz="1000" dirty="0"/>
          </a:p>
        </p:txBody>
      </p:sp>
      <p:sp>
        <p:nvSpPr>
          <p:cNvPr id="4" name="step1"/>
          <p:cNvSpPr/>
          <p:nvPr/>
        </p:nvSpPr>
        <p:spPr>
          <a:xfrm>
            <a:off x="1645920" y="128016"/>
            <a:ext cx="1097280" cy="256032"/>
          </a:xfrm>
          <a:prstGeom prst="roundRect">
            <a:avLst>
              <a:gd name="adj" fmla="val 17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645920" y="12801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시장</a:t>
            </a:r>
            <a:endParaRPr lang="en-US" sz="1000" dirty="0"/>
          </a:p>
        </p:txBody>
      </p:sp>
      <p:sp>
        <p:nvSpPr>
          <p:cNvPr id="6" name="step2"/>
          <p:cNvSpPr/>
          <p:nvPr/>
        </p:nvSpPr>
        <p:spPr>
          <a:xfrm>
            <a:off x="2834640" y="128016"/>
            <a:ext cx="1097280" cy="256032"/>
          </a:xfrm>
          <a:prstGeom prst="roundRect">
            <a:avLst>
              <a:gd name="adj" fmla="val 1785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834640" y="12801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채점</a:t>
            </a:r>
            <a:endParaRPr lang="en-US" sz="1000" dirty="0"/>
          </a:p>
        </p:txBody>
      </p:sp>
      <p:sp>
        <p:nvSpPr>
          <p:cNvPr id="8" name="step3"/>
          <p:cNvSpPr/>
          <p:nvPr/>
        </p:nvSpPr>
        <p:spPr>
          <a:xfrm>
            <a:off x="4023360" y="128016"/>
            <a:ext cx="1097280" cy="256032"/>
          </a:xfrm>
          <a:prstGeom prst="roundRect">
            <a:avLst>
              <a:gd name="adj" fmla="val 17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023360" y="12801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삭제</a:t>
            </a:r>
            <a:endParaRPr lang="en-US" sz="1000" dirty="0"/>
          </a:p>
        </p:txBody>
      </p:sp>
      <p:sp>
        <p:nvSpPr>
          <p:cNvPr id="10" name="step4"/>
          <p:cNvSpPr/>
          <p:nvPr/>
        </p:nvSpPr>
        <p:spPr>
          <a:xfrm>
            <a:off x="5212080" y="128016"/>
            <a:ext cx="1097280" cy="256032"/>
          </a:xfrm>
          <a:prstGeom prst="roundRect">
            <a:avLst>
              <a:gd name="adj" fmla="val 17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212080" y="12801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부모</a:t>
            </a:r>
            <a:endParaRPr lang="en-US" sz="1000" dirty="0"/>
          </a:p>
        </p:txBody>
      </p:sp>
      <p:sp>
        <p:nvSpPr>
          <p:cNvPr id="12" name="step5"/>
          <p:cNvSpPr/>
          <p:nvPr/>
        </p:nvSpPr>
        <p:spPr>
          <a:xfrm>
            <a:off x="6400800" y="128016"/>
            <a:ext cx="1097280" cy="256032"/>
          </a:xfrm>
          <a:prstGeom prst="roundRect">
            <a:avLst>
              <a:gd name="adj" fmla="val 17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0" y="12801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⑥ 교차·변이</a:t>
            </a:r>
            <a:endParaRPr lang="en-US" sz="1000" dirty="0"/>
          </a:p>
        </p:txBody>
      </p:sp>
      <p:sp>
        <p:nvSpPr>
          <p:cNvPr id="14" name="step6"/>
          <p:cNvSpPr/>
          <p:nvPr/>
        </p:nvSpPr>
        <p:spPr>
          <a:xfrm>
            <a:off x="7589520" y="128016"/>
            <a:ext cx="1097280" cy="256032"/>
          </a:xfrm>
          <a:prstGeom prst="roundRect">
            <a:avLst>
              <a:gd name="adj" fmla="val 17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589520" y="12801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⑦ 시험</a:t>
            </a:r>
            <a:endParaRPr lang="en-US" sz="1000" dirty="0"/>
          </a:p>
        </p:txBody>
      </p:sp>
      <p:sp>
        <p:nvSpPr>
          <p:cNvPr id="16" name="Text 0"/>
          <p:cNvSpPr/>
          <p:nvPr>
            <p:ph idx="100" type="title" hasCustomPrompt="1"/>
          </p:nvPr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③ 채점: 맞힌 쪽지가 점수를 얻는다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오차는 작을수록, 조건은 단순할수록 좋은 점수</a:t>
            </a:r>
            <a:endParaRPr lang="en-US" sz="1400" dirty="0"/>
          </a:p>
        </p:txBody>
      </p:sp>
      <p:sp>
        <p:nvSpPr>
          <p:cNvPr id="18" name="upd"/>
          <p:cNvSpPr/>
          <p:nvPr/>
        </p:nvSpPr>
        <p:spPr>
          <a:xfrm>
            <a:off x="457200" y="1417320"/>
            <a:ext cx="4023360" cy="150876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94360" y="1463040"/>
            <a:ext cx="3794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정확도 갱신 (그 기에 활성이었던 쪽지)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예: 옛 오차 e² = 4.0, 이번 오차 3이면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e² = (74/75)×4.0 + (1/75)×3² = 4.07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θ: 1/75(복잡), 1/150(RE). 클수록 최근 오차를 중시</a:t>
            </a:r>
            <a:endParaRPr lang="en-US" sz="1300" dirty="0"/>
          </a:p>
        </p:txBody>
      </p:sp>
      <p:sp>
        <p:nvSpPr>
          <p:cNvPr id="20" name="fit"/>
          <p:cNvSpPr/>
          <p:nvPr/>
        </p:nvSpPr>
        <p:spPr>
          <a:xfrm>
            <a:off x="4663440" y="1417320"/>
            <a:ext cx="4023360" cy="150876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00600" y="14630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점수 비교 예시 (C = 0.005)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00600" y="1783080"/>
          <a:ext cx="374904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731520"/>
                <a:gridCol w="1097280"/>
                <a:gridCol w="118872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쪽지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e²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정한 칸 s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점수 −e²−C·s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426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X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426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4.00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426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426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−4.010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426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Y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426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3.99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426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426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−4.030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Text 20"/>
          <p:cNvSpPr txBox="1"/>
          <p:nvPr/>
        </p:nvSpPr>
        <p:spPr>
          <a:xfrm>
            <a:off x="4800600" y="26060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Y가 더 정확해도 칸이 많아 X가 이긴다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457200" y="3063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정확도 e²의 세 가지 쓰임: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활성 쪽지 선택   ② GA 적합도   ③ 수요식의 분산 (GA 호출 때 갱신)</a:t>
            </a:r>
            <a:endParaRPr lang="en-US" sz="1400" dirty="0"/>
          </a:p>
        </p:txBody>
      </p:sp>
      <p:sp>
        <p:nvSpPr>
          <p:cNvPr id="25" name="eqbox"/>
          <p:cNvSpPr/>
          <p:nvPr/>
        </p:nvSpPr>
        <p:spPr>
          <a:xfrm>
            <a:off x="457200" y="3703320"/>
            <a:ext cx="4023360" cy="1069848"/>
          </a:xfrm>
          <a:prstGeom prst="roundRect">
            <a:avLst>
              <a:gd name="adj" fmla="val 512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66928" y="3730752"/>
            <a:ext cx="3822192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장에서 쓰는 식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식 (7)  e²_t = (1−θ)e²_{t−1} + θ[실제 − 예상]²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식 (8)  f = M − e² − C·s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θ 갱신 비율 · C=0.005 칸당 벌점 · s 정한 칸 수 · M 상수(쪽지 수 M=100과 다름)</a:t>
            </a:r>
            <a:endParaRPr lang="en-US" sz="1200" dirty="0"/>
          </a:p>
        </p:txBody>
      </p:sp>
      <p:sp>
        <p:nvSpPr>
          <p:cNvPr id="27" name="qbox"/>
          <p:cNvSpPr/>
          <p:nvPr/>
        </p:nvSpPr>
        <p:spPr>
          <a:xfrm>
            <a:off x="4663440" y="3703320"/>
            <a:ext cx="4023360" cy="1069848"/>
          </a:xfrm>
          <a:prstGeom prst="roundRect">
            <a:avLst>
              <a:gd name="adj" fmla="val 512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4773168" y="3730752"/>
            <a:ext cx="3822192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chemeClr val="accent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헷갈리기 쉬운 점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Q. 쪽지 고르기와 GA는 같은가?  → 아니오. 매 기엔 활성 쪽지 선택, GA는 평균 K기마다 쪽지 풀 갱신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Q. 누구의 정확도가 갱신되나?  → 그 기에 활성이었던 쪽지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ep0"/>
          <p:cNvSpPr/>
          <p:nvPr/>
        </p:nvSpPr>
        <p:spPr>
          <a:xfrm>
            <a:off x="457200" y="128016"/>
            <a:ext cx="1097280" cy="256032"/>
          </a:xfrm>
          <a:prstGeom prst="roundRect">
            <a:avLst>
              <a:gd name="adj" fmla="val 17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2801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초기 쪽지</a:t>
            </a:r>
            <a:endParaRPr lang="en-US" sz="1000" dirty="0"/>
          </a:p>
        </p:txBody>
      </p:sp>
      <p:sp>
        <p:nvSpPr>
          <p:cNvPr id="4" name="step1"/>
          <p:cNvSpPr/>
          <p:nvPr/>
        </p:nvSpPr>
        <p:spPr>
          <a:xfrm>
            <a:off x="1645920" y="128016"/>
            <a:ext cx="1097280" cy="256032"/>
          </a:xfrm>
          <a:prstGeom prst="roundRect">
            <a:avLst>
              <a:gd name="adj" fmla="val 17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645920" y="12801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시장</a:t>
            </a:r>
            <a:endParaRPr lang="en-US" sz="1000" dirty="0"/>
          </a:p>
        </p:txBody>
      </p:sp>
      <p:sp>
        <p:nvSpPr>
          <p:cNvPr id="6" name="step2"/>
          <p:cNvSpPr/>
          <p:nvPr/>
        </p:nvSpPr>
        <p:spPr>
          <a:xfrm>
            <a:off x="2834640" y="128016"/>
            <a:ext cx="1097280" cy="256032"/>
          </a:xfrm>
          <a:prstGeom prst="roundRect">
            <a:avLst>
              <a:gd name="adj" fmla="val 17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834640" y="12801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채점</a:t>
            </a:r>
            <a:endParaRPr lang="en-US" sz="1000" dirty="0"/>
          </a:p>
        </p:txBody>
      </p:sp>
      <p:sp>
        <p:nvSpPr>
          <p:cNvPr id="8" name="step3"/>
          <p:cNvSpPr/>
          <p:nvPr/>
        </p:nvSpPr>
        <p:spPr>
          <a:xfrm>
            <a:off x="4023360" y="128016"/>
            <a:ext cx="1097280" cy="256032"/>
          </a:xfrm>
          <a:prstGeom prst="roundRect">
            <a:avLst>
              <a:gd name="adj" fmla="val 1785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023360" y="12801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삭제</a:t>
            </a:r>
            <a:endParaRPr lang="en-US" sz="1000" dirty="0"/>
          </a:p>
        </p:txBody>
      </p:sp>
      <p:sp>
        <p:nvSpPr>
          <p:cNvPr id="10" name="step4"/>
          <p:cNvSpPr/>
          <p:nvPr/>
        </p:nvSpPr>
        <p:spPr>
          <a:xfrm>
            <a:off x="5212080" y="128016"/>
            <a:ext cx="1097280" cy="256032"/>
          </a:xfrm>
          <a:prstGeom prst="roundRect">
            <a:avLst>
              <a:gd name="adj" fmla="val 1785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212080" y="12801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부모</a:t>
            </a:r>
            <a:endParaRPr lang="en-US" sz="1000" dirty="0"/>
          </a:p>
        </p:txBody>
      </p:sp>
      <p:sp>
        <p:nvSpPr>
          <p:cNvPr id="12" name="step5"/>
          <p:cNvSpPr/>
          <p:nvPr/>
        </p:nvSpPr>
        <p:spPr>
          <a:xfrm>
            <a:off x="6400800" y="128016"/>
            <a:ext cx="1097280" cy="256032"/>
          </a:xfrm>
          <a:prstGeom prst="roundRect">
            <a:avLst>
              <a:gd name="adj" fmla="val 17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0" y="12801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⑥ 교차·변이</a:t>
            </a:r>
            <a:endParaRPr lang="en-US" sz="1000" dirty="0"/>
          </a:p>
        </p:txBody>
      </p:sp>
      <p:sp>
        <p:nvSpPr>
          <p:cNvPr id="14" name="step6"/>
          <p:cNvSpPr/>
          <p:nvPr/>
        </p:nvSpPr>
        <p:spPr>
          <a:xfrm>
            <a:off x="7589520" y="128016"/>
            <a:ext cx="1097280" cy="256032"/>
          </a:xfrm>
          <a:prstGeom prst="roundRect">
            <a:avLst>
              <a:gd name="adj" fmla="val 17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589520" y="12801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⑦ 시험</a:t>
            </a:r>
            <a:endParaRPr lang="en-US" sz="1000" dirty="0"/>
          </a:p>
        </p:txBody>
      </p:sp>
      <p:sp>
        <p:nvSpPr>
          <p:cNvPr id="16" name="Text 0"/>
          <p:cNvSpPr/>
          <p:nvPr>
            <p:ph idx="100" type="title" hasCustomPrompt="1"/>
          </p:nvPr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④⑤ 삭제와 부모 선택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못한 20%는 버리고, 잘한 쪽지가 부모가 된다</a:t>
            </a:r>
            <a:endParaRPr lang="en-US" sz="1400" dirty="0"/>
          </a:p>
        </p:txBody>
      </p:sp>
      <p:sp>
        <p:nvSpPr>
          <p:cNvPr id="18" name="del"/>
          <p:cNvSpPr/>
          <p:nvPr/>
        </p:nvSpPr>
        <p:spPr>
          <a:xfrm>
            <a:off x="457200" y="1417320"/>
            <a:ext cx="1645920" cy="548640"/>
          </a:xfrm>
          <a:prstGeom prst="roundRect">
            <a:avLst>
              <a:gd name="adj" fmla="val 1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" y="14173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삭제 20장</a:t>
            </a:r>
            <a:endParaRPr lang="en-US" sz="1400" dirty="0"/>
          </a:p>
        </p:txBody>
      </p:sp>
      <p:sp>
        <p:nvSpPr>
          <p:cNvPr id="20" name="keep"/>
          <p:cNvSpPr/>
          <p:nvPr/>
        </p:nvSpPr>
        <p:spPr>
          <a:xfrm>
            <a:off x="2103120" y="1417320"/>
            <a:ext cx="6583680" cy="54864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103120" y="141732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남는 80장  (최저 20%를 버림, 100장 중)</a:t>
            </a:r>
            <a:endParaRPr lang="en-US" sz="1400" dirty="0"/>
          </a:p>
        </p:txBody>
      </p:sp>
      <p:sp>
        <p:nvSpPr>
          <p:cNvPr id="22" name="parent"/>
          <p:cNvSpPr/>
          <p:nvPr/>
        </p:nvSpPr>
        <p:spPr>
          <a:xfrm>
            <a:off x="457200" y="2148840"/>
            <a:ext cx="4023360" cy="1417320"/>
          </a:xfrm>
          <a:prstGeom prst="roundRect">
            <a:avLst>
              <a:gd name="adj" fmla="val 38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94360" y="2194560"/>
            <a:ext cx="3794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부모 뽑기 (원고의 서술)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정확도(적합도 f)가 높을수록 부모가 될 가능성이 높다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정한 칸(s)이 많을수록 선택 확률이 약간 낮다 → 쓸모없는 칸이 #로 돌아가는 약한 흐름</a:t>
            </a:r>
            <a:endParaRPr lang="en-US" sz="1200" dirty="0"/>
          </a:p>
        </p:txBody>
      </p:sp>
      <p:sp>
        <p:nvSpPr>
          <p:cNvPr id="24" name="nodoc"/>
          <p:cNvSpPr/>
          <p:nvPr/>
        </p:nvSpPr>
        <p:spPr>
          <a:xfrm>
            <a:off x="4663440" y="2148840"/>
            <a:ext cx="4023360" cy="1417320"/>
          </a:xfrm>
          <a:prstGeom prst="roundRect">
            <a:avLst>
              <a:gd name="adj" fmla="val 3871"/>
            </a:avLst>
          </a:prstGeom>
          <a:solidFill>
            <a:srgbClr val="FBEFCB"/>
          </a:solidFill>
          <a:ln w="12700">
            <a:solidFill>
              <a:srgbClr val="FBEFC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800600" y="2194560"/>
            <a:ext cx="3794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chemeClr val="accent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원고에 없음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"2개를 뽑아 비교"하는 구체적 절차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부모를 80개에서 뽑는지 100개에서 뽑는지 (구현 선택)</a:t>
            </a:r>
            <a:endParaRPr lang="en-US" sz="1200" dirty="0"/>
          </a:p>
        </p:txBody>
      </p:sp>
      <p:sp>
        <p:nvSpPr>
          <p:cNvPr id="26" name="eqbox"/>
          <p:cNvSpPr/>
          <p:nvPr/>
        </p:nvSpPr>
        <p:spPr>
          <a:xfrm>
            <a:off x="457200" y="3703320"/>
            <a:ext cx="4023360" cy="1069848"/>
          </a:xfrm>
          <a:prstGeom prst="roundRect">
            <a:avLst>
              <a:gd name="adj" fmla="val 512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66928" y="3730752"/>
            <a:ext cx="3822192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장에서 쓰는 식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식 (8) 다시 사용  f = M − e² − C·s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 적합도(클수록 유리) · s 정한 칸 수</a:t>
            </a:r>
            <a:endParaRPr lang="en-US" sz="1200" dirty="0"/>
          </a:p>
        </p:txBody>
      </p:sp>
      <p:sp>
        <p:nvSpPr>
          <p:cNvPr id="28" name="qbox"/>
          <p:cNvSpPr/>
          <p:nvPr/>
        </p:nvSpPr>
        <p:spPr>
          <a:xfrm>
            <a:off x="4663440" y="3703320"/>
            <a:ext cx="4023360" cy="1069848"/>
          </a:xfrm>
          <a:prstGeom prst="roundRect">
            <a:avLst>
              <a:gd name="adj" fmla="val 512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773168" y="3730752"/>
            <a:ext cx="3822192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chemeClr val="accent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헷갈리기 쉬운 점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Q. 우월한 쪽지가 자식이 되나?  → 아니오. 부모가 되고, 자식은 교차·변이로 만든 새 쪽지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Q. 20개를 빼면 몇 개 남나?  → 80개 (그 자리를 새 쪽지 20장으로 채움)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ep0"/>
          <p:cNvSpPr/>
          <p:nvPr/>
        </p:nvSpPr>
        <p:spPr>
          <a:xfrm>
            <a:off x="457200" y="128016"/>
            <a:ext cx="1097280" cy="256032"/>
          </a:xfrm>
          <a:prstGeom prst="roundRect">
            <a:avLst>
              <a:gd name="adj" fmla="val 17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2801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초기 쪽지</a:t>
            </a:r>
            <a:endParaRPr lang="en-US" sz="1000" dirty="0"/>
          </a:p>
        </p:txBody>
      </p:sp>
      <p:sp>
        <p:nvSpPr>
          <p:cNvPr id="4" name="step1"/>
          <p:cNvSpPr/>
          <p:nvPr/>
        </p:nvSpPr>
        <p:spPr>
          <a:xfrm>
            <a:off x="1645920" y="128016"/>
            <a:ext cx="1097280" cy="256032"/>
          </a:xfrm>
          <a:prstGeom prst="roundRect">
            <a:avLst>
              <a:gd name="adj" fmla="val 17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645920" y="12801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시장</a:t>
            </a:r>
            <a:endParaRPr lang="en-US" sz="1000" dirty="0"/>
          </a:p>
        </p:txBody>
      </p:sp>
      <p:sp>
        <p:nvSpPr>
          <p:cNvPr id="6" name="step2"/>
          <p:cNvSpPr/>
          <p:nvPr/>
        </p:nvSpPr>
        <p:spPr>
          <a:xfrm>
            <a:off x="2834640" y="128016"/>
            <a:ext cx="1097280" cy="256032"/>
          </a:xfrm>
          <a:prstGeom prst="roundRect">
            <a:avLst>
              <a:gd name="adj" fmla="val 17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834640" y="12801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채점</a:t>
            </a:r>
            <a:endParaRPr lang="en-US" sz="1000" dirty="0"/>
          </a:p>
        </p:txBody>
      </p:sp>
      <p:sp>
        <p:nvSpPr>
          <p:cNvPr id="8" name="step3"/>
          <p:cNvSpPr/>
          <p:nvPr/>
        </p:nvSpPr>
        <p:spPr>
          <a:xfrm>
            <a:off x="4023360" y="128016"/>
            <a:ext cx="1097280" cy="256032"/>
          </a:xfrm>
          <a:prstGeom prst="roundRect">
            <a:avLst>
              <a:gd name="adj" fmla="val 17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023360" y="12801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삭제</a:t>
            </a:r>
            <a:endParaRPr lang="en-US" sz="1000" dirty="0"/>
          </a:p>
        </p:txBody>
      </p:sp>
      <p:sp>
        <p:nvSpPr>
          <p:cNvPr id="10" name="step4"/>
          <p:cNvSpPr/>
          <p:nvPr/>
        </p:nvSpPr>
        <p:spPr>
          <a:xfrm>
            <a:off x="5212080" y="128016"/>
            <a:ext cx="1097280" cy="256032"/>
          </a:xfrm>
          <a:prstGeom prst="roundRect">
            <a:avLst>
              <a:gd name="adj" fmla="val 17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212080" y="12801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부모</a:t>
            </a:r>
            <a:endParaRPr lang="en-US" sz="1000" dirty="0"/>
          </a:p>
        </p:txBody>
      </p:sp>
      <p:sp>
        <p:nvSpPr>
          <p:cNvPr id="12" name="step5"/>
          <p:cNvSpPr/>
          <p:nvPr/>
        </p:nvSpPr>
        <p:spPr>
          <a:xfrm>
            <a:off x="6400800" y="128016"/>
            <a:ext cx="1097280" cy="256032"/>
          </a:xfrm>
          <a:prstGeom prst="roundRect">
            <a:avLst>
              <a:gd name="adj" fmla="val 1785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0" y="12801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⑥ 교차·변이</a:t>
            </a:r>
            <a:endParaRPr lang="en-US" sz="1000" dirty="0"/>
          </a:p>
        </p:txBody>
      </p:sp>
      <p:sp>
        <p:nvSpPr>
          <p:cNvPr id="14" name="step6"/>
          <p:cNvSpPr/>
          <p:nvPr/>
        </p:nvSpPr>
        <p:spPr>
          <a:xfrm>
            <a:off x="7589520" y="128016"/>
            <a:ext cx="1097280" cy="256032"/>
          </a:xfrm>
          <a:prstGeom prst="roundRect">
            <a:avLst>
              <a:gd name="adj" fmla="val 17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589520" y="12801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⑦ 시험</a:t>
            </a:r>
            <a:endParaRPr lang="en-US" sz="1000" dirty="0"/>
          </a:p>
        </p:txBody>
      </p:sp>
      <p:sp>
        <p:nvSpPr>
          <p:cNvPr id="16" name="Text 0"/>
          <p:cNvSpPr/>
          <p:nvPr>
            <p:ph idx="100" type="title" hasCustomPrompt="1"/>
          </p:nvPr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⑥ 교차와 변이: 새 쪽지 만들기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부모를 섞고(교차), 가끔 바꾼다(변이)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1417320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부모 P</a:t>
            </a:r>
            <a:endParaRPr lang="en-US" sz="1200" dirty="0"/>
          </a:p>
        </p:txBody>
      </p:sp>
      <p:sp>
        <p:nvSpPr>
          <p:cNvPr id="19" name="cell0"/>
          <p:cNvSpPr/>
          <p:nvPr/>
        </p:nvSpPr>
        <p:spPr>
          <a:xfrm>
            <a:off x="1234440" y="1417320"/>
            <a:ext cx="274320" cy="347472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234440" y="1417320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1" name="cell1"/>
          <p:cNvSpPr/>
          <p:nvPr/>
        </p:nvSpPr>
        <p:spPr>
          <a:xfrm>
            <a:off x="1545336" y="1417320"/>
            <a:ext cx="274320" cy="347472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545336" y="1417320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</a:t>
            </a:r>
            <a:endParaRPr lang="en-US" sz="1200" dirty="0"/>
          </a:p>
        </p:txBody>
      </p:sp>
      <p:sp>
        <p:nvSpPr>
          <p:cNvPr id="23" name="cell2"/>
          <p:cNvSpPr/>
          <p:nvPr/>
        </p:nvSpPr>
        <p:spPr>
          <a:xfrm>
            <a:off x="1856232" y="1417320"/>
            <a:ext cx="274320" cy="347472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856232" y="1417320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</a:t>
            </a:r>
            <a:endParaRPr lang="en-US" sz="1200" dirty="0"/>
          </a:p>
        </p:txBody>
      </p:sp>
      <p:sp>
        <p:nvSpPr>
          <p:cNvPr id="25" name="cell3"/>
          <p:cNvSpPr/>
          <p:nvPr/>
        </p:nvSpPr>
        <p:spPr>
          <a:xfrm>
            <a:off x="2167128" y="1417320"/>
            <a:ext cx="274320" cy="347472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167128" y="1417320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1200" dirty="0"/>
          </a:p>
        </p:txBody>
      </p:sp>
      <p:sp>
        <p:nvSpPr>
          <p:cNvPr id="27" name="cell4"/>
          <p:cNvSpPr/>
          <p:nvPr/>
        </p:nvSpPr>
        <p:spPr>
          <a:xfrm>
            <a:off x="2478024" y="1417320"/>
            <a:ext cx="274320" cy="347472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478024" y="1417320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</a:t>
            </a:r>
            <a:endParaRPr lang="en-US" sz="1200" dirty="0"/>
          </a:p>
        </p:txBody>
      </p:sp>
      <p:sp>
        <p:nvSpPr>
          <p:cNvPr id="29" name="cell5"/>
          <p:cNvSpPr/>
          <p:nvPr/>
        </p:nvSpPr>
        <p:spPr>
          <a:xfrm>
            <a:off x="2788920" y="1417320"/>
            <a:ext cx="274320" cy="347472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788920" y="1417320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31" name="cell6"/>
          <p:cNvSpPr/>
          <p:nvPr/>
        </p:nvSpPr>
        <p:spPr>
          <a:xfrm>
            <a:off x="3099816" y="1417320"/>
            <a:ext cx="274320" cy="347472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099816" y="1417320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</a:t>
            </a:r>
            <a:endParaRPr lang="en-US" sz="1200" dirty="0"/>
          </a:p>
        </p:txBody>
      </p:sp>
      <p:sp>
        <p:nvSpPr>
          <p:cNvPr id="33" name="cell7"/>
          <p:cNvSpPr/>
          <p:nvPr/>
        </p:nvSpPr>
        <p:spPr>
          <a:xfrm>
            <a:off x="3410712" y="1417320"/>
            <a:ext cx="274320" cy="347472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410712" y="1417320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</a:t>
            </a:r>
            <a:endParaRPr lang="en-US" sz="1200" dirty="0"/>
          </a:p>
        </p:txBody>
      </p:sp>
      <p:sp>
        <p:nvSpPr>
          <p:cNvPr id="35" name="cell8"/>
          <p:cNvSpPr/>
          <p:nvPr/>
        </p:nvSpPr>
        <p:spPr>
          <a:xfrm>
            <a:off x="3721608" y="1417320"/>
            <a:ext cx="274320" cy="347472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3721608" y="1417320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</a:t>
            </a:r>
            <a:endParaRPr lang="en-US" sz="1200" dirty="0"/>
          </a:p>
        </p:txBody>
      </p:sp>
      <p:sp>
        <p:nvSpPr>
          <p:cNvPr id="37" name="cell9"/>
          <p:cNvSpPr/>
          <p:nvPr/>
        </p:nvSpPr>
        <p:spPr>
          <a:xfrm>
            <a:off x="4032504" y="1417320"/>
            <a:ext cx="274320" cy="347472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032504" y="1417320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</a:t>
            </a:r>
            <a:endParaRPr lang="en-US" sz="1200" dirty="0"/>
          </a:p>
        </p:txBody>
      </p:sp>
      <p:sp>
        <p:nvSpPr>
          <p:cNvPr id="39" name="cell10"/>
          <p:cNvSpPr/>
          <p:nvPr/>
        </p:nvSpPr>
        <p:spPr>
          <a:xfrm>
            <a:off x="4343400" y="1417320"/>
            <a:ext cx="274320" cy="347472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343400" y="1417320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</a:t>
            </a:r>
            <a:endParaRPr lang="en-US" sz="1200" dirty="0"/>
          </a:p>
        </p:txBody>
      </p:sp>
      <p:sp>
        <p:nvSpPr>
          <p:cNvPr id="41" name="cell11"/>
          <p:cNvSpPr/>
          <p:nvPr/>
        </p:nvSpPr>
        <p:spPr>
          <a:xfrm>
            <a:off x="4654296" y="1417320"/>
            <a:ext cx="274320" cy="347472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4654296" y="1417320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457200" y="1828800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부모 Q</a:t>
            </a:r>
            <a:endParaRPr lang="en-US" sz="1200" dirty="0"/>
          </a:p>
        </p:txBody>
      </p:sp>
      <p:sp>
        <p:nvSpPr>
          <p:cNvPr id="44" name="cell0"/>
          <p:cNvSpPr/>
          <p:nvPr/>
        </p:nvSpPr>
        <p:spPr>
          <a:xfrm>
            <a:off x="1234440" y="1828800"/>
            <a:ext cx="274320" cy="347472"/>
          </a:xfrm>
          <a:prstGeom prst="rect">
            <a:avLst/>
          </a:prstGeom>
          <a:solidFill>
            <a:srgbClr val="E8743B"/>
          </a:solidFill>
          <a:ln w="12700">
            <a:solidFill>
              <a:srgbClr val="E8743B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1234440" y="1828800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</a:t>
            </a:r>
            <a:endParaRPr lang="en-US" sz="1200" dirty="0"/>
          </a:p>
        </p:txBody>
      </p:sp>
      <p:sp>
        <p:nvSpPr>
          <p:cNvPr id="46" name="cell1"/>
          <p:cNvSpPr/>
          <p:nvPr/>
        </p:nvSpPr>
        <p:spPr>
          <a:xfrm>
            <a:off x="1545336" y="1828800"/>
            <a:ext cx="274320" cy="347472"/>
          </a:xfrm>
          <a:prstGeom prst="rect">
            <a:avLst/>
          </a:prstGeom>
          <a:solidFill>
            <a:srgbClr val="E8743B"/>
          </a:solidFill>
          <a:ln w="12700">
            <a:solidFill>
              <a:srgbClr val="E8743B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1545336" y="1828800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48" name="cell2"/>
          <p:cNvSpPr/>
          <p:nvPr/>
        </p:nvSpPr>
        <p:spPr>
          <a:xfrm>
            <a:off x="1856232" y="1828800"/>
            <a:ext cx="274320" cy="347472"/>
          </a:xfrm>
          <a:prstGeom prst="rect">
            <a:avLst/>
          </a:prstGeom>
          <a:solidFill>
            <a:srgbClr val="E8743B"/>
          </a:solidFill>
          <a:ln w="12700">
            <a:solidFill>
              <a:srgbClr val="E8743B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1856232" y="1828800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</a:t>
            </a:r>
            <a:endParaRPr lang="en-US" sz="1200" dirty="0"/>
          </a:p>
        </p:txBody>
      </p:sp>
      <p:sp>
        <p:nvSpPr>
          <p:cNvPr id="50" name="cell3"/>
          <p:cNvSpPr/>
          <p:nvPr/>
        </p:nvSpPr>
        <p:spPr>
          <a:xfrm>
            <a:off x="2167128" y="1828800"/>
            <a:ext cx="274320" cy="347472"/>
          </a:xfrm>
          <a:prstGeom prst="rect">
            <a:avLst/>
          </a:prstGeom>
          <a:solidFill>
            <a:srgbClr val="E8743B"/>
          </a:solidFill>
          <a:ln w="12700">
            <a:solidFill>
              <a:srgbClr val="E8743B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2167128" y="1828800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</a:t>
            </a:r>
            <a:endParaRPr lang="en-US" sz="1200" dirty="0"/>
          </a:p>
        </p:txBody>
      </p:sp>
      <p:sp>
        <p:nvSpPr>
          <p:cNvPr id="52" name="cell4"/>
          <p:cNvSpPr/>
          <p:nvPr/>
        </p:nvSpPr>
        <p:spPr>
          <a:xfrm>
            <a:off x="2478024" y="1828800"/>
            <a:ext cx="274320" cy="347472"/>
          </a:xfrm>
          <a:prstGeom prst="rect">
            <a:avLst/>
          </a:prstGeom>
          <a:solidFill>
            <a:srgbClr val="E8743B"/>
          </a:solidFill>
          <a:ln w="12700">
            <a:solidFill>
              <a:srgbClr val="E8743B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2478024" y="1828800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1200" dirty="0"/>
          </a:p>
        </p:txBody>
      </p:sp>
      <p:sp>
        <p:nvSpPr>
          <p:cNvPr id="54" name="cell5"/>
          <p:cNvSpPr/>
          <p:nvPr/>
        </p:nvSpPr>
        <p:spPr>
          <a:xfrm>
            <a:off x="2788920" y="1828800"/>
            <a:ext cx="274320" cy="347472"/>
          </a:xfrm>
          <a:prstGeom prst="rect">
            <a:avLst/>
          </a:prstGeom>
          <a:solidFill>
            <a:srgbClr val="E8743B"/>
          </a:solidFill>
          <a:ln w="12700">
            <a:solidFill>
              <a:srgbClr val="E8743B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2788920" y="1828800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</a:t>
            </a:r>
            <a:endParaRPr lang="en-US" sz="1200" dirty="0"/>
          </a:p>
        </p:txBody>
      </p:sp>
      <p:sp>
        <p:nvSpPr>
          <p:cNvPr id="56" name="cell6"/>
          <p:cNvSpPr/>
          <p:nvPr/>
        </p:nvSpPr>
        <p:spPr>
          <a:xfrm>
            <a:off x="3099816" y="1828800"/>
            <a:ext cx="274320" cy="347472"/>
          </a:xfrm>
          <a:prstGeom prst="rect">
            <a:avLst/>
          </a:prstGeom>
          <a:solidFill>
            <a:srgbClr val="E8743B"/>
          </a:solidFill>
          <a:ln w="12700">
            <a:solidFill>
              <a:srgbClr val="E8743B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3099816" y="1828800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58" name="cell7"/>
          <p:cNvSpPr/>
          <p:nvPr/>
        </p:nvSpPr>
        <p:spPr>
          <a:xfrm>
            <a:off x="3410712" y="1828800"/>
            <a:ext cx="274320" cy="347472"/>
          </a:xfrm>
          <a:prstGeom prst="rect">
            <a:avLst/>
          </a:prstGeom>
          <a:solidFill>
            <a:srgbClr val="E8743B"/>
          </a:solidFill>
          <a:ln w="12700">
            <a:solidFill>
              <a:srgbClr val="E8743B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3410712" y="1828800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</a:t>
            </a:r>
            <a:endParaRPr lang="en-US" sz="1200" dirty="0"/>
          </a:p>
        </p:txBody>
      </p:sp>
      <p:sp>
        <p:nvSpPr>
          <p:cNvPr id="60" name="cell8"/>
          <p:cNvSpPr/>
          <p:nvPr/>
        </p:nvSpPr>
        <p:spPr>
          <a:xfrm>
            <a:off x="3721608" y="1828800"/>
            <a:ext cx="274320" cy="347472"/>
          </a:xfrm>
          <a:prstGeom prst="rect">
            <a:avLst/>
          </a:prstGeom>
          <a:solidFill>
            <a:srgbClr val="E8743B"/>
          </a:solidFill>
          <a:ln w="12700">
            <a:solidFill>
              <a:srgbClr val="E8743B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3721608" y="1828800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</a:t>
            </a:r>
            <a:endParaRPr lang="en-US" sz="1200" dirty="0"/>
          </a:p>
        </p:txBody>
      </p:sp>
      <p:sp>
        <p:nvSpPr>
          <p:cNvPr id="62" name="cell9"/>
          <p:cNvSpPr/>
          <p:nvPr/>
        </p:nvSpPr>
        <p:spPr>
          <a:xfrm>
            <a:off x="4032504" y="1828800"/>
            <a:ext cx="274320" cy="347472"/>
          </a:xfrm>
          <a:prstGeom prst="rect">
            <a:avLst/>
          </a:prstGeom>
          <a:solidFill>
            <a:srgbClr val="E8743B"/>
          </a:solidFill>
          <a:ln w="12700">
            <a:solidFill>
              <a:srgbClr val="E8743B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4032504" y="1828800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</a:t>
            </a:r>
            <a:endParaRPr lang="en-US" sz="1200" dirty="0"/>
          </a:p>
        </p:txBody>
      </p:sp>
      <p:sp>
        <p:nvSpPr>
          <p:cNvPr id="64" name="cell10"/>
          <p:cNvSpPr/>
          <p:nvPr/>
        </p:nvSpPr>
        <p:spPr>
          <a:xfrm>
            <a:off x="4343400" y="1828800"/>
            <a:ext cx="274320" cy="347472"/>
          </a:xfrm>
          <a:prstGeom prst="rect">
            <a:avLst/>
          </a:prstGeom>
          <a:solidFill>
            <a:srgbClr val="E8743B"/>
          </a:solidFill>
          <a:ln w="12700">
            <a:solidFill>
              <a:srgbClr val="E8743B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4343400" y="1828800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</a:t>
            </a:r>
            <a:endParaRPr lang="en-US" sz="1200" dirty="0"/>
          </a:p>
        </p:txBody>
      </p:sp>
      <p:sp>
        <p:nvSpPr>
          <p:cNvPr id="66" name="cell11"/>
          <p:cNvSpPr/>
          <p:nvPr/>
        </p:nvSpPr>
        <p:spPr>
          <a:xfrm>
            <a:off x="4654296" y="1828800"/>
            <a:ext cx="274320" cy="347472"/>
          </a:xfrm>
          <a:prstGeom prst="rect">
            <a:avLst/>
          </a:prstGeom>
          <a:solidFill>
            <a:srgbClr val="E8743B"/>
          </a:solidFill>
          <a:ln w="12700">
            <a:solidFill>
              <a:srgbClr val="E8743B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4654296" y="1828800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</a:t>
            </a:r>
            <a:endParaRPr lang="en-US" sz="1200" dirty="0"/>
          </a:p>
        </p:txBody>
      </p:sp>
      <p:sp>
        <p:nvSpPr>
          <p:cNvPr id="68" name="Text 66"/>
          <p:cNvSpPr txBox="1"/>
          <p:nvPr/>
        </p:nvSpPr>
        <p:spPr>
          <a:xfrm>
            <a:off x="457200" y="2240280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교차 후</a:t>
            </a:r>
            <a:endParaRPr lang="en-US" sz="1200" dirty="0"/>
          </a:p>
        </p:txBody>
      </p:sp>
      <p:sp>
        <p:nvSpPr>
          <p:cNvPr id="69" name="cell0"/>
          <p:cNvSpPr/>
          <p:nvPr/>
        </p:nvSpPr>
        <p:spPr>
          <a:xfrm>
            <a:off x="1234440" y="2240280"/>
            <a:ext cx="274320" cy="347472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1234440" y="2240280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1" name="cell1"/>
          <p:cNvSpPr/>
          <p:nvPr/>
        </p:nvSpPr>
        <p:spPr>
          <a:xfrm>
            <a:off x="1545336" y="2240280"/>
            <a:ext cx="274320" cy="347472"/>
          </a:xfrm>
          <a:prstGeom prst="rect">
            <a:avLst/>
          </a:prstGeom>
          <a:solidFill>
            <a:srgbClr val="E8743B"/>
          </a:solidFill>
          <a:ln w="12700">
            <a:solidFill>
              <a:srgbClr val="E8743B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1545336" y="2240280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3" name="cell2"/>
          <p:cNvSpPr/>
          <p:nvPr/>
        </p:nvSpPr>
        <p:spPr>
          <a:xfrm>
            <a:off x="1856232" y="2240280"/>
            <a:ext cx="274320" cy="347472"/>
          </a:xfrm>
          <a:prstGeom prst="rect">
            <a:avLst/>
          </a:prstGeom>
          <a:solidFill>
            <a:srgbClr val="6C8EA4"/>
          </a:solidFill>
          <a:ln w="12700">
            <a:solidFill>
              <a:srgbClr val="6C8EA4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1856232" y="2240280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</a:t>
            </a:r>
            <a:endParaRPr lang="en-US" sz="1200" dirty="0"/>
          </a:p>
        </p:txBody>
      </p:sp>
      <p:sp>
        <p:nvSpPr>
          <p:cNvPr id="75" name="cell3"/>
          <p:cNvSpPr/>
          <p:nvPr/>
        </p:nvSpPr>
        <p:spPr>
          <a:xfrm>
            <a:off x="2167128" y="2240280"/>
            <a:ext cx="274320" cy="347472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2167128" y="2240280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1200" dirty="0"/>
          </a:p>
        </p:txBody>
      </p:sp>
      <p:sp>
        <p:nvSpPr>
          <p:cNvPr id="77" name="cell4"/>
          <p:cNvSpPr/>
          <p:nvPr/>
        </p:nvSpPr>
        <p:spPr>
          <a:xfrm>
            <a:off x="2478024" y="2240280"/>
            <a:ext cx="274320" cy="347472"/>
          </a:xfrm>
          <a:prstGeom prst="rect">
            <a:avLst/>
          </a:prstGeom>
          <a:solidFill>
            <a:srgbClr val="E8743B"/>
          </a:solidFill>
          <a:ln w="12700">
            <a:solidFill>
              <a:srgbClr val="E8743B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2478024" y="2240280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1200" dirty="0"/>
          </a:p>
        </p:txBody>
      </p:sp>
      <p:sp>
        <p:nvSpPr>
          <p:cNvPr id="79" name="cell5"/>
          <p:cNvSpPr/>
          <p:nvPr/>
        </p:nvSpPr>
        <p:spPr>
          <a:xfrm>
            <a:off x="2788920" y="2240280"/>
            <a:ext cx="274320" cy="347472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2788920" y="2240280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81" name="cell6"/>
          <p:cNvSpPr/>
          <p:nvPr/>
        </p:nvSpPr>
        <p:spPr>
          <a:xfrm>
            <a:off x="3099816" y="2240280"/>
            <a:ext cx="274320" cy="347472"/>
          </a:xfrm>
          <a:prstGeom prst="rect">
            <a:avLst/>
          </a:prstGeom>
          <a:solidFill>
            <a:srgbClr val="E8743B"/>
          </a:solidFill>
          <a:ln w="12700">
            <a:solidFill>
              <a:srgbClr val="E8743B"/>
            </a:solidFill>
            <a:prstDash val="solid"/>
          </a:ln>
        </p:spPr>
      </p:sp>
      <p:sp>
        <p:nvSpPr>
          <p:cNvPr id="82" name="Text 80"/>
          <p:cNvSpPr txBox="1"/>
          <p:nvPr/>
        </p:nvSpPr>
        <p:spPr>
          <a:xfrm>
            <a:off x="3099816" y="2240280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83" name="cell7"/>
          <p:cNvSpPr/>
          <p:nvPr/>
        </p:nvSpPr>
        <p:spPr>
          <a:xfrm>
            <a:off x="3410712" y="2240280"/>
            <a:ext cx="274320" cy="347472"/>
          </a:xfrm>
          <a:prstGeom prst="rect">
            <a:avLst/>
          </a:prstGeom>
          <a:solidFill>
            <a:srgbClr val="6C8EA4"/>
          </a:solidFill>
          <a:ln w="12700">
            <a:solidFill>
              <a:srgbClr val="6C8EA4"/>
            </a:solidFill>
            <a:prstDash val="solid"/>
          </a:ln>
        </p:spPr>
      </p:sp>
      <p:sp>
        <p:nvSpPr>
          <p:cNvPr id="84" name="Text 82"/>
          <p:cNvSpPr txBox="1"/>
          <p:nvPr/>
        </p:nvSpPr>
        <p:spPr>
          <a:xfrm>
            <a:off x="3410712" y="2240280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</a:t>
            </a:r>
            <a:endParaRPr lang="en-US" sz="1200" dirty="0"/>
          </a:p>
        </p:txBody>
      </p:sp>
      <p:sp>
        <p:nvSpPr>
          <p:cNvPr id="85" name="cell8"/>
          <p:cNvSpPr/>
          <p:nvPr/>
        </p:nvSpPr>
        <p:spPr>
          <a:xfrm>
            <a:off x="3721608" y="2240280"/>
            <a:ext cx="274320" cy="347472"/>
          </a:xfrm>
          <a:prstGeom prst="rect">
            <a:avLst/>
          </a:prstGeom>
          <a:solidFill>
            <a:srgbClr val="6C8EA4"/>
          </a:solidFill>
          <a:ln w="12700">
            <a:solidFill>
              <a:srgbClr val="6C8EA4"/>
            </a:solidFill>
            <a:prstDash val="solid"/>
          </a:ln>
        </p:spPr>
      </p:sp>
      <p:sp>
        <p:nvSpPr>
          <p:cNvPr id="86" name="Text 84"/>
          <p:cNvSpPr txBox="1"/>
          <p:nvPr/>
        </p:nvSpPr>
        <p:spPr>
          <a:xfrm>
            <a:off x="3721608" y="2240280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</a:t>
            </a:r>
            <a:endParaRPr lang="en-US" sz="1200" dirty="0"/>
          </a:p>
        </p:txBody>
      </p:sp>
      <p:sp>
        <p:nvSpPr>
          <p:cNvPr id="87" name="cell9"/>
          <p:cNvSpPr/>
          <p:nvPr/>
        </p:nvSpPr>
        <p:spPr>
          <a:xfrm>
            <a:off x="4032504" y="2240280"/>
            <a:ext cx="274320" cy="347472"/>
          </a:xfrm>
          <a:prstGeom prst="rect">
            <a:avLst/>
          </a:prstGeom>
          <a:solidFill>
            <a:srgbClr val="6C8EA4"/>
          </a:solidFill>
          <a:ln w="12700">
            <a:solidFill>
              <a:srgbClr val="6C8EA4"/>
            </a:solidFill>
            <a:prstDash val="solid"/>
          </a:ln>
        </p:spPr>
      </p:sp>
      <p:sp>
        <p:nvSpPr>
          <p:cNvPr id="88" name="Text 86"/>
          <p:cNvSpPr txBox="1"/>
          <p:nvPr/>
        </p:nvSpPr>
        <p:spPr>
          <a:xfrm>
            <a:off x="4032504" y="2240280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</a:t>
            </a:r>
            <a:endParaRPr lang="en-US" sz="1200" dirty="0"/>
          </a:p>
        </p:txBody>
      </p:sp>
      <p:sp>
        <p:nvSpPr>
          <p:cNvPr id="89" name="cell10"/>
          <p:cNvSpPr/>
          <p:nvPr/>
        </p:nvSpPr>
        <p:spPr>
          <a:xfrm>
            <a:off x="4343400" y="2240280"/>
            <a:ext cx="274320" cy="347472"/>
          </a:xfrm>
          <a:prstGeom prst="rect">
            <a:avLst/>
          </a:prstGeom>
          <a:solidFill>
            <a:srgbClr val="6C8EA4"/>
          </a:solidFill>
          <a:ln w="12700">
            <a:solidFill>
              <a:srgbClr val="6C8EA4"/>
            </a:solidFill>
            <a:prstDash val="solid"/>
          </a:ln>
        </p:spPr>
      </p:sp>
      <p:sp>
        <p:nvSpPr>
          <p:cNvPr id="90" name="Text 88"/>
          <p:cNvSpPr txBox="1"/>
          <p:nvPr/>
        </p:nvSpPr>
        <p:spPr>
          <a:xfrm>
            <a:off x="4343400" y="2240280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</a:t>
            </a:r>
            <a:endParaRPr lang="en-US" sz="1200" dirty="0"/>
          </a:p>
        </p:txBody>
      </p:sp>
      <p:sp>
        <p:nvSpPr>
          <p:cNvPr id="91" name="cell11"/>
          <p:cNvSpPr/>
          <p:nvPr/>
        </p:nvSpPr>
        <p:spPr>
          <a:xfrm>
            <a:off x="4654296" y="2240280"/>
            <a:ext cx="274320" cy="347472"/>
          </a:xfrm>
          <a:prstGeom prst="rect">
            <a:avLst/>
          </a:prstGeom>
          <a:solidFill>
            <a:srgbClr val="6C8EA4"/>
          </a:solidFill>
          <a:ln w="12700">
            <a:solidFill>
              <a:srgbClr val="6C8EA4"/>
            </a:solidFill>
            <a:prstDash val="solid"/>
          </a:ln>
        </p:spPr>
      </p:sp>
      <p:sp>
        <p:nvSpPr>
          <p:cNvPr id="92" name="Text 90"/>
          <p:cNvSpPr txBox="1"/>
          <p:nvPr/>
        </p:nvSpPr>
        <p:spPr>
          <a:xfrm>
            <a:off x="4654296" y="2240280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</a:t>
            </a:r>
            <a:endParaRPr lang="en-US" sz="1200" dirty="0"/>
          </a:p>
        </p:txBody>
      </p:sp>
      <p:sp>
        <p:nvSpPr>
          <p:cNvPr id="93" name="Text 91"/>
          <p:cNvSpPr txBox="1"/>
          <p:nvPr/>
        </p:nvSpPr>
        <p:spPr>
          <a:xfrm>
            <a:off x="457200" y="2651760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변이 후</a:t>
            </a:r>
            <a:endParaRPr lang="en-US" sz="1200" dirty="0"/>
          </a:p>
        </p:txBody>
      </p:sp>
      <p:sp>
        <p:nvSpPr>
          <p:cNvPr id="94" name="cell0"/>
          <p:cNvSpPr/>
          <p:nvPr/>
        </p:nvSpPr>
        <p:spPr>
          <a:xfrm>
            <a:off x="1234440" y="2651760"/>
            <a:ext cx="274320" cy="347472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95" name="Text 93"/>
          <p:cNvSpPr txBox="1"/>
          <p:nvPr/>
        </p:nvSpPr>
        <p:spPr>
          <a:xfrm>
            <a:off x="1234440" y="2651760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96" name="cell1"/>
          <p:cNvSpPr/>
          <p:nvPr/>
        </p:nvSpPr>
        <p:spPr>
          <a:xfrm>
            <a:off x="1545336" y="2651760"/>
            <a:ext cx="274320" cy="347472"/>
          </a:xfrm>
          <a:prstGeom prst="rect">
            <a:avLst/>
          </a:prstGeom>
          <a:solidFill>
            <a:srgbClr val="E8743B"/>
          </a:solidFill>
          <a:ln w="12700">
            <a:solidFill>
              <a:srgbClr val="E8743B"/>
            </a:solidFill>
            <a:prstDash val="solid"/>
          </a:ln>
        </p:spPr>
      </p:sp>
      <p:sp>
        <p:nvSpPr>
          <p:cNvPr id="97" name="Text 95"/>
          <p:cNvSpPr txBox="1"/>
          <p:nvPr/>
        </p:nvSpPr>
        <p:spPr>
          <a:xfrm>
            <a:off x="1545336" y="2651760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98" name="cell2"/>
          <p:cNvSpPr/>
          <p:nvPr/>
        </p:nvSpPr>
        <p:spPr>
          <a:xfrm>
            <a:off x="1856232" y="2651760"/>
            <a:ext cx="274320" cy="347472"/>
          </a:xfrm>
          <a:prstGeom prst="rect">
            <a:avLst/>
          </a:prstGeom>
          <a:solidFill>
            <a:srgbClr val="F2B84B"/>
          </a:solidFill>
          <a:ln w="12700">
            <a:solidFill>
              <a:srgbClr val="F2B84B"/>
            </a:solidFill>
            <a:prstDash val="solid"/>
          </a:ln>
        </p:spPr>
      </p:sp>
      <p:sp>
        <p:nvSpPr>
          <p:cNvPr id="99" name="Text 97"/>
          <p:cNvSpPr txBox="1"/>
          <p:nvPr/>
        </p:nvSpPr>
        <p:spPr>
          <a:xfrm>
            <a:off x="1856232" y="2651760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00" name="cell3"/>
          <p:cNvSpPr/>
          <p:nvPr/>
        </p:nvSpPr>
        <p:spPr>
          <a:xfrm>
            <a:off x="2167128" y="2651760"/>
            <a:ext cx="274320" cy="347472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01" name="Text 99"/>
          <p:cNvSpPr txBox="1"/>
          <p:nvPr/>
        </p:nvSpPr>
        <p:spPr>
          <a:xfrm>
            <a:off x="2167128" y="2651760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1200" dirty="0"/>
          </a:p>
        </p:txBody>
      </p:sp>
      <p:sp>
        <p:nvSpPr>
          <p:cNvPr id="102" name="cell4"/>
          <p:cNvSpPr/>
          <p:nvPr/>
        </p:nvSpPr>
        <p:spPr>
          <a:xfrm>
            <a:off x="2478024" y="2651760"/>
            <a:ext cx="274320" cy="347472"/>
          </a:xfrm>
          <a:prstGeom prst="rect">
            <a:avLst/>
          </a:prstGeom>
          <a:solidFill>
            <a:srgbClr val="E8743B"/>
          </a:solidFill>
          <a:ln w="12700">
            <a:solidFill>
              <a:srgbClr val="E8743B"/>
            </a:solidFill>
            <a:prstDash val="solid"/>
          </a:ln>
        </p:spPr>
      </p:sp>
      <p:sp>
        <p:nvSpPr>
          <p:cNvPr id="103" name="Text 101"/>
          <p:cNvSpPr txBox="1"/>
          <p:nvPr/>
        </p:nvSpPr>
        <p:spPr>
          <a:xfrm>
            <a:off x="2478024" y="2651760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1200" dirty="0"/>
          </a:p>
        </p:txBody>
      </p:sp>
      <p:sp>
        <p:nvSpPr>
          <p:cNvPr id="104" name="cell5"/>
          <p:cNvSpPr/>
          <p:nvPr/>
        </p:nvSpPr>
        <p:spPr>
          <a:xfrm>
            <a:off x="2788920" y="2651760"/>
            <a:ext cx="274320" cy="347472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05" name="Text 103"/>
          <p:cNvSpPr txBox="1"/>
          <p:nvPr/>
        </p:nvSpPr>
        <p:spPr>
          <a:xfrm>
            <a:off x="2788920" y="2651760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06" name="cell6"/>
          <p:cNvSpPr/>
          <p:nvPr/>
        </p:nvSpPr>
        <p:spPr>
          <a:xfrm>
            <a:off x="3099816" y="2651760"/>
            <a:ext cx="274320" cy="347472"/>
          </a:xfrm>
          <a:prstGeom prst="rect">
            <a:avLst/>
          </a:prstGeom>
          <a:solidFill>
            <a:srgbClr val="E8743B"/>
          </a:solidFill>
          <a:ln w="12700">
            <a:solidFill>
              <a:srgbClr val="E8743B"/>
            </a:solidFill>
            <a:prstDash val="solid"/>
          </a:ln>
        </p:spPr>
      </p:sp>
      <p:sp>
        <p:nvSpPr>
          <p:cNvPr id="107" name="Text 105"/>
          <p:cNvSpPr txBox="1"/>
          <p:nvPr/>
        </p:nvSpPr>
        <p:spPr>
          <a:xfrm>
            <a:off x="3099816" y="2651760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08" name="cell7"/>
          <p:cNvSpPr/>
          <p:nvPr/>
        </p:nvSpPr>
        <p:spPr>
          <a:xfrm>
            <a:off x="3410712" y="2651760"/>
            <a:ext cx="274320" cy="347472"/>
          </a:xfrm>
          <a:prstGeom prst="rect">
            <a:avLst/>
          </a:prstGeom>
          <a:solidFill>
            <a:srgbClr val="6C8EA4"/>
          </a:solidFill>
          <a:ln w="12700">
            <a:solidFill>
              <a:srgbClr val="6C8EA4"/>
            </a:solidFill>
            <a:prstDash val="solid"/>
          </a:ln>
        </p:spPr>
      </p:sp>
      <p:sp>
        <p:nvSpPr>
          <p:cNvPr id="109" name="Text 107"/>
          <p:cNvSpPr txBox="1"/>
          <p:nvPr/>
        </p:nvSpPr>
        <p:spPr>
          <a:xfrm>
            <a:off x="3410712" y="2651760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</a:t>
            </a:r>
            <a:endParaRPr lang="en-US" sz="1200" dirty="0"/>
          </a:p>
        </p:txBody>
      </p:sp>
      <p:sp>
        <p:nvSpPr>
          <p:cNvPr id="110" name="cell8"/>
          <p:cNvSpPr/>
          <p:nvPr/>
        </p:nvSpPr>
        <p:spPr>
          <a:xfrm>
            <a:off x="3721608" y="2651760"/>
            <a:ext cx="274320" cy="347472"/>
          </a:xfrm>
          <a:prstGeom prst="rect">
            <a:avLst/>
          </a:prstGeom>
          <a:solidFill>
            <a:srgbClr val="6C8EA4"/>
          </a:solidFill>
          <a:ln w="12700">
            <a:solidFill>
              <a:srgbClr val="6C8EA4"/>
            </a:solidFill>
            <a:prstDash val="solid"/>
          </a:ln>
        </p:spPr>
      </p:sp>
      <p:sp>
        <p:nvSpPr>
          <p:cNvPr id="111" name="Text 109"/>
          <p:cNvSpPr txBox="1"/>
          <p:nvPr/>
        </p:nvSpPr>
        <p:spPr>
          <a:xfrm>
            <a:off x="3721608" y="2651760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</a:t>
            </a:r>
            <a:endParaRPr lang="en-US" sz="1200" dirty="0"/>
          </a:p>
        </p:txBody>
      </p:sp>
      <p:sp>
        <p:nvSpPr>
          <p:cNvPr id="112" name="cell9"/>
          <p:cNvSpPr/>
          <p:nvPr/>
        </p:nvSpPr>
        <p:spPr>
          <a:xfrm>
            <a:off x="4032504" y="2651760"/>
            <a:ext cx="274320" cy="347472"/>
          </a:xfrm>
          <a:prstGeom prst="rect">
            <a:avLst/>
          </a:prstGeom>
          <a:solidFill>
            <a:srgbClr val="6C8EA4"/>
          </a:solidFill>
          <a:ln w="12700">
            <a:solidFill>
              <a:srgbClr val="6C8EA4"/>
            </a:solidFill>
            <a:prstDash val="solid"/>
          </a:ln>
        </p:spPr>
      </p:sp>
      <p:sp>
        <p:nvSpPr>
          <p:cNvPr id="113" name="Text 111"/>
          <p:cNvSpPr txBox="1"/>
          <p:nvPr/>
        </p:nvSpPr>
        <p:spPr>
          <a:xfrm>
            <a:off x="4032504" y="2651760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</a:t>
            </a:r>
            <a:endParaRPr lang="en-US" sz="1200" dirty="0"/>
          </a:p>
        </p:txBody>
      </p:sp>
      <p:sp>
        <p:nvSpPr>
          <p:cNvPr id="114" name="cell10"/>
          <p:cNvSpPr/>
          <p:nvPr/>
        </p:nvSpPr>
        <p:spPr>
          <a:xfrm>
            <a:off x="4343400" y="2651760"/>
            <a:ext cx="274320" cy="347472"/>
          </a:xfrm>
          <a:prstGeom prst="rect">
            <a:avLst/>
          </a:prstGeom>
          <a:solidFill>
            <a:srgbClr val="6C8EA4"/>
          </a:solidFill>
          <a:ln w="12700">
            <a:solidFill>
              <a:srgbClr val="6C8EA4"/>
            </a:solidFill>
            <a:prstDash val="solid"/>
          </a:ln>
        </p:spPr>
      </p:sp>
      <p:sp>
        <p:nvSpPr>
          <p:cNvPr id="115" name="Text 113"/>
          <p:cNvSpPr txBox="1"/>
          <p:nvPr/>
        </p:nvSpPr>
        <p:spPr>
          <a:xfrm>
            <a:off x="4343400" y="2651760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</a:t>
            </a:r>
            <a:endParaRPr lang="en-US" sz="1200" dirty="0"/>
          </a:p>
        </p:txBody>
      </p:sp>
      <p:sp>
        <p:nvSpPr>
          <p:cNvPr id="116" name="cell11"/>
          <p:cNvSpPr/>
          <p:nvPr/>
        </p:nvSpPr>
        <p:spPr>
          <a:xfrm>
            <a:off x="4654296" y="2651760"/>
            <a:ext cx="274320" cy="347472"/>
          </a:xfrm>
          <a:prstGeom prst="rect">
            <a:avLst/>
          </a:prstGeom>
          <a:solidFill>
            <a:srgbClr val="6C8EA4"/>
          </a:solidFill>
          <a:ln w="12700">
            <a:solidFill>
              <a:srgbClr val="6C8EA4"/>
            </a:solidFill>
            <a:prstDash val="solid"/>
          </a:ln>
        </p:spPr>
      </p:sp>
      <p:sp>
        <p:nvSpPr>
          <p:cNvPr id="117" name="Text 115"/>
          <p:cNvSpPr txBox="1"/>
          <p:nvPr/>
        </p:nvSpPr>
        <p:spPr>
          <a:xfrm>
            <a:off x="4654296" y="2651760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</a:t>
            </a:r>
            <a:endParaRPr lang="en-US" sz="1200" dirty="0"/>
          </a:p>
        </p:txBody>
      </p:sp>
      <p:sp>
        <p:nvSpPr>
          <p:cNvPr id="118" name="Text 116"/>
          <p:cNvSpPr txBox="1"/>
          <p:nvPr/>
        </p:nvSpPr>
        <p:spPr>
          <a:xfrm>
            <a:off x="457200" y="31089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예시: 균일 교차는 칸마다 두 부모 중 한쪽에서 무작위로 가져옴. 변이는 3번 칸 # → 1</a:t>
            </a:r>
            <a:endParaRPr lang="en-US" sz="1100" dirty="0"/>
          </a:p>
        </p:txBody>
      </p:sp>
      <p:sp>
        <p:nvSpPr>
          <p:cNvPr id="119" name="pc0"/>
          <p:cNvSpPr/>
          <p:nvPr/>
        </p:nvSpPr>
        <p:spPr>
          <a:xfrm>
            <a:off x="5486400" y="1417320"/>
            <a:ext cx="3200400" cy="658368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0" name="Text 118"/>
          <p:cNvSpPr txBox="1"/>
          <p:nvPr/>
        </p:nvSpPr>
        <p:spPr>
          <a:xfrm>
            <a:off x="5596128" y="1444752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교차 확률  RE 0.3 · 복잡 0.1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쪽지를 만들 때 두 부모를 섞을 확률</a:t>
            </a:r>
            <a:endParaRPr lang="en-US" sz="1200" dirty="0"/>
          </a:p>
        </p:txBody>
      </p:sp>
      <p:sp>
        <p:nvSpPr>
          <p:cNvPr id="121" name="pc1"/>
          <p:cNvSpPr/>
          <p:nvPr/>
        </p:nvSpPr>
        <p:spPr>
          <a:xfrm>
            <a:off x="5486400" y="2148840"/>
            <a:ext cx="3200400" cy="658368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2" name="Text 120"/>
          <p:cNvSpPr txBox="1"/>
          <p:nvPr/>
        </p:nvSpPr>
        <p:spPr>
          <a:xfrm>
            <a:off x="5596128" y="2176272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칸 변이  0.03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12칸 각각이 3% 확률로 바뀜 (평균 0.36칸)</a:t>
            </a:r>
            <a:endParaRPr lang="en-US" sz="1200" dirty="0"/>
          </a:p>
        </p:txBody>
      </p:sp>
      <p:sp>
        <p:nvSpPr>
          <p:cNvPr id="123" name="pc2"/>
          <p:cNvSpPr/>
          <p:nvPr/>
        </p:nvSpPr>
        <p:spPr>
          <a:xfrm>
            <a:off x="5486400" y="2880360"/>
            <a:ext cx="3200400" cy="658368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4" name="Text 122"/>
          <p:cNvSpPr txBox="1"/>
          <p:nvPr/>
        </p:nvSpPr>
        <p:spPr>
          <a:xfrm>
            <a:off x="5596128" y="2907792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(a, b) 처리 — 같은 확률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변이(작은 무작위 값을 더함) / 성분별 교차 / 선형결합 / 한쪽 선택</a:t>
            </a:r>
            <a:endParaRPr lang="en-US" sz="1200" dirty="0"/>
          </a:p>
        </p:txBody>
      </p:sp>
      <p:sp>
        <p:nvSpPr>
          <p:cNvPr id="125" name="eqbox"/>
          <p:cNvSpPr/>
          <p:nvPr/>
        </p:nvSpPr>
        <p:spPr>
          <a:xfrm>
            <a:off x="457200" y="3703320"/>
            <a:ext cx="4023360" cy="1069848"/>
          </a:xfrm>
          <a:prstGeom prst="roundRect">
            <a:avLst>
              <a:gd name="adj" fmla="val 512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6" name="Text 124"/>
          <p:cNvSpPr txBox="1"/>
          <p:nvPr/>
        </p:nvSpPr>
        <p:spPr>
          <a:xfrm>
            <a:off x="566928" y="3730752"/>
            <a:ext cx="3822192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장에서 쓰는 식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식 없음 (확률 값만 사용)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P, Q: 부모 쪽지 (슬라이드용 표기)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교차 0.3/0.1 · 칸 변이 0.03</a:t>
            </a:r>
            <a:endParaRPr lang="en-US" sz="1200" dirty="0"/>
          </a:p>
        </p:txBody>
      </p:sp>
      <p:sp>
        <p:nvSpPr>
          <p:cNvPr id="127" name="qbox"/>
          <p:cNvSpPr/>
          <p:nvPr/>
        </p:nvSpPr>
        <p:spPr>
          <a:xfrm>
            <a:off x="4663440" y="3703320"/>
            <a:ext cx="4023360" cy="1069848"/>
          </a:xfrm>
          <a:prstGeom prst="roundRect">
            <a:avLst>
              <a:gd name="adj" fmla="val 5128"/>
            </a:avLst>
          </a:prstGeom>
          <a:solidFill>
            <a:srgbClr val="FBEFCB"/>
          </a:solidFill>
          <a:ln w="12700">
            <a:solidFill>
              <a:srgbClr val="FBEFCB"/>
            </a:solidFill>
            <a:prstDash val="solid"/>
          </a:ln>
        </p:spPr>
      </p:sp>
      <p:sp>
        <p:nvSpPr>
          <p:cNvPr id="128" name="Text 126"/>
          <p:cNvSpPr txBox="1"/>
          <p:nvPr/>
        </p:nvSpPr>
        <p:spPr>
          <a:xfrm>
            <a:off x="4773168" y="3730752"/>
            <a:ext cx="3822192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chemeClr val="accent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원고에 없음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교차를 쓰지 않을 때 새 쪽지를 만드는 방법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변이 때 칸이 어떤 값으로 바뀌는지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a, b에 더하는 무작위 값의 크기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ep0"/>
          <p:cNvSpPr/>
          <p:nvPr/>
        </p:nvSpPr>
        <p:spPr>
          <a:xfrm>
            <a:off x="457200" y="128016"/>
            <a:ext cx="1097280" cy="256032"/>
          </a:xfrm>
          <a:prstGeom prst="roundRect">
            <a:avLst>
              <a:gd name="adj" fmla="val 17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2801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초기 쪽지</a:t>
            </a:r>
            <a:endParaRPr lang="en-US" sz="1000" dirty="0"/>
          </a:p>
        </p:txBody>
      </p:sp>
      <p:sp>
        <p:nvSpPr>
          <p:cNvPr id="4" name="step1"/>
          <p:cNvSpPr/>
          <p:nvPr/>
        </p:nvSpPr>
        <p:spPr>
          <a:xfrm>
            <a:off x="1645920" y="128016"/>
            <a:ext cx="1097280" cy="256032"/>
          </a:xfrm>
          <a:prstGeom prst="roundRect">
            <a:avLst>
              <a:gd name="adj" fmla="val 17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645920" y="12801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시장</a:t>
            </a:r>
            <a:endParaRPr lang="en-US" sz="1000" dirty="0"/>
          </a:p>
        </p:txBody>
      </p:sp>
      <p:sp>
        <p:nvSpPr>
          <p:cNvPr id="6" name="step2"/>
          <p:cNvSpPr/>
          <p:nvPr/>
        </p:nvSpPr>
        <p:spPr>
          <a:xfrm>
            <a:off x="2834640" y="128016"/>
            <a:ext cx="1097280" cy="256032"/>
          </a:xfrm>
          <a:prstGeom prst="roundRect">
            <a:avLst>
              <a:gd name="adj" fmla="val 17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834640" y="12801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채점</a:t>
            </a:r>
            <a:endParaRPr lang="en-US" sz="1000" dirty="0"/>
          </a:p>
        </p:txBody>
      </p:sp>
      <p:sp>
        <p:nvSpPr>
          <p:cNvPr id="8" name="step3"/>
          <p:cNvSpPr/>
          <p:nvPr/>
        </p:nvSpPr>
        <p:spPr>
          <a:xfrm>
            <a:off x="4023360" y="128016"/>
            <a:ext cx="1097280" cy="256032"/>
          </a:xfrm>
          <a:prstGeom prst="roundRect">
            <a:avLst>
              <a:gd name="adj" fmla="val 17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023360" y="12801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삭제</a:t>
            </a:r>
            <a:endParaRPr lang="en-US" sz="1000" dirty="0"/>
          </a:p>
        </p:txBody>
      </p:sp>
      <p:sp>
        <p:nvSpPr>
          <p:cNvPr id="10" name="step4"/>
          <p:cNvSpPr/>
          <p:nvPr/>
        </p:nvSpPr>
        <p:spPr>
          <a:xfrm>
            <a:off x="5212080" y="128016"/>
            <a:ext cx="1097280" cy="256032"/>
          </a:xfrm>
          <a:prstGeom prst="roundRect">
            <a:avLst>
              <a:gd name="adj" fmla="val 17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212080" y="12801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부모</a:t>
            </a:r>
            <a:endParaRPr lang="en-US" sz="1000" dirty="0"/>
          </a:p>
        </p:txBody>
      </p:sp>
      <p:sp>
        <p:nvSpPr>
          <p:cNvPr id="12" name="step5"/>
          <p:cNvSpPr/>
          <p:nvPr/>
        </p:nvSpPr>
        <p:spPr>
          <a:xfrm>
            <a:off x="6400800" y="128016"/>
            <a:ext cx="1097280" cy="256032"/>
          </a:xfrm>
          <a:prstGeom prst="roundRect">
            <a:avLst>
              <a:gd name="adj" fmla="val 17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0" y="12801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⑥ 교차·변이</a:t>
            </a:r>
            <a:endParaRPr lang="en-US" sz="1000" dirty="0"/>
          </a:p>
        </p:txBody>
      </p:sp>
      <p:sp>
        <p:nvSpPr>
          <p:cNvPr id="14" name="step6"/>
          <p:cNvSpPr/>
          <p:nvPr/>
        </p:nvSpPr>
        <p:spPr>
          <a:xfrm>
            <a:off x="7589520" y="128016"/>
            <a:ext cx="1097280" cy="256032"/>
          </a:xfrm>
          <a:prstGeom prst="roundRect">
            <a:avLst>
              <a:gd name="adj" fmla="val 1785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589520" y="12801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⑦ 시험</a:t>
            </a:r>
            <a:endParaRPr lang="en-US" sz="1000" dirty="0"/>
          </a:p>
        </p:txBody>
      </p:sp>
      <p:sp>
        <p:nvSpPr>
          <p:cNvPr id="16" name="Text 0"/>
          <p:cNvSpPr/>
          <p:nvPr>
            <p:ph idx="100" type="title" hasCustomPrompt="1"/>
          </p:nvPr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⑦ 시험과 반복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쪽지는 정확할 때만 쓰인다. 그리고 다시 ②로</a:t>
            </a:r>
            <a:endParaRPr lang="en-US" sz="1400" dirty="0"/>
          </a:p>
        </p:txBody>
      </p:sp>
      <p:sp>
        <p:nvSpPr>
          <p:cNvPr id="18" name="newvar"/>
          <p:cNvSpPr/>
          <p:nvPr/>
        </p:nvSpPr>
        <p:spPr>
          <a:xfrm>
            <a:off x="457200" y="1417320"/>
            <a:ext cx="4023360" cy="169164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94360" y="1463040"/>
            <a:ext cx="37947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쪽지의 시작 (분산 초기값)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 부모 분산의 평균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칸이 바뀌었으면 = 전체 쪽지의 평균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값이 기본 쪽지 분산 − 평균절대편차보다 낮으면 = 중앙값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근거 없이 유리해지지 않게</a:t>
            </a:r>
            <a:endParaRPr lang="en-US" sz="1200" dirty="0"/>
          </a:p>
        </p:txBody>
      </p:sp>
      <p:sp>
        <p:nvSpPr>
          <p:cNvPr id="20" name="speeds"/>
          <p:cNvSpPr/>
          <p:nvPr/>
        </p:nvSpPr>
        <p:spPr>
          <a:xfrm>
            <a:off x="4663440" y="1417320"/>
            <a:ext cx="4023360" cy="169164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00600" y="1463040"/>
            <a:ext cx="37947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학습의 두 속도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빠르게 (매 기): 맞는 쪽지 중 가장 정확한 것을 선택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느리게 (GA): 평균 250기(복잡)·1000기(RE)마다, 투자자마다 따로 20% 교체</a:t>
            </a:r>
            <a:endParaRPr lang="en-US" sz="1200" dirty="0"/>
          </a:p>
        </p:txBody>
      </p:sp>
      <p:sp>
        <p:nvSpPr>
          <p:cNvPr id="22" name="loop"/>
          <p:cNvSpPr/>
          <p:nvPr/>
        </p:nvSpPr>
        <p:spPr>
          <a:xfrm>
            <a:off x="457200" y="3246120"/>
            <a:ext cx="8229600" cy="347472"/>
          </a:xfrm>
          <a:prstGeom prst="roundRect">
            <a:avLst>
              <a:gd name="adj" fmla="val 1578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7200" y="32461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↻  다음에는 ② 시장 돌리기로. 이 사이클이 수십만 기간 반복된다 (250,000기 × 25회)</a:t>
            </a:r>
            <a:endParaRPr lang="en-US" sz="1300" dirty="0"/>
          </a:p>
        </p:txBody>
      </p:sp>
      <p:sp>
        <p:nvSpPr>
          <p:cNvPr id="24" name="eqbox"/>
          <p:cNvSpPr/>
          <p:nvPr/>
        </p:nvSpPr>
        <p:spPr>
          <a:xfrm>
            <a:off x="457200" y="3703320"/>
            <a:ext cx="4023360" cy="1069848"/>
          </a:xfrm>
          <a:prstGeom prst="roundRect">
            <a:avLst>
              <a:gd name="adj" fmla="val 512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66928" y="3730752"/>
            <a:ext cx="3822192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장에서 쓰는 식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식 (7) 다시 사용: 새 쪽지의 e²는 활성이 될 때마다 갱신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분산 초기값 규칙은 말로만 적혀 있음 (식 없음)</a:t>
            </a:r>
            <a:endParaRPr lang="en-US" sz="1200" dirty="0"/>
          </a:p>
        </p:txBody>
      </p:sp>
      <p:sp>
        <p:nvSpPr>
          <p:cNvPr id="26" name="qbox"/>
          <p:cNvSpPr/>
          <p:nvPr/>
        </p:nvSpPr>
        <p:spPr>
          <a:xfrm>
            <a:off x="4663440" y="3703320"/>
            <a:ext cx="4023360" cy="1069848"/>
          </a:xfrm>
          <a:prstGeom prst="roundRect">
            <a:avLst>
              <a:gd name="adj" fmla="val 512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773168" y="3730752"/>
            <a:ext cx="3822192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chemeClr val="accent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헷갈리기 쉬운 점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Q. 새 쪽지가 시장을 흔들지 않나?  → 정확도가 입증될 때만 쓰임 (원고: gracefulness)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Q. 모든 투자자가 같이 GA를 돌리나?  → 아니오, 투자자마다 따로(비동기)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ep0"/>
          <p:cNvSpPr/>
          <p:nvPr/>
        </p:nvSpPr>
        <p:spPr>
          <a:xfrm>
            <a:off x="457200" y="128016"/>
            <a:ext cx="1097280" cy="256032"/>
          </a:xfrm>
          <a:prstGeom prst="roundRect">
            <a:avLst>
              <a:gd name="adj" fmla="val 1785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2801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초기 쪽지</a:t>
            </a:r>
            <a:endParaRPr lang="en-US" sz="1000" dirty="0"/>
          </a:p>
        </p:txBody>
      </p:sp>
      <p:sp>
        <p:nvSpPr>
          <p:cNvPr id="4" name="step1"/>
          <p:cNvSpPr/>
          <p:nvPr/>
        </p:nvSpPr>
        <p:spPr>
          <a:xfrm>
            <a:off x="1645920" y="128016"/>
            <a:ext cx="1097280" cy="256032"/>
          </a:xfrm>
          <a:prstGeom prst="roundRect">
            <a:avLst>
              <a:gd name="adj" fmla="val 1785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645920" y="12801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시장</a:t>
            </a:r>
            <a:endParaRPr lang="en-US" sz="1000" dirty="0"/>
          </a:p>
        </p:txBody>
      </p:sp>
      <p:sp>
        <p:nvSpPr>
          <p:cNvPr id="6" name="step2"/>
          <p:cNvSpPr/>
          <p:nvPr/>
        </p:nvSpPr>
        <p:spPr>
          <a:xfrm>
            <a:off x="2834640" y="128016"/>
            <a:ext cx="1097280" cy="256032"/>
          </a:xfrm>
          <a:prstGeom prst="roundRect">
            <a:avLst>
              <a:gd name="adj" fmla="val 1785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834640" y="12801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채점</a:t>
            </a:r>
            <a:endParaRPr lang="en-US" sz="1000" dirty="0"/>
          </a:p>
        </p:txBody>
      </p:sp>
      <p:sp>
        <p:nvSpPr>
          <p:cNvPr id="8" name="step3"/>
          <p:cNvSpPr/>
          <p:nvPr/>
        </p:nvSpPr>
        <p:spPr>
          <a:xfrm>
            <a:off x="4023360" y="128016"/>
            <a:ext cx="1097280" cy="256032"/>
          </a:xfrm>
          <a:prstGeom prst="roundRect">
            <a:avLst>
              <a:gd name="adj" fmla="val 1785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023360" y="12801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삭제</a:t>
            </a:r>
            <a:endParaRPr lang="en-US" sz="1000" dirty="0"/>
          </a:p>
        </p:txBody>
      </p:sp>
      <p:sp>
        <p:nvSpPr>
          <p:cNvPr id="10" name="step4"/>
          <p:cNvSpPr/>
          <p:nvPr/>
        </p:nvSpPr>
        <p:spPr>
          <a:xfrm>
            <a:off x="5212080" y="128016"/>
            <a:ext cx="1097280" cy="256032"/>
          </a:xfrm>
          <a:prstGeom prst="roundRect">
            <a:avLst>
              <a:gd name="adj" fmla="val 1785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212080" y="12801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부모</a:t>
            </a:r>
            <a:endParaRPr lang="en-US" sz="1000" dirty="0"/>
          </a:p>
        </p:txBody>
      </p:sp>
      <p:sp>
        <p:nvSpPr>
          <p:cNvPr id="12" name="step5"/>
          <p:cNvSpPr/>
          <p:nvPr/>
        </p:nvSpPr>
        <p:spPr>
          <a:xfrm>
            <a:off x="6400800" y="128016"/>
            <a:ext cx="1097280" cy="256032"/>
          </a:xfrm>
          <a:prstGeom prst="roundRect">
            <a:avLst>
              <a:gd name="adj" fmla="val 1785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0" y="12801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⑥ 교차·변이</a:t>
            </a:r>
            <a:endParaRPr lang="en-US" sz="1000" dirty="0"/>
          </a:p>
        </p:txBody>
      </p:sp>
      <p:sp>
        <p:nvSpPr>
          <p:cNvPr id="14" name="step6"/>
          <p:cNvSpPr/>
          <p:nvPr/>
        </p:nvSpPr>
        <p:spPr>
          <a:xfrm>
            <a:off x="7589520" y="128016"/>
            <a:ext cx="1097280" cy="256032"/>
          </a:xfrm>
          <a:prstGeom prst="roundRect">
            <a:avLst>
              <a:gd name="adj" fmla="val 1785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589520" y="12801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⑦ 시험</a:t>
            </a:r>
            <a:endParaRPr lang="en-US" sz="1000" dirty="0"/>
          </a:p>
        </p:txBody>
      </p:sp>
      <p:sp>
        <p:nvSpPr>
          <p:cNvPr id="16" name="Text 0"/>
          <p:cNvSpPr/>
          <p:nvPr>
            <p:ph idx="100" type="title" hasCustomPrompt="1"/>
          </p:nvPr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반복의 결과: GA 빈도가 시장의 성격을 가른다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체제 비교 (원고 5절 B, Table 1, Fig. 3)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743200"/>
                <a:gridCol w="347472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 체제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복잡 체제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426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GA 호출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426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평균 1000기마다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426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평균 250기마다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426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교차 확률 / 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426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0.3 / 1/150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426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0.1 / 1/75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426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가격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426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이론가격(RE)으로 수렴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426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이론가에서 이탈, 일시적 버블·급락 (더 낮음)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426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기술적 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426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쓸모없어 사라짐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426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늘어 약 15만 기 뒤 정상상태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426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첨도 (Table 1)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426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0.0131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426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0.3429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426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거래량 /1만 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426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2,461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426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7,784 (약 3배)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" name="eqbox"/>
          <p:cNvSpPr/>
          <p:nvPr/>
        </p:nvSpPr>
        <p:spPr>
          <a:xfrm>
            <a:off x="457200" y="3703320"/>
            <a:ext cx="4023360" cy="1069848"/>
          </a:xfrm>
          <a:prstGeom prst="roundRect">
            <a:avLst>
              <a:gd name="adj" fmla="val 512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66928" y="3730752"/>
            <a:ext cx="3822192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장에서 쓰는 식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 가격  p_t = f·d_t + g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 = ρ/(1+r−ρ) = 6.3333 · g = 16.688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원고 g 식의 (1+f)는 숫자로 검산해 보정 (원고 식대로면 가격 약 97)</a:t>
            </a:r>
            <a:endParaRPr lang="en-US" sz="1200" dirty="0"/>
          </a:p>
        </p:txBody>
      </p:sp>
      <p:sp>
        <p:nvSpPr>
          <p:cNvPr id="21" name="qbox"/>
          <p:cNvSpPr/>
          <p:nvPr/>
        </p:nvSpPr>
        <p:spPr>
          <a:xfrm>
            <a:off x="4663440" y="3703320"/>
            <a:ext cx="4023360" cy="1069848"/>
          </a:xfrm>
          <a:prstGeom prst="roundRect">
            <a:avLst>
              <a:gd name="adj" fmla="val 512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773168" y="3730752"/>
            <a:ext cx="3822192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chemeClr val="accent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헷갈리기 쉬운 점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Q. 왜 복잡해지나?  → 시장 상태 칸이 신호가 되어 서로를 강화하는 쪽지 집단이 생김. 조건을 #로 고정하면 사라짐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각주 9: GA 호출 빈도만 바꿔도 두 체제가 나타남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정리와 다음 단계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사이클이 반복되며 시장의 성격이 정해진다</a:t>
            </a:r>
            <a:endParaRPr lang="en-US" sz="1400" dirty="0"/>
          </a:p>
        </p:txBody>
      </p:sp>
      <p:sp>
        <p:nvSpPr>
          <p:cNvPr id="4" name="wrap0"/>
          <p:cNvSpPr/>
          <p:nvPr/>
        </p:nvSpPr>
        <p:spPr>
          <a:xfrm>
            <a:off x="457200" y="1417320"/>
            <a:ext cx="2651760" cy="2743200"/>
          </a:xfrm>
          <a:prstGeom prst="roundRect">
            <a:avLst>
              <a:gd name="adj" fmla="val 206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508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모형이 보여 준 것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920240"/>
            <a:ext cx="2377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학습(탐색) 빈도에 따라 효율적 시장과 복잡한 시장이 모두 나타남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견해가 모두 맞다: 체제가 다를 뿐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충격은 배당 하나뿐</a:t>
            </a:r>
            <a:endParaRPr lang="en-US" sz="1300" dirty="0"/>
          </a:p>
        </p:txBody>
      </p:sp>
      <p:sp>
        <p:nvSpPr>
          <p:cNvPr id="7" name="wrap1"/>
          <p:cNvSpPr/>
          <p:nvPr/>
        </p:nvSpPr>
        <p:spPr>
          <a:xfrm>
            <a:off x="3246120" y="1417320"/>
            <a:ext cx="2651760" cy="2743200"/>
          </a:xfrm>
          <a:prstGeom prst="roundRect">
            <a:avLst>
              <a:gd name="adj" fmla="val 206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83280" y="1508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7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레버리지 확장 시 짚을 점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383280" y="1920240"/>
            <a:ext cx="2377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식 (5)의 수요에는 부(wealth)가 없음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쪽지는 이익이 아닌 정확도로 평가 (각주 14: 저자도 한계로 인정)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B: CRRA, 재고 있는 전문가, 거래세, 부에 의한 선택을 허용</a:t>
            </a:r>
            <a:endParaRPr lang="en-US" sz="1300" dirty="0"/>
          </a:p>
        </p:txBody>
      </p:sp>
      <p:sp>
        <p:nvSpPr>
          <p:cNvPr id="10" name="wrap2"/>
          <p:cNvSpPr/>
          <p:nvPr/>
        </p:nvSpPr>
        <p:spPr>
          <a:xfrm>
            <a:off x="6035040" y="1417320"/>
            <a:ext cx="2651760" cy="2743200"/>
          </a:xfrm>
          <a:prstGeom prst="roundRect">
            <a:avLst>
              <a:gd name="adj" fmla="val 2069"/>
            </a:avLst>
          </a:prstGeom>
          <a:solidFill>
            <a:srgbClr val="FBEFCB"/>
          </a:solidFill>
          <a:ln w="12700">
            <a:solidFill>
              <a:srgbClr val="FBEFC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172200" y="1508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7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원고에 없는 것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172200" y="1920240"/>
            <a:ext cx="2377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부모 선택 절차, 80 vs 100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교차를 안 쓸 때의 방법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변이 값의 종류와 크기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초기 칸의 0:1 비율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경계값을 고른 이유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부록 1. 파라미터 표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모두 1996 원고에 적힌 값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40233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011680"/>
              </a:tblGrid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파라미터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값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426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이자율 r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426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426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위험회피 λ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426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426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평균 배당 d̄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426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426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지속성 ρ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426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426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충격 분산 σ²_e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426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0.0743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426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투자자 수 N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426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426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쪽지 수 M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426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426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시장 상태 칸 J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426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426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초기 분산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426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371600"/>
          <a:ext cx="402336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468880"/>
              </a:tblGrid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파라미터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값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426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 초기값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426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U(0.7, 1.2)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426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 초기값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426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U(−10, 19.002)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426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426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1/75(복잡), 1/150(RE)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426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복잡함 벌점 C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426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0.005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426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GA 호출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426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평균 250기 / 1000기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426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교체 비율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426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최저 20%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426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교차 확률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426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0.1(복잡), 0.3(RE)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426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칸 변이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426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0.03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426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426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250,000기 × 25회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부록 2. 왜 귀납인가, 그리고 RE 균형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본문에서 뺀 식 (1)(2)(3)(9)</a:t>
            </a:r>
            <a:endParaRPr lang="en-US" sz="1400" dirty="0"/>
          </a:p>
        </p:txBody>
      </p:sp>
      <p:sp>
        <p:nvSpPr>
          <p:cNvPr id="4" name="indu"/>
          <p:cNvSpPr/>
          <p:nvPr/>
        </p:nvSpPr>
        <p:spPr>
          <a:xfrm>
            <a:off x="457200" y="1417320"/>
            <a:ext cx="4023360" cy="2743200"/>
          </a:xfrm>
          <a:prstGeom prst="roundRect">
            <a:avLst>
              <a:gd name="adj" fmla="val 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463040"/>
            <a:ext cx="3794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연역이 막히나 (2절 A)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식 (1)  p_t = β Σ_j w_j (E_j[d_{t+1}] + E_j[p_{t+1}])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accent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가격 = 확신으로 가중한 예상의 할인값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식 (2)  p_t = Σ_k β^k E[d_{t+k}]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accent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모두 같은 예상이면 배당의 현재가치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식 (3)  내일 가격 예상에는 남들의 모레 예상이 필요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"남의 예상의 예상" 무한소급, 연역 불가 → 귀납</a:t>
            </a:r>
            <a:endParaRPr lang="en-US" sz="1200" dirty="0"/>
          </a:p>
        </p:txBody>
      </p:sp>
      <p:sp>
        <p:nvSpPr>
          <p:cNvPr id="6" name="ree"/>
          <p:cNvSpPr/>
          <p:nvPr/>
        </p:nvSpPr>
        <p:spPr>
          <a:xfrm>
            <a:off x="4663440" y="1417320"/>
            <a:ext cx="4023360" cy="2743200"/>
          </a:xfrm>
          <a:prstGeom prst="roundRect">
            <a:avLst>
              <a:gd name="adj" fmla="val 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00600" y="1463040"/>
            <a:ext cx="3794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 균형 (부록 A)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식 (9)  E(p+d) − (1+r)p = λσ²_{p+d}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accent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모두 1주씩 보유하는 균형 조건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p_t = f·d_t + g,  f = ρ/(1+r−ρ) = 6.3333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accent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검산: g = 16.688이면 d=10일 때 p ≈ 80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accent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원고 오타 후보 (숫자로 검산)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 식의 (1+f)가 한 번만 있음 (제곱이 맞음)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식 (10)이 σ²_{p+d}=4.0과 안 맞음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Table 1: RE 체제 왜도 = 첨도 = 0.0131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부록 3. 원고에 없는 것과 내부 불일치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구현할 때 정해야 하고 문서에 기록할 항목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4754880"/>
                <a:gridCol w="347472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6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부모를 뽑는 구체적 절차 (2개 비교인가)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E874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원고에 없음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6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부모를 80개에서 뽑나, 100개에서 뽑나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E874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원고에 없음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6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교차를 쓰지 않을 때 새 쪽지를 만드는 방법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E874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원고에 없음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6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변이 때 칸이 바뀌는 값, a·b에 더하는 값의 크기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E874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원고에 없음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6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초기 칸에서 0과 1의 비율, 경계값 선택 이유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E874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원고에 없음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6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활성 쪽지: 하나만 쓰나, H개를 결합하나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426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3절 B(결합)와 부록 A(하나)가 다름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6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상태 칸의 가격: 현재 가격인가, 전기 가격인가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426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5절 'Current price' vs 3절 A 타이밍(p_{t−1}까지)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6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a, b가 평생 고정이라는 문장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E874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원고에 없음 (3절 B 서술에서 읽어 낸 해석)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FI-GA">
  <a:themeElements>
    <a:clrScheme name="SFI-GA">
      <a:dk1>
        <a:srgbClr val="14263A"/>
      </a:dk1>
      <a:lt1>
        <a:srgbClr val="FFFFFF"/>
      </a:lt1>
      <a:dk2>
        <a:srgbClr val="0F4C5C"/>
      </a:dk2>
      <a:lt2>
        <a:srgbClr val="EEF3F5"/>
      </a:lt2>
      <a:accent1>
        <a:srgbClr val="0E7C86"/>
      </a:accent1>
      <a:accent2>
        <a:srgbClr val="E8743B"/>
      </a:accent2>
      <a:accent3>
        <a:srgbClr val="6C8EA4"/>
      </a:accent3>
      <a:accent4>
        <a:srgbClr val="F2B84B"/>
      </a:accent4>
      <a:accent5>
        <a:srgbClr val="7A5C99"/>
      </a:accent5>
      <a:accent6>
        <a:srgbClr val="4C9F70"/>
      </a:accent6>
      <a:hlink>
        <a:srgbClr val="0E7C86"/>
      </a:hlink>
      <a:folHlink>
        <a:srgbClr val="6C8EA4"/>
      </a:folHlink>
    </a:clrScheme>
    <a:fontScheme name="SFI-GA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GA로 보는 산타페 인공주식시장</dc:title>
  <dc:subject>PptxGenJS Presentation</dc:subject>
  <dc:creator>PptxGenJS</dc:creator>
  <cp:lastModifiedBy>PptxGenJS</cp:lastModifiedBy>
  <cp:revision>1</cp:revision>
  <dcterms:created xsi:type="dcterms:W3CDTF">2026-10-13T18:34:38Z</dcterms:created>
  <dcterms:modified xsi:type="dcterms:W3CDTF">2026-10-13T18:34:38Z</dcterms:modified>
</cp:coreProperties>
</file>