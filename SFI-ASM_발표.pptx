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0e1f3cab-66bc-5ebf-f2d0-05017ade9f48}">
          <p14:sldIdLst>
            <p14:sldId id="256"/>
          </p14:sldIdLst>
        </p14:section>
        <p14:section name="배경" id="{a1db8586-21c9-f684-56b7-7b5e2ef02d88}">
          <p14:sldIdLst>
            <p14:sldId id="257"/>
          </p14:sldIdLst>
        </p14:section>
        <p14:section name="모형 구조" id="{b24756e0-1ac3-22aa-80af-9fe8adcc190b}">
          <p14:sldIdLst>
            <p14:sldId id="258"/>
            <p14:sldId id="259"/>
            <p14:sldId id="260"/>
            <p14:sldId id="261"/>
          </p14:sldIdLst>
        </p14:section>
        <p14:section name="학습과 규칙" id="{e8361519-a585-7c93-f973-5c500a914942}">
          <p14:sldIdLst>
            <p14:sldId id="262"/>
            <p14:sldId id="263"/>
            <p14:sldId id="264"/>
          </p14:sldIdLst>
        </p14:section>
        <p14:section name="실험과 결과" id="{c5584257-46ce-c204-62fa-5e9b1a009f5c}">
          <p14:sldIdLst>
            <p14:sldId id="265"/>
            <p14:sldId id="266"/>
            <p14:sldId id="267"/>
          </p14:sldIdLst>
        </p14:section>
        <p14:section name="정리" id="{c2cb3953-7f1a-cd5f-6b79-a0e598824a02}">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63A"/>
                </a:solidFill>
                <a:latin typeface="+mn-lt"/>
              </a:defRPr>
            </a:pPr>
            <a:r>
              <a:rPr sz="1200" b="0" i="0" u="none" strike="noStrike">
                <a:solidFill>
                  <a:srgbClr val="14263A"/>
                </a:solidFill>
                <a:latin typeface="+mn-lt"/>
              </a:rPr>
              <a:t>시뮬레이션한 배당 경로 (100기간)</a:t>
            </a:r>
          </a:p>
        </c:rich>
      </c:tx>
      <c:layout/>
      <c:overlay val="0"/>
    </c:title>
    <c:autoTitleDeleted val="0"/>
    <c:plotArea>
      <c:layout/>
      <c:lineChart>
        <c:varyColors val="0"/>
        <c:ser>
          <c:idx val="0"/>
          <c:order val="0"/>
          <c:tx>
            <c:strRef>
              <c:f>Sheet1!$B$1</c:f>
              <c:strCache>
                <c:ptCount val="1"/>
                <c:pt idx="0">
                  <c:v>배당</c:v>
                </c:pt>
              </c:strCache>
            </c:strRef>
          </c:tx>
          <c:spPr>
            <a:solidFill>
              <a:srgbClr val="0E7C86"/>
            </a:solidFill>
            <a:ln w="25400" cap="flat">
              <a:solidFill>
                <a:srgbClr val="0E7C8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7C86"/>
              </a:solidFill>
              <a:ln w="9525" cap="flat">
                <a:solidFill>
                  <a:srgbClr val="0E7C86"/>
                </a:solidFill>
                <a:prstDash val="solid"/>
                <a:round/>
              </a:ln>
              <a:effectLst/>
            </c:spPr>
          </c:marker>
          <c:cat>
            <c:multiLvlStrRef>
              <c:f>Sheet1!$A$2:$A$101</c:f>
              <c:multiLvlStrCache>
                <c:ptCount val="10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lvl>
              </c:multiLvlStrCache>
            </c:multiLvlStrRef>
          </c:cat>
          <c:val>
            <c:numRef>
              <c:f>Sheet1!$B$2:$B$101</c:f>
              <c:numCache>
                <c:formatCode>General</c:formatCode>
                <c:ptCount val="100"/>
                <c:pt idx="0">
                  <c:v>10</c:v>
                </c:pt>
                <c:pt idx="1">
                  <c:v>10.752</c:v>
                </c:pt>
                <c:pt idx="2">
                  <c:v>10.696</c:v>
                </c:pt>
                <c:pt idx="3">
                  <c:v>10.403</c:v>
                </c:pt>
                <c:pt idx="4">
                  <c:v>10.404</c:v>
                </c:pt>
                <c:pt idx="5">
                  <c:v>10.347</c:v>
                </c:pt>
                <c:pt idx="6">
                  <c:v>10.579</c:v>
                </c:pt>
                <c:pt idx="7">
                  <c:v>10.352</c:v>
                </c:pt>
                <c:pt idx="8">
                  <c:v>10.003</c:v>
                </c:pt>
                <c:pt idx="9">
                  <c:v>9.586</c:v>
                </c:pt>
                <c:pt idx="10">
                  <c:v>10.027</c:v>
                </c:pt>
                <c:pt idx="11">
                  <c:v>10.354</c:v>
                </c:pt>
                <c:pt idx="12">
                  <c:v>10.643</c:v>
                </c:pt>
                <c:pt idx="13">
                  <c:v>10.477</c:v>
                </c:pt>
                <c:pt idx="14">
                  <c:v>10.476</c:v>
                </c:pt>
                <c:pt idx="15">
                  <c:v>10.982</c:v>
                </c:pt>
                <c:pt idx="16">
                  <c:v>10.719</c:v>
                </c:pt>
                <c:pt idx="17">
                  <c:v>10.917</c:v>
                </c:pt>
                <c:pt idx="18">
                  <c:v>11.104</c:v>
                </c:pt>
                <c:pt idx="19">
                  <c:v>11.211</c:v>
                </c:pt>
                <c:pt idx="20">
                  <c:v>10.834</c:v>
                </c:pt>
                <c:pt idx="21">
                  <c:v>11.146</c:v>
                </c:pt>
                <c:pt idx="22">
                  <c:v>11.156</c:v>
                </c:pt>
                <c:pt idx="23">
                  <c:v>10.754</c:v>
                </c:pt>
                <c:pt idx="24">
                  <c:v>11.033</c:v>
                </c:pt>
                <c:pt idx="25">
                  <c:v>10.894</c:v>
                </c:pt>
                <c:pt idx="26">
                  <c:v>10.599</c:v>
                </c:pt>
                <c:pt idx="27">
                  <c:v>10.931</c:v>
                </c:pt>
                <c:pt idx="28">
                  <c:v>10.834</c:v>
                </c:pt>
                <c:pt idx="29">
                  <c:v>10.457</c:v>
                </c:pt>
                <c:pt idx="30">
                  <c:v>10.821</c:v>
                </c:pt>
                <c:pt idx="31">
                  <c:v>10.989</c:v>
                </c:pt>
                <c:pt idx="32">
                  <c:v>11.078</c:v>
                </c:pt>
                <c:pt idx="33">
                  <c:v>11.244</c:v>
                </c:pt>
                <c:pt idx="34">
                  <c:v>10.627</c:v>
                </c:pt>
                <c:pt idx="35">
                  <c:v>10.792</c:v>
                </c:pt>
                <c:pt idx="36">
                  <c:v>10.793</c:v>
                </c:pt>
                <c:pt idx="37">
                  <c:v>11.024</c:v>
                </c:pt>
                <c:pt idx="38">
                  <c:v>10.906</c:v>
                </c:pt>
                <c:pt idx="39">
                  <c:v>11.033</c:v>
                </c:pt>
                <c:pt idx="40">
                  <c:v>10.834</c:v>
                </c:pt>
                <c:pt idx="41">
                  <c:v>10.584</c:v>
                </c:pt>
                <c:pt idx="42">
                  <c:v>10.757</c:v>
                </c:pt>
                <c:pt idx="43">
                  <c:v>10.85</c:v>
                </c:pt>
                <c:pt idx="44">
                  <c:v>10.585</c:v>
                </c:pt>
                <c:pt idx="45">
                  <c:v>10.355</c:v>
                </c:pt>
                <c:pt idx="46">
                  <c:v>10.372</c:v>
                </c:pt>
                <c:pt idx="47">
                  <c:v>11.177</c:v>
                </c:pt>
                <c:pt idx="48">
                  <c:v>11.165</c:v>
                </c:pt>
                <c:pt idx="49">
                  <c:v>11.367</c:v>
                </c:pt>
                <c:pt idx="50">
                  <c:v>11.078</c:v>
                </c:pt>
                <c:pt idx="51">
                  <c:v>11.246</c:v>
                </c:pt>
                <c:pt idx="52">
                  <c:v>11.618</c:v>
                </c:pt>
                <c:pt idx="53">
                  <c:v>11.623</c:v>
                </c:pt>
                <c:pt idx="54">
                  <c:v>11.67</c:v>
                </c:pt>
                <c:pt idx="55">
                  <c:v>12.127</c:v>
                </c:pt>
                <c:pt idx="56">
                  <c:v>11.731</c:v>
                </c:pt>
                <c:pt idx="57">
                  <c:v>11.23</c:v>
                </c:pt>
                <c:pt idx="58">
                  <c:v>11.356</c:v>
                </c:pt>
                <c:pt idx="59">
                  <c:v>11.275</c:v>
                </c:pt>
                <c:pt idx="60">
                  <c:v>11.46</c:v>
                </c:pt>
                <c:pt idx="61">
                  <c:v>11.364</c:v>
                </c:pt>
                <c:pt idx="62">
                  <c:v>11.213</c:v>
                </c:pt>
                <c:pt idx="63">
                  <c:v>10.749</c:v>
                </c:pt>
                <c:pt idx="64">
                  <c:v>10.823</c:v>
                </c:pt>
                <c:pt idx="65">
                  <c:v>10.315</c:v>
                </c:pt>
                <c:pt idx="66">
                  <c:v>9.972</c:v>
                </c:pt>
                <c:pt idx="67">
                  <c:v>9.971</c:v>
                </c:pt>
                <c:pt idx="68">
                  <c:v>9.626</c:v>
                </c:pt>
                <c:pt idx="69">
                  <c:v>10.157</c:v>
                </c:pt>
                <c:pt idx="70">
                  <c:v>10.654</c:v>
                </c:pt>
                <c:pt idx="71">
                  <c:v>11.032</c:v>
                </c:pt>
                <c:pt idx="72">
                  <c:v>11.028</c:v>
                </c:pt>
                <c:pt idx="73">
                  <c:v>10.555</c:v>
                </c:pt>
                <c:pt idx="74">
                  <c:v>10.492</c:v>
                </c:pt>
                <c:pt idx="75">
                  <c:v>10.221</c:v>
                </c:pt>
                <c:pt idx="76">
                  <c:v>10.165</c:v>
                </c:pt>
                <c:pt idx="77">
                  <c:v>9.978</c:v>
                </c:pt>
                <c:pt idx="78">
                  <c:v>9.823</c:v>
                </c:pt>
                <c:pt idx="79">
                  <c:v>9.755</c:v>
                </c:pt>
                <c:pt idx="80">
                  <c:v>9.818</c:v>
                </c:pt>
                <c:pt idx="81">
                  <c:v>9.819</c:v>
                </c:pt>
                <c:pt idx="82">
                  <c:v>9.906</c:v>
                </c:pt>
                <c:pt idx="83">
                  <c:v>9.735</c:v>
                </c:pt>
                <c:pt idx="84">
                  <c:v>10.091</c:v>
                </c:pt>
                <c:pt idx="85">
                  <c:v>9.795</c:v>
                </c:pt>
                <c:pt idx="86">
                  <c:v>9.965</c:v>
                </c:pt>
                <c:pt idx="87">
                  <c:v>10.329</c:v>
                </c:pt>
                <c:pt idx="88">
                  <c:v>10.039</c:v>
                </c:pt>
                <c:pt idx="89">
                  <c:v>9.647</c:v>
                </c:pt>
                <c:pt idx="90">
                  <c:v>9.983</c:v>
                </c:pt>
                <c:pt idx="91">
                  <c:v>10.271</c:v>
                </c:pt>
                <c:pt idx="92">
                  <c:v>10.097</c:v>
                </c:pt>
                <c:pt idx="93">
                  <c:v>9.979</c:v>
                </c:pt>
                <c:pt idx="94">
                  <c:v>9.882</c:v>
                </c:pt>
                <c:pt idx="95">
                  <c:v>10.019</c:v>
                </c:pt>
                <c:pt idx="96">
                  <c:v>9.837</c:v>
                </c:pt>
                <c:pt idx="97">
                  <c:v>10.013</c:v>
                </c:pt>
                <c:pt idx="98">
                  <c:v>9.906</c:v>
                </c:pt>
                <c:pt idx="99">
                  <c:v>9.668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C8EA4"/>
                </a:solidFill>
                <a:latin typeface="+mn-lt"/>
              </a:defRPr>
            </a:pPr>
            <a:endParaRPr lang="en-US"/>
          </a:p>
        </c:txPr>
        <c:crossAx val="2094734552"/>
        <c:crosses val="autoZero"/>
        <c:auto val="1"/>
        <c:lblAlgn val="ctr"/>
        <c:noMultiLvlLbl val="1"/>
        <c:tickLblSkip val="20"/>
      </c:catAx>
      <c:valAx>
        <c:axId val="2094734552"/>
        <c:scaling>
          <c:orientation val="minMax"/>
          <c:max val="12"/>
          <c:min val="8"/>
        </c:scaling>
        <c:delete val="0"/>
        <c:axPos val="l"/>
        <c:majorGridlines>
          <c:spPr>
            <a:ln w="6350" cap="flat">
              <a:solidFill>
                <a:srgbClr val="D9E2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C8EA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63A"/>
                </a:solidFill>
                <a:latin typeface="+mn-lt"/>
              </a:defRPr>
            </a:pPr>
            <a:r>
              <a:rPr sz="1200" b="0" i="0" u="none" strike="noStrike">
                <a:solidFill>
                  <a:srgbClr val="14263A"/>
                </a:solidFill>
                <a:latin typeface="+mn-lt"/>
              </a:rPr>
              <a:t>같은 배당 경로에서의 이론가격 (RE 균형)</a:t>
            </a:r>
          </a:p>
        </c:rich>
      </c:tx>
      <c:layout/>
      <c:overlay val="0"/>
    </c:title>
    <c:autoTitleDeleted val="0"/>
    <c:plotArea>
      <c:layout/>
      <c:lineChart>
        <c:varyColors val="0"/>
        <c:ser>
          <c:idx val="0"/>
          <c:order val="0"/>
          <c:tx>
            <c:strRef>
              <c:f>Sheet1!$B$1</c:f>
              <c:strCache>
                <c:ptCount val="1"/>
                <c:pt idx="0">
                  <c:v>이론가격</c:v>
                </c:pt>
              </c:strCache>
            </c:strRef>
          </c:tx>
          <c:spPr>
            <a:solidFill>
              <a:srgbClr val="E8743B"/>
            </a:solidFill>
            <a:ln w="25400" cap="flat">
              <a:solidFill>
                <a:srgbClr val="E874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8743B"/>
              </a:solidFill>
              <a:ln w="9525" cap="flat">
                <a:solidFill>
                  <a:srgbClr val="E8743B"/>
                </a:solidFill>
                <a:prstDash val="solid"/>
                <a:round/>
              </a:ln>
              <a:effectLst/>
            </c:spPr>
          </c:marker>
          <c:cat>
            <c:multiLvlStrRef>
              <c:f>Sheet1!$A$2:$A$101</c:f>
              <c:multiLvlStrCache>
                <c:ptCount val="10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lvl>
              </c:multiLvlStrCache>
            </c:multiLvlStrRef>
          </c:cat>
          <c:val>
            <c:numRef>
              <c:f>Sheet1!$B$2:$B$101</c:f>
              <c:numCache>
                <c:formatCode>General</c:formatCode>
                <c:ptCount val="100"/>
                <c:pt idx="0">
                  <c:v>80.02</c:v>
                </c:pt>
                <c:pt idx="1">
                  <c:v>84.78</c:v>
                </c:pt>
                <c:pt idx="2">
                  <c:v>84.43</c:v>
                </c:pt>
                <c:pt idx="3">
                  <c:v>82.58</c:v>
                </c:pt>
                <c:pt idx="4">
                  <c:v>82.58</c:v>
                </c:pt>
                <c:pt idx="5">
                  <c:v>82.22</c:v>
                </c:pt>
                <c:pt idx="6">
                  <c:v>83.69</c:v>
                </c:pt>
                <c:pt idx="7">
                  <c:v>82.25</c:v>
                </c:pt>
                <c:pt idx="8">
                  <c:v>80.04</c:v>
                </c:pt>
                <c:pt idx="9">
                  <c:v>77.4</c:v>
                </c:pt>
                <c:pt idx="10">
                  <c:v>80.2</c:v>
                </c:pt>
                <c:pt idx="11">
                  <c:v>82.26</c:v>
                </c:pt>
                <c:pt idx="12">
                  <c:v>84.1</c:v>
                </c:pt>
                <c:pt idx="13">
                  <c:v>83.04</c:v>
                </c:pt>
                <c:pt idx="14">
                  <c:v>83.03</c:v>
                </c:pt>
                <c:pt idx="15">
                  <c:v>86.24</c:v>
                </c:pt>
                <c:pt idx="16">
                  <c:v>84.58</c:v>
                </c:pt>
                <c:pt idx="17">
                  <c:v>85.83</c:v>
                </c:pt>
                <c:pt idx="18">
                  <c:v>87.01</c:v>
                </c:pt>
                <c:pt idx="19">
                  <c:v>87.69</c:v>
                </c:pt>
                <c:pt idx="20">
                  <c:v>85.3</c:v>
                </c:pt>
                <c:pt idx="21">
                  <c:v>87.28</c:v>
                </c:pt>
                <c:pt idx="22">
                  <c:v>87.34</c:v>
                </c:pt>
                <c:pt idx="23">
                  <c:v>84.79</c:v>
                </c:pt>
                <c:pt idx="24">
                  <c:v>86.56</c:v>
                </c:pt>
                <c:pt idx="25">
                  <c:v>85.69</c:v>
                </c:pt>
                <c:pt idx="26">
                  <c:v>83.81</c:v>
                </c:pt>
                <c:pt idx="27">
                  <c:v>85.92</c:v>
                </c:pt>
                <c:pt idx="28">
                  <c:v>85.3</c:v>
                </c:pt>
                <c:pt idx="29">
                  <c:v>82.92</c:v>
                </c:pt>
                <c:pt idx="30">
                  <c:v>85.22</c:v>
                </c:pt>
                <c:pt idx="31">
                  <c:v>86.29</c:v>
                </c:pt>
                <c:pt idx="32">
                  <c:v>86.85</c:v>
                </c:pt>
                <c:pt idx="33">
                  <c:v>87.9</c:v>
                </c:pt>
                <c:pt idx="34">
                  <c:v>83.99</c:v>
                </c:pt>
                <c:pt idx="35">
                  <c:v>85.04</c:v>
                </c:pt>
                <c:pt idx="36">
                  <c:v>85.04</c:v>
                </c:pt>
                <c:pt idx="37">
                  <c:v>86.51</c:v>
                </c:pt>
                <c:pt idx="38">
                  <c:v>85.76</c:v>
                </c:pt>
                <c:pt idx="39">
                  <c:v>86.57</c:v>
                </c:pt>
                <c:pt idx="40">
                  <c:v>85.3</c:v>
                </c:pt>
                <c:pt idx="41">
                  <c:v>83.72</c:v>
                </c:pt>
                <c:pt idx="42">
                  <c:v>84.81</c:v>
                </c:pt>
                <c:pt idx="43">
                  <c:v>85.4</c:v>
                </c:pt>
                <c:pt idx="44">
                  <c:v>83.73</c:v>
                </c:pt>
                <c:pt idx="45">
                  <c:v>82.27</c:v>
                </c:pt>
                <c:pt idx="46">
                  <c:v>82.38</c:v>
                </c:pt>
                <c:pt idx="47">
                  <c:v>87.48</c:v>
                </c:pt>
                <c:pt idx="48">
                  <c:v>87.4</c:v>
                </c:pt>
                <c:pt idx="49">
                  <c:v>88.68</c:v>
                </c:pt>
                <c:pt idx="50">
                  <c:v>86.85</c:v>
                </c:pt>
                <c:pt idx="51">
                  <c:v>87.91</c:v>
                </c:pt>
                <c:pt idx="52">
                  <c:v>90.27</c:v>
                </c:pt>
                <c:pt idx="53">
                  <c:v>90.3</c:v>
                </c:pt>
                <c:pt idx="54">
                  <c:v>90.6</c:v>
                </c:pt>
                <c:pt idx="55">
                  <c:v>93.49</c:v>
                </c:pt>
                <c:pt idx="56">
                  <c:v>90.98</c:v>
                </c:pt>
                <c:pt idx="57">
                  <c:v>87.81</c:v>
                </c:pt>
                <c:pt idx="58">
                  <c:v>88.61</c:v>
                </c:pt>
                <c:pt idx="59">
                  <c:v>88.09</c:v>
                </c:pt>
                <c:pt idx="60">
                  <c:v>89.27</c:v>
                </c:pt>
                <c:pt idx="61">
                  <c:v>88.66</c:v>
                </c:pt>
                <c:pt idx="62">
                  <c:v>87.71</c:v>
                </c:pt>
                <c:pt idx="63">
                  <c:v>84.76</c:v>
                </c:pt>
                <c:pt idx="64">
                  <c:v>85.24</c:v>
                </c:pt>
                <c:pt idx="65">
                  <c:v>82.01</c:v>
                </c:pt>
                <c:pt idx="66">
                  <c:v>79.84</c:v>
                </c:pt>
                <c:pt idx="67">
                  <c:v>79.84</c:v>
                </c:pt>
                <c:pt idx="68">
                  <c:v>77.66</c:v>
                </c:pt>
                <c:pt idx="69">
                  <c:v>81.02</c:v>
                </c:pt>
                <c:pt idx="70">
                  <c:v>84.16</c:v>
                </c:pt>
                <c:pt idx="71">
                  <c:v>86.56</c:v>
                </c:pt>
                <c:pt idx="72">
                  <c:v>86.53</c:v>
                </c:pt>
                <c:pt idx="73">
                  <c:v>83.54</c:v>
                </c:pt>
                <c:pt idx="74">
                  <c:v>83.13</c:v>
                </c:pt>
                <c:pt idx="75">
                  <c:v>81.42</c:v>
                </c:pt>
                <c:pt idx="76">
                  <c:v>81.06</c:v>
                </c:pt>
                <c:pt idx="77">
                  <c:v>79.88</c:v>
                </c:pt>
                <c:pt idx="78">
                  <c:v>78.9</c:v>
                </c:pt>
                <c:pt idx="79">
                  <c:v>78.47</c:v>
                </c:pt>
                <c:pt idx="80">
                  <c:v>78.87</c:v>
                </c:pt>
                <c:pt idx="81">
                  <c:v>78.87</c:v>
                </c:pt>
                <c:pt idx="82">
                  <c:v>79.43</c:v>
                </c:pt>
                <c:pt idx="83">
                  <c:v>78.34</c:v>
                </c:pt>
                <c:pt idx="84">
                  <c:v>80.6</c:v>
                </c:pt>
                <c:pt idx="85">
                  <c:v>78.72</c:v>
                </c:pt>
                <c:pt idx="86">
                  <c:v>79.8</c:v>
                </c:pt>
                <c:pt idx="87">
                  <c:v>82.11</c:v>
                </c:pt>
                <c:pt idx="88">
                  <c:v>80.27</c:v>
                </c:pt>
                <c:pt idx="89">
                  <c:v>77.78</c:v>
                </c:pt>
                <c:pt idx="90">
                  <c:v>79.91</c:v>
                </c:pt>
                <c:pt idx="91">
                  <c:v>81.74</c:v>
                </c:pt>
                <c:pt idx="92">
                  <c:v>80.64</c:v>
                </c:pt>
                <c:pt idx="93">
                  <c:v>79.89</c:v>
                </c:pt>
                <c:pt idx="94">
                  <c:v>79.27</c:v>
                </c:pt>
                <c:pt idx="95">
                  <c:v>80.14</c:v>
                </c:pt>
                <c:pt idx="96">
                  <c:v>78.99</c:v>
                </c:pt>
                <c:pt idx="97">
                  <c:v>80.1</c:v>
                </c:pt>
                <c:pt idx="98">
                  <c:v>79.43</c:v>
                </c:pt>
                <c:pt idx="99">
                  <c:v>77.92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C8EA4"/>
                </a:solidFill>
                <a:latin typeface="+mn-lt"/>
              </a:defRPr>
            </a:pPr>
            <a:endParaRPr lang="en-US"/>
          </a:p>
        </c:txPr>
        <c:crossAx val="2094734552"/>
        <c:crosses val="autoZero"/>
        <c:auto val="1"/>
        <c:lblAlgn val="ctr"/>
        <c:noMultiLvlLbl val="1"/>
        <c:tickLblSkip val="20"/>
      </c:catAx>
      <c:valAx>
        <c:axId val="2094734552"/>
        <c:scaling>
          <c:orientation val="minMax"/>
          <c:max val="100"/>
          <c:min val="60"/>
        </c:scaling>
        <c:delete val="0"/>
        <c:axPos val="l"/>
        <c:majorGridlines>
          <c:spPr>
            <a:ln w="6350" cap="flat">
              <a:solidFill>
                <a:srgbClr val="D9E2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C8EA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63A"/>
                </a:solidFill>
                <a:latin typeface="+mn-lt"/>
              </a:defRPr>
            </a:pPr>
            <a:r>
              <a:rPr sz="1200" b="0" i="0" u="none" strike="noStrike">
                <a:solidFill>
                  <a:srgbClr val="14263A"/>
                </a:solidFill>
                <a:latin typeface="+mn-lt"/>
              </a:rPr>
              <a:t>차트 신호 비트 사용 비율 (그림에서 읽은 대략값)</a:t>
            </a:r>
          </a:p>
        </c:rich>
      </c:tx>
      <c:layout/>
      <c:overlay val="0"/>
    </c:title>
    <c:autoTitleDeleted val="0"/>
    <c:plotArea>
      <c:layout/>
      <c:barChart>
        <c:barDir val="col"/>
        <c:grouping val="clustered"/>
        <c:varyColors val="0"/>
        <c:ser>
          <c:idx val="0"/>
          <c:order val="0"/>
          <c:tx>
            <c:strRef>
              <c:f>Sheet1!$B$1</c:f>
              <c:strCache>
                <c:ptCount val="1"/>
                <c:pt idx="0">
                  <c:v>차트 신호를 쓰는 비율</c:v>
                </c:pt>
              </c:strCache>
            </c:strRef>
          </c:tx>
          <c:spPr>
            <a:solidFill>
              <a:srgbClr val="0E7C86"/>
            </a:solidFill>
            <a:effectLst/>
          </c:spPr>
          <c:invertIfNegative val="0"/>
          <c:dLbls>
            <c:numFmt formatCode="0.0%" sourceLinked="0"/>
            <c:txPr>
              <a:bodyPr/>
              <a:lstStyle/>
              <a:p>
                <a:pPr>
                  <a:defRPr b="0" i="0" strike="noStrike" sz="1200" u="none">
                    <a:solidFill>
                      <a:srgbClr val="14263A"/>
                    </a:solidFill>
                    <a:latin typeface="+mn-lt"/>
                  </a:defRPr>
                </a:pPr>
              </a:p>
            </c:txPr>
            <c:showLegendKey val="0"/>
            <c:showVal val="1"/>
            <c:showCatName val="0"/>
            <c:showSerName val="0"/>
            <c:showPercent val="0"/>
            <c:showBubbleSize val="0"/>
            <c:showLeaderLines val="0"/>
          </c:dLbls>
          <c:dPt>
            <c:idx val="0"/>
            <c:invertIfNegative val="0"/>
            <c:bubble3D val="0"/>
            <c:spPr>
              <a:solidFill>
                <a:srgbClr val="0E7C86"/>
              </a:solidFill>
              <a:effectLst/>
            </c:spPr>
          </c:dPt>
          <c:dPt>
            <c:idx val="1"/>
            <c:invertIfNegative val="0"/>
            <c:bubble3D val="0"/>
            <c:spPr>
              <a:solidFill>
                <a:srgbClr val="E8743B"/>
              </a:solidFill>
              <a:effectLst/>
            </c:spPr>
          </c:dPt>
          <c:cat>
            <c:multiLvlStrRef>
              <c:f>Sheet1!$A$2:$A$3</c:f>
              <c:multiLvlStrCache>
                <c:ptCount val="2"/>
                <c:lvl>
                  <c:pt idx="0">
                    <c:v>천천히 (k=1000)</c:v>
                  </c:pt>
                  <c:pt idx="1">
                    <c:v>빠르게 (k=250)</c:v>
                  </c:pt>
                </c:lvl>
              </c:multiLvlStrCache>
            </c:multiLvlStrRef>
          </c:cat>
          <c:val>
            <c:numRef>
              <c:f>Sheet1!$B$2:$B$3</c:f>
              <c:numCache>
                <c:formatCode>General</c:formatCode>
                <c:ptCount val="2"/>
                <c:pt idx="0">
                  <c:v>0.025</c:v>
                </c:pt>
                <c:pt idx="1">
                  <c:v>0.12</c:v>
                </c:pt>
              </c:numCache>
            </c:numRef>
          </c:val>
        </c:ser>
        <c:dLbls>
          <c:numFmt formatCode="0.0%" sourceLinked="0"/>
          <c:txPr>
            <a:bodyPr/>
            <a:lstStyle/>
            <a:p>
              <a:pPr>
                <a:defRPr b="0" i="0" strike="noStrike" sz="1200" u="none">
                  <a:solidFill>
                    <a:srgbClr val="1426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4263A"/>
                </a:solidFill>
                <a:latin typeface="+mn-lt"/>
              </a:defRPr>
            </a:pPr>
            <a:endParaRPr lang="en-US"/>
          </a:p>
        </c:txPr>
        <c:crossAx val="2094734552"/>
        <c:crosses val="autoZero"/>
        <c:auto val="1"/>
        <c:lblAlgn val="ctr"/>
        <c:noMultiLvlLbl val="1"/>
      </c:catAx>
      <c:valAx>
        <c:axId val="2094734552"/>
        <c:scaling>
          <c:orientation val="minMax"/>
          <c:max val="0.16"/>
          <c:min val="0"/>
        </c:scaling>
        <c:delete val="0"/>
        <c:axPos val="l"/>
        <c:majorGridlines>
          <c:spPr>
            <a:ln w="6350" cap="flat">
              <a:solidFill>
                <a:srgbClr val="D9E2E7"/>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C8EA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설명할 모형은 산타페 연구소의 인공주식시장입니다. 한 문장으로: 25명의 가상 투자자가 각자 '이런 상황이면 내일 가격은 이 정도'라는 메모를 갖고 거래하고, 못 맞힌 메모는 버리고 잘 맞힌 메모를 섞어 새로 만드는 가상 시장입니다. 기준 논문은 LeBaron, Arthur, Palmer(1999)입니다.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모두가 같은 정답 모형을 안다고 가정하면 거래가 일어나지 않고, 변동성 군집이나 거래량-변동성 관계도 나오지 않습니다. 이 모형은 투자자를 '경험칙을 쓰고 고쳐 가는 에이전트'로 바꿔서, 외부 충격이 하나뿐인데도 이런 현상이 나타나는지 컴퓨터로 실험합니다.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슬라이드가 전체 요약입니다. 핵심은 마지막 줄: 가격은 누가 정해 주는 것이 아니라, 25명의 예측이 주문으로 모이는 곳에서 결정됩니다. 그런데 그 예측은 다시 과거 가격을 보고 만들어지므로, 예측이 가격을 만들고 가격이 예측을 바꾸는 순환 구조입니다.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배당은 평균 10 근처에서 움직입니다. 오늘 많이 주면 내일도 비교적 많이 주지만 서서히 평균으로 돌아옵니다. 매번 정규분포 충격이 하나씩 더해집니다. 이 그림은 논문 파라미터(평균 10, 지속성 0.95, 충격 분산 0.07429)로 제가 직접 시뮬레이션한 경로입니다. 이 충격이 시장의 유일한 외부 변수입니다.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투자자의 판단은 단순합니다. 내일 값을 얼마로 예상하느냐에서, 같은 돈을 예금에 넣었을 때의 값을 뺍니다. 이 초과 이익이 클수록, 그리고 불확실하다고 느끼는 정도가 작을수록 많이 삽니다. 위 숫자는 가격 80일 때의 예시입니다. 마이너스면 빌려서 파는 공매도입니다. 경매인은 모두의 주문 합이 25주(시장 전체 주식)가 되는 가격을 찾습니다. 참고로 논문에서는 한 번에 최대 10주까지만 거래, 공매도 5주 한도 같은 제약이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모든 투자자가 배당 규칙을 정확히 알고 있다면 가격은 배당의 일차함수가 됩니다. 계수는 6.33과 16.69이고, 배당이 10이면 가격은 약 80입니다. 이 그림은 앞 슬라이드와 같은 배당 경로에 이 공식을 적용한 것입니다. 논문의 실험은 '학습하는 시장의 실제 가격'이 이 이론가격에서 얼마나 벗어나는지를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메모 한 장은 조건 12칸과 예측 하나로 이뤄집니다. 조건의 각 칸은 켜짐(1), 꺼짐(0), 상관없음(#) 중 하나입니다. 위 예시는 '1번 불 켜짐, 4번 꺼짐, 7번 켜짐, 나머지는 상관없음'이라는 메모입니다. 오늘의 대시보드 모양과 맞으면 이 메모의 예측을 쓸 수 있습니다. 예측은 오늘 값의 a배에 b를 더한 단순한 식입니다. 정답(이론)은 a가 0.95, b가 약 4.5입니다. 연속값인 가격이 12개의 0/1 신호로 압축되는 점이 중요합니다.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하루는 이 순서로 진행됩니다. 단, 메모는 현재 가격이 아니라 그 이전까지의 정보로 대시보드를 만듭니다(논문 각주 11). 현재 가격에 조건을 걸면 가격 결정이 비선형 문제가 되기 때문입니다. 6단계 채점에서는 실제로 쓴 메모뿐 아니라 그날 조건이 맞았던 모든 메모가 채점됩니다. 이 오차는 오래된 것은 서서히 잊는 방식(약 75기간)으로 평균을 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정리는 평균 k기간에 한 번, 투자자마다 따로 일어납니다. 못한 20장을 버리고 20장을 새로 만듭니다. 새 메모는 교차(두 부모 섞기) 또는 돌연변이(하나를 조금 바꾸기)로 만들어지는데, 논문 값은 교차 10%, 돌연변이 90%입니다. 성적을 수익이 아니라 예측 정확도로 매기는 이유는, 수익으로 매기면 좋은 상황에서만 쓰는 메모와 나쁜 상황용 메모가 불공정하게 경쟁하기 때문입니다(논문 각주 9). 투자자끼리 메모를 베끼지 않으므로 서로 영향을 주는 길은 가격 하나뿐입니다.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실험은 단순합니다. 같은 시장에서 투자자가 메모를 정리하는 빈도 k만 250과 1000으로 바꿉니다. 각 조건에서 서로 다른 난수 시작값으로 25번 돌리고, 각각 25만 기간을 먼저 돌려 초기의 불안정한 학습 구간을 버린 뒤 그 다음 1만 기간만 분석합니다. 또 하나의 대조군으로, 투자자에게 이론가격을 직접 보여주고 학습시키는 'REE example'을 돌려 정답을 주면 배울 수 있음을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표의 숫자는 논문 Table 4의 25회 평균입니다. 초과첨도는 큰 변동이 정규분포보다 자주 나타나는 정도인데 0.07에서 0.32로 커졌습니다. 제곱잔차 자기상관은 변동이 큰 날 다음에도 큰 변동이 오는 경향이고, 0.017에서 0.064로 커졌습니다. 변동성 효과 판정 비율은 25회 중 몇 회에서 통계적으로 변동성 군집이 검출됐는지로, 44%에서 100%입니다. 거래량도 약 2배입니다. 다만 저자들 스스로, 첨도의 절대 크기는 실제 일별 수익률보다 훨씬 작다고 밝혔습니다.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막대 값은 논문 Fig. 5에서 읽은 대략값이며, 논문 본문은 '빠른 학습이 느린 학습의 거의 4배'라고 서술합니다. 정확한 수치는 논문 그림을 참고하세요. 에이전트에게 직접 '무엇을 보고 있나'를 물어볼 수 있다는 것이 이 방법의 장점입니다. 시계열 검정에서 유의했던 신호를 투자자들도 스스로 사용하게 됩니다. 100만 기간 장기 실험(Fig. 6)에서는 사용 비율이 10%에서 25% 이상까지 오르내려, 차트 거래가 일관되게 유용하지는 않다는 해석이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외부 충격이 배당 하나뿐인 단순한 시장에서 학습 빈도만 바꿔도 현실과 닮은 시장 현상이 나타납니다. 한계는 논문 결론부에서 저자들이 직접 밝힌 것들입니다. 우리 연구는 이 시장을 레버리지가 없는 기준선으로 삼고, 레버리지 투자자 비중과 배율만 바꿔 변동성 변화를 보려고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63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188720"/>
            <a:ext cx="7863840" cy="822960"/>
          </a:xfrm>
          <a:prstGeom prst="rect">
            <a:avLst/>
          </a:prstGeom>
          <a:noFill/>
          <a:ln/>
        </p:spPr>
        <p:txBody>
          <a:bodyPr wrap="square" lIns="0" tIns="0" rIns="0" bIns="0" rtlCol="0" anchor="ctr"/>
          <a:lstStyle/>
          <a:p>
            <a:pPr indent="0" marL="0">
              <a:buNone/>
            </a:pPr>
            <a:r>
              <a:rPr lang="en-US" sz="4400" b="1" dirty="0">
                <a:solidFill>
                  <a:schemeClr val="bg1"/>
                </a:solidFill>
                <a:latin typeface="Malgun Gothic" pitchFamily="34" charset="0"/>
                <a:ea typeface="Malgun Gothic" pitchFamily="34" charset="-122"/>
                <a:cs typeface="Malgun Gothic" pitchFamily="34" charset="-120"/>
              </a:rPr>
              <a:t>산타페 인공주식시장</a:t>
            </a:r>
            <a:endParaRPr lang="en-US" sz="4400" dirty="0"/>
          </a:p>
        </p:txBody>
      </p:sp>
      <p:sp>
        <p:nvSpPr>
          <p:cNvPr id="3" name="Text 1"/>
          <p:cNvSpPr txBox="1"/>
          <p:nvPr/>
        </p:nvSpPr>
        <p:spPr>
          <a:xfrm>
            <a:off x="640080" y="2011680"/>
            <a:ext cx="7863840" cy="640080"/>
          </a:xfrm>
          <a:prstGeom prst="rect">
            <a:avLst/>
          </a:prstGeom>
          <a:noFill/>
          <a:ln/>
        </p:spPr>
        <p:txBody>
          <a:bodyPr wrap="square" lIns="0" tIns="0" rIns="0" bIns="0" rtlCol="0" anchor="ctr"/>
          <a:lstStyle/>
          <a:p>
            <a:pPr indent="0" marL="0">
              <a:buNone/>
            </a:pPr>
            <a:r>
              <a:rPr lang="en-US" sz="3600" b="1" dirty="0">
                <a:solidFill>
                  <a:schemeClr val="accent4"/>
                </a:solidFill>
                <a:latin typeface="Malgun Gothic" pitchFamily="34" charset="0"/>
                <a:ea typeface="Malgun Gothic" pitchFamily="34" charset="-122"/>
                <a:cs typeface="Malgun Gothic" pitchFamily="34" charset="-120"/>
              </a:rPr>
              <a:t>SFI-ASM</a:t>
            </a:r>
            <a:endParaRPr lang="en-US" sz="3600" dirty="0"/>
          </a:p>
        </p:txBody>
      </p:sp>
      <p:sp>
        <p:nvSpPr>
          <p:cNvPr id="4" name="Text 2"/>
          <p:cNvSpPr txBox="1"/>
          <p:nvPr/>
        </p:nvSpPr>
        <p:spPr>
          <a:xfrm>
            <a:off x="640080" y="2880360"/>
            <a:ext cx="7863840" cy="548640"/>
          </a:xfrm>
          <a:prstGeom prst="rect">
            <a:avLst/>
          </a:prstGeom>
          <a:noFill/>
          <a:ln/>
        </p:spPr>
        <p:txBody>
          <a:bodyPr wrap="square" lIns="0" tIns="0" rIns="0" bIns="0" rtlCol="0" anchor="ctr"/>
          <a:lstStyle/>
          <a:p>
            <a:pPr indent="0" marL="0">
              <a:buNone/>
            </a:pPr>
            <a:r>
              <a:rPr lang="en-US" sz="2000" dirty="0">
                <a:solidFill>
                  <a:schemeClr val="bg2"/>
                </a:solidFill>
                <a:latin typeface="Malgun Gothic" pitchFamily="34" charset="0"/>
                <a:ea typeface="Malgun Gothic" pitchFamily="34" charset="-122"/>
                <a:cs typeface="Malgun Gothic" pitchFamily="34" charset="-120"/>
              </a:rPr>
              <a:t>25명의 투자자가 "메모"로 예측하며 가격을 만들어 내는 가상 주식시장</a:t>
            </a:r>
            <a:endParaRPr lang="en-US" sz="2000" dirty="0"/>
          </a:p>
        </p:txBody>
      </p:sp>
      <p:sp>
        <p:nvSpPr>
          <p:cNvPr id="5" name="Text 3"/>
          <p:cNvSpPr txBox="1"/>
          <p:nvPr/>
        </p:nvSpPr>
        <p:spPr>
          <a:xfrm>
            <a:off x="640080" y="4297680"/>
            <a:ext cx="7863840" cy="320040"/>
          </a:xfrm>
          <a:prstGeom prst="rect">
            <a:avLst/>
          </a:prstGeom>
          <a:noFill/>
          <a:ln/>
        </p:spPr>
        <p:txBody>
          <a:bodyPr wrap="square" lIns="0" tIns="0" rIns="0" bIns="0" rtlCol="0" anchor="ctr"/>
          <a:lstStyle/>
          <a:p>
            <a:pPr indent="0" marL="0">
              <a:buNone/>
            </a:pPr>
            <a:r>
              <a:rPr lang="en-US" sz="1200" dirty="0">
                <a:solidFill>
                  <a:schemeClr val="accent3"/>
                </a:solidFill>
                <a:latin typeface="Malgun Gothic" pitchFamily="34" charset="0"/>
                <a:ea typeface="Malgun Gothic" pitchFamily="34" charset="-122"/>
                <a:cs typeface="Malgun Gothic" pitchFamily="34" charset="-120"/>
              </a:rPr>
              <a:t>LeBaron, Arthur &amp; Palmer (1999), Journal of Economic Dynamics &amp; Control 23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1"/>
                </a:solidFill>
              </a:rPr>
              <a:t>왜 이런 모형이 필요한가</a:t>
            </a:r>
            <a:endParaRPr lang="en-US" sz="2800" dirty="0"/>
          </a:p>
        </p:txBody>
      </p:sp>
      <p:sp>
        <p:nvSpPr>
          <p:cNvPr id="3" name="Text 1"/>
          <p:cNvSpPr txBox="1"/>
          <p:nvPr/>
        </p:nvSpPr>
        <p:spPr>
          <a:xfrm>
            <a:off x="457200" y="896112"/>
            <a:ext cx="8229600" cy="411480"/>
          </a:xfrm>
          <a:prstGeom prst="rect">
            <a:avLst/>
          </a:prstGeom>
          <a:noFill/>
          <a:ln/>
        </p:spPr>
        <p:txBody>
          <a:bodyPr wrap="square" lIns="0" tIns="0" rIns="0" bIns="0" rtlCol="0" anchor="ctr"/>
          <a:lstStyle/>
          <a:p>
            <a:pPr indent="0" marL="0">
              <a:buNone/>
            </a:pPr>
            <a:r>
              <a:rPr lang="en-US" sz="1600" b="1" dirty="0">
                <a:solidFill>
                  <a:schemeClr val="accent1"/>
                </a:solidFill>
                <a:latin typeface="Malgun Gothic" pitchFamily="34" charset="0"/>
                <a:ea typeface="Malgun Gothic" pitchFamily="34" charset="-122"/>
                <a:cs typeface="Malgun Gothic" pitchFamily="34" charset="-120"/>
              </a:rPr>
              <a:t>전통 이론은 현실 시장의 세 가지 특징을 설명하기 어렵다</a:t>
            </a:r>
            <a:endParaRPr lang="en-US" sz="1600" dirty="0"/>
          </a:p>
        </p:txBody>
      </p:sp>
      <p:sp>
        <p:nvSpPr>
          <p:cNvPr id="4" name="card0"/>
          <p:cNvSpPr/>
          <p:nvPr/>
        </p:nvSpPr>
        <p:spPr>
          <a:xfrm>
            <a:off x="457200" y="1508760"/>
            <a:ext cx="2606040" cy="2331720"/>
          </a:xfrm>
          <a:prstGeom prst="roundRect">
            <a:avLst>
              <a:gd name="adj" fmla="val 3137"/>
            </a:avLst>
          </a:prstGeom>
          <a:solidFill>
            <a:srgbClr val="EEF3F5"/>
          </a:solidFill>
          <a:ln w="12700">
            <a:solidFill>
              <a:srgbClr val="EEF3F5"/>
            </a:solidFill>
            <a:prstDash val="solid"/>
          </a:ln>
        </p:spPr>
      </p:sp>
      <p:sp>
        <p:nvSpPr>
          <p:cNvPr id="5" name="iconbg0"/>
          <p:cNvSpPr/>
          <p:nvPr/>
        </p:nvSpPr>
        <p:spPr>
          <a:xfrm>
            <a:off x="640080" y="1691640"/>
            <a:ext cx="640080" cy="640080"/>
          </a:xfrm>
          <a:prstGeom prst="ellipse">
            <a:avLst/>
          </a:prstGeom>
          <a:solidFill>
            <a:srgbClr val="0E7C86"/>
          </a:solidFill>
          <a:ln w="12700">
            <a:solidFill>
              <a:srgbClr val="0E7C86"/>
            </a:solidFill>
            <a:prstDash val="solid"/>
          </a:ln>
        </p:spPr>
      </p:sp>
      <p:pic>
        <p:nvPicPr>
          <p:cNvPr id="6" name="icon0" descr="preencoded.png">    </p:cNvPr>
          <p:cNvPicPr>
            <a:picLocks noChangeAspect="1"/>
          </p:cNvPicPr>
          <p:nvPr/>
        </p:nvPicPr>
        <p:blipFill>
          <a:blip r:embed="rId1"/>
          <a:stretch>
            <a:fillRect/>
          </a:stretch>
        </p:blipFill>
        <p:spPr>
          <a:xfrm>
            <a:off x="777240" y="1828800"/>
            <a:ext cx="365760" cy="365760"/>
          </a:xfrm>
          <a:prstGeom prst="rect">
            <a:avLst/>
          </a:prstGeom>
        </p:spPr>
      </p:pic>
      <p:sp>
        <p:nvSpPr>
          <p:cNvPr id="7" name="Text 4"/>
          <p:cNvSpPr txBox="1"/>
          <p:nvPr/>
        </p:nvSpPr>
        <p:spPr>
          <a:xfrm>
            <a:off x="640080" y="2468880"/>
            <a:ext cx="2240280" cy="365760"/>
          </a:xfrm>
          <a:prstGeom prst="rect">
            <a:avLst/>
          </a:prstGeom>
          <a:noFill/>
          <a:ln/>
        </p:spPr>
        <p:txBody>
          <a:bodyPr wrap="square" lIns="0" tIns="0" rIns="0" bIns="0" rtlCol="0" anchor="ctr"/>
          <a:lstStyle/>
          <a:p>
            <a:pPr indent="0" marL="0">
              <a:buNone/>
            </a:pPr>
            <a:r>
              <a:rPr lang="en-US" sz="1800" b="1" dirty="0">
                <a:solidFill>
                  <a:schemeClr val="tx1"/>
                </a:solidFill>
                <a:latin typeface="Malgun Gothic" pitchFamily="34" charset="0"/>
                <a:ea typeface="Malgun Gothic" pitchFamily="34" charset="-122"/>
                <a:cs typeface="Malgun Gothic" pitchFamily="34" charset="-120"/>
              </a:rPr>
              <a:t>예측가능성</a:t>
            </a:r>
            <a:endParaRPr lang="en-US" sz="1800" dirty="0"/>
          </a:p>
        </p:txBody>
      </p:sp>
      <p:sp>
        <p:nvSpPr>
          <p:cNvPr id="8" name="Text 5"/>
          <p:cNvSpPr txBox="1"/>
          <p:nvPr/>
        </p:nvSpPr>
        <p:spPr>
          <a:xfrm>
            <a:off x="640080" y="2880360"/>
            <a:ext cx="2240280" cy="868680"/>
          </a:xfrm>
          <a:prstGeom prst="rect">
            <a:avLst/>
          </a:prstGeom>
          <a:noFill/>
          <a:ln/>
        </p:spPr>
        <p:txBody>
          <a:bodyPr wrap="square" lIns="0" tIns="0" rIns="0" bIns="0" rtlCol="0" anchor="t"/>
          <a:lstStyle/>
          <a:p>
            <a:pPr indent="0" marL="0">
              <a:buNone/>
            </a:pPr>
            <a:r>
              <a:rPr lang="en-US" sz="1400" dirty="0">
                <a:solidFill>
                  <a:schemeClr val="tx1"/>
                </a:solidFill>
                <a:latin typeface="Malgun Gothic" pitchFamily="34" charset="0"/>
                <a:ea typeface="Malgun Gothic" pitchFamily="34" charset="-122"/>
                <a:cs typeface="Malgun Gothic" pitchFamily="34" charset="-120"/>
              </a:rPr>
              <a:t>차트나 배당 대비 가격으로 수익률을 약하게 예측할 수 있다</a:t>
            </a:r>
            <a:endParaRPr lang="en-US" sz="1400" dirty="0"/>
          </a:p>
        </p:txBody>
      </p:sp>
      <p:sp>
        <p:nvSpPr>
          <p:cNvPr id="9" name="card1"/>
          <p:cNvSpPr/>
          <p:nvPr/>
        </p:nvSpPr>
        <p:spPr>
          <a:xfrm>
            <a:off x="3246120" y="1508760"/>
            <a:ext cx="2606040" cy="2331720"/>
          </a:xfrm>
          <a:prstGeom prst="roundRect">
            <a:avLst>
              <a:gd name="adj" fmla="val 3137"/>
            </a:avLst>
          </a:prstGeom>
          <a:solidFill>
            <a:srgbClr val="EEF3F5"/>
          </a:solidFill>
          <a:ln w="12700">
            <a:solidFill>
              <a:srgbClr val="EEF3F5"/>
            </a:solidFill>
            <a:prstDash val="solid"/>
          </a:ln>
        </p:spPr>
      </p:sp>
      <p:sp>
        <p:nvSpPr>
          <p:cNvPr id="10" name="iconbg1"/>
          <p:cNvSpPr/>
          <p:nvPr/>
        </p:nvSpPr>
        <p:spPr>
          <a:xfrm>
            <a:off x="3429000" y="1691640"/>
            <a:ext cx="640080" cy="640080"/>
          </a:xfrm>
          <a:prstGeom prst="ellipse">
            <a:avLst/>
          </a:prstGeom>
          <a:solidFill>
            <a:srgbClr val="0E7C86"/>
          </a:solidFill>
          <a:ln w="12700">
            <a:solidFill>
              <a:srgbClr val="0E7C86"/>
            </a:solidFill>
            <a:prstDash val="solid"/>
          </a:ln>
        </p:spPr>
      </p:sp>
      <p:pic>
        <p:nvPicPr>
          <p:cNvPr id="11" name="icon1" descr="preencoded.png">    </p:cNvPr>
          <p:cNvPicPr>
            <a:picLocks noChangeAspect="1"/>
          </p:cNvPicPr>
          <p:nvPr/>
        </p:nvPicPr>
        <p:blipFill>
          <a:blip r:embed="rId2"/>
          <a:stretch>
            <a:fillRect/>
          </a:stretch>
        </p:blipFill>
        <p:spPr>
          <a:xfrm>
            <a:off x="3566160" y="1828800"/>
            <a:ext cx="365760" cy="365760"/>
          </a:xfrm>
          <a:prstGeom prst="rect">
            <a:avLst/>
          </a:prstGeom>
        </p:spPr>
      </p:pic>
      <p:sp>
        <p:nvSpPr>
          <p:cNvPr id="12" name="Text 8"/>
          <p:cNvSpPr txBox="1"/>
          <p:nvPr/>
        </p:nvSpPr>
        <p:spPr>
          <a:xfrm>
            <a:off x="3429000" y="2468880"/>
            <a:ext cx="2240280" cy="365760"/>
          </a:xfrm>
          <a:prstGeom prst="rect">
            <a:avLst/>
          </a:prstGeom>
          <a:noFill/>
          <a:ln/>
        </p:spPr>
        <p:txBody>
          <a:bodyPr wrap="square" lIns="0" tIns="0" rIns="0" bIns="0" rtlCol="0" anchor="ctr"/>
          <a:lstStyle/>
          <a:p>
            <a:pPr indent="0" marL="0">
              <a:buNone/>
            </a:pPr>
            <a:r>
              <a:rPr lang="en-US" sz="1800" b="1" dirty="0">
                <a:solidFill>
                  <a:schemeClr val="tx1"/>
                </a:solidFill>
                <a:latin typeface="Malgun Gothic" pitchFamily="34" charset="0"/>
                <a:ea typeface="Malgun Gothic" pitchFamily="34" charset="-122"/>
                <a:cs typeface="Malgun Gothic" pitchFamily="34" charset="-120"/>
              </a:rPr>
              <a:t>변동성 군집</a:t>
            </a:r>
            <a:endParaRPr lang="en-US" sz="1800" dirty="0"/>
          </a:p>
        </p:txBody>
      </p:sp>
      <p:sp>
        <p:nvSpPr>
          <p:cNvPr id="13" name="Text 9"/>
          <p:cNvSpPr txBox="1"/>
          <p:nvPr/>
        </p:nvSpPr>
        <p:spPr>
          <a:xfrm>
            <a:off x="3429000" y="2880360"/>
            <a:ext cx="2240280" cy="868680"/>
          </a:xfrm>
          <a:prstGeom prst="rect">
            <a:avLst/>
          </a:prstGeom>
          <a:noFill/>
          <a:ln/>
        </p:spPr>
        <p:txBody>
          <a:bodyPr wrap="square" lIns="0" tIns="0" rIns="0" bIns="0" rtlCol="0" anchor="t"/>
          <a:lstStyle/>
          <a:p>
            <a:pPr indent="0" marL="0">
              <a:buNone/>
            </a:pPr>
            <a:r>
              <a:rPr lang="en-US" sz="1400" dirty="0">
                <a:solidFill>
                  <a:schemeClr val="tx1"/>
                </a:solidFill>
                <a:latin typeface="Malgun Gothic" pitchFamily="34" charset="0"/>
                <a:ea typeface="Malgun Gothic" pitchFamily="34" charset="-122"/>
                <a:cs typeface="Malgun Gothic" pitchFamily="34" charset="-120"/>
              </a:rPr>
              <a:t>흔들릴 때는 연달아 흔들린다</a:t>
            </a:r>
            <a:endParaRPr lang="en-US" sz="1400" dirty="0"/>
          </a:p>
        </p:txBody>
      </p:sp>
      <p:sp>
        <p:nvSpPr>
          <p:cNvPr id="14" name="card2"/>
          <p:cNvSpPr/>
          <p:nvPr/>
        </p:nvSpPr>
        <p:spPr>
          <a:xfrm>
            <a:off x="6035040" y="1508760"/>
            <a:ext cx="2606040" cy="2331720"/>
          </a:xfrm>
          <a:prstGeom prst="roundRect">
            <a:avLst>
              <a:gd name="adj" fmla="val 3137"/>
            </a:avLst>
          </a:prstGeom>
          <a:solidFill>
            <a:srgbClr val="EEF3F5"/>
          </a:solidFill>
          <a:ln w="12700">
            <a:solidFill>
              <a:srgbClr val="EEF3F5"/>
            </a:solidFill>
            <a:prstDash val="solid"/>
          </a:ln>
        </p:spPr>
      </p:sp>
      <p:sp>
        <p:nvSpPr>
          <p:cNvPr id="15" name="iconbg2"/>
          <p:cNvSpPr/>
          <p:nvPr/>
        </p:nvSpPr>
        <p:spPr>
          <a:xfrm>
            <a:off x="6217920" y="1691640"/>
            <a:ext cx="640080" cy="640080"/>
          </a:xfrm>
          <a:prstGeom prst="ellipse">
            <a:avLst/>
          </a:prstGeom>
          <a:solidFill>
            <a:srgbClr val="0E7C86"/>
          </a:solidFill>
          <a:ln w="12700">
            <a:solidFill>
              <a:srgbClr val="0E7C86"/>
            </a:solidFill>
            <a:prstDash val="solid"/>
          </a:ln>
        </p:spPr>
      </p:sp>
      <p:pic>
        <p:nvPicPr>
          <p:cNvPr id="16" name="icon2" descr="preencoded.png">    </p:cNvPr>
          <p:cNvPicPr>
            <a:picLocks noChangeAspect="1"/>
          </p:cNvPicPr>
          <p:nvPr/>
        </p:nvPicPr>
        <p:blipFill>
          <a:blip r:embed="rId3"/>
          <a:stretch>
            <a:fillRect/>
          </a:stretch>
        </p:blipFill>
        <p:spPr>
          <a:xfrm>
            <a:off x="6355080" y="1828800"/>
            <a:ext cx="365760" cy="365760"/>
          </a:xfrm>
          <a:prstGeom prst="rect">
            <a:avLst/>
          </a:prstGeom>
        </p:spPr>
      </p:pic>
      <p:sp>
        <p:nvSpPr>
          <p:cNvPr id="17" name="Text 12"/>
          <p:cNvSpPr txBox="1"/>
          <p:nvPr/>
        </p:nvSpPr>
        <p:spPr>
          <a:xfrm>
            <a:off x="6217920" y="2468880"/>
            <a:ext cx="2240280" cy="365760"/>
          </a:xfrm>
          <a:prstGeom prst="rect">
            <a:avLst/>
          </a:prstGeom>
          <a:noFill/>
          <a:ln/>
        </p:spPr>
        <p:txBody>
          <a:bodyPr wrap="square" lIns="0" tIns="0" rIns="0" bIns="0" rtlCol="0" anchor="ctr"/>
          <a:lstStyle/>
          <a:p>
            <a:pPr indent="0" marL="0">
              <a:buNone/>
            </a:pPr>
            <a:r>
              <a:rPr lang="en-US" sz="1800" b="1" dirty="0">
                <a:solidFill>
                  <a:schemeClr val="tx1"/>
                </a:solidFill>
                <a:latin typeface="Malgun Gothic" pitchFamily="34" charset="0"/>
                <a:ea typeface="Malgun Gothic" pitchFamily="34" charset="-122"/>
                <a:cs typeface="Malgun Gothic" pitchFamily="34" charset="-120"/>
              </a:rPr>
              <a:t>거래량-변동성</a:t>
            </a:r>
            <a:endParaRPr lang="en-US" sz="1800" dirty="0"/>
          </a:p>
        </p:txBody>
      </p:sp>
      <p:sp>
        <p:nvSpPr>
          <p:cNvPr id="18" name="Text 13"/>
          <p:cNvSpPr txBox="1"/>
          <p:nvPr/>
        </p:nvSpPr>
        <p:spPr>
          <a:xfrm>
            <a:off x="6217920" y="2880360"/>
            <a:ext cx="2240280" cy="868680"/>
          </a:xfrm>
          <a:prstGeom prst="rect">
            <a:avLst/>
          </a:prstGeom>
          <a:noFill/>
          <a:ln/>
        </p:spPr>
        <p:txBody>
          <a:bodyPr wrap="square" lIns="0" tIns="0" rIns="0" bIns="0" rtlCol="0" anchor="t"/>
          <a:lstStyle/>
          <a:p>
            <a:pPr indent="0" marL="0">
              <a:buNone/>
            </a:pPr>
            <a:r>
              <a:rPr lang="en-US" sz="1400" dirty="0">
                <a:solidFill>
                  <a:schemeClr val="tx1"/>
                </a:solidFill>
                <a:latin typeface="Malgun Gothic" pitchFamily="34" charset="0"/>
                <a:ea typeface="Malgun Gothic" pitchFamily="34" charset="-122"/>
                <a:cs typeface="Malgun Gothic" pitchFamily="34" charset="-120"/>
              </a:rPr>
              <a:t>거래량이 큰 날 변동성도 크다</a:t>
            </a:r>
            <a:endParaRPr lang="en-US" sz="1400" dirty="0"/>
          </a:p>
        </p:txBody>
      </p:sp>
      <p:sp>
        <p:nvSpPr>
          <p:cNvPr id="19" name="Text 14"/>
          <p:cNvSpPr txBox="1"/>
          <p:nvPr/>
        </p:nvSpPr>
        <p:spPr>
          <a:xfrm>
            <a:off x="457200" y="4160520"/>
            <a:ext cx="8229600" cy="457200"/>
          </a:xfrm>
          <a:prstGeom prst="rect">
            <a:avLst/>
          </a:prstGeom>
          <a:noFill/>
          <a:ln/>
        </p:spPr>
        <p:txBody>
          <a:bodyPr wrap="square" lIns="0" tIns="0" rIns="0" bIns="0" rtlCol="0" anchor="ctr"/>
          <a:lstStyle/>
          <a:p>
            <a:pPr indent="0" marL="0">
              <a:buNone/>
            </a:pPr>
            <a:r>
              <a:rPr lang="en-US" sz="1600" b="1" dirty="0">
                <a:solidFill>
                  <a:schemeClr val="accent2"/>
                </a:solidFill>
                <a:latin typeface="Malgun Gothic" pitchFamily="34" charset="0"/>
                <a:ea typeface="Malgun Gothic" pitchFamily="34" charset="-122"/>
                <a:cs typeface="Malgun Gothic" pitchFamily="34" charset="-120"/>
              </a:rPr>
              <a:t>해법: 투자자를 "스스로 배우는 컴퓨터 에이전트"로 만들어 시장을 직접 돌려 본다</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1"/>
                </a:solidFill>
              </a:rPr>
              <a:t>한 장으로 보는 SFI-ASM</a:t>
            </a:r>
            <a:endParaRPr lang="en-US" sz="2800" dirty="0"/>
          </a:p>
        </p:txBody>
      </p:sp>
      <p:sp>
        <p:nvSpPr>
          <p:cNvPr id="3" name="Text 1"/>
          <p:cNvSpPr txBox="1"/>
          <p:nvPr/>
        </p:nvSpPr>
        <p:spPr>
          <a:xfrm>
            <a:off x="457200" y="896112"/>
            <a:ext cx="8229600" cy="411480"/>
          </a:xfrm>
          <a:prstGeom prst="rect">
            <a:avLst/>
          </a:prstGeom>
          <a:noFill/>
          <a:ln/>
        </p:spPr>
        <p:txBody>
          <a:bodyPr wrap="square" lIns="0" tIns="0" rIns="0" bIns="0" rtlCol="0" anchor="ctr"/>
          <a:lstStyle/>
          <a:p>
            <a:pPr indent="0" marL="0">
              <a:buNone/>
            </a:pPr>
            <a:r>
              <a:rPr lang="en-US" sz="1600" b="1" dirty="0">
                <a:solidFill>
                  <a:schemeClr val="accent1"/>
                </a:solidFill>
                <a:latin typeface="Malgun Gothic" pitchFamily="34" charset="0"/>
                <a:ea typeface="Malgun Gothic" pitchFamily="34" charset="-122"/>
                <a:cs typeface="Malgun Gothic" pitchFamily="34" charset="-120"/>
              </a:rPr>
              <a:t>연극에 비유하면: 무대, 외부 사건, 배우, 대본</a:t>
            </a:r>
            <a:endParaRPr lang="en-US" sz="1600" dirty="0"/>
          </a:p>
        </p:txBody>
      </p:sp>
      <p:sp>
        <p:nvSpPr>
          <p:cNvPr id="4" name="play0"/>
          <p:cNvSpPr/>
          <p:nvPr/>
        </p:nvSpPr>
        <p:spPr>
          <a:xfrm>
            <a:off x="457200" y="1463040"/>
            <a:ext cx="4023360" cy="1280160"/>
          </a:xfrm>
          <a:prstGeom prst="roundRect">
            <a:avLst>
              <a:gd name="adj" fmla="val 5714"/>
            </a:avLst>
          </a:prstGeom>
          <a:solidFill>
            <a:srgbClr val="EEF3F5"/>
          </a:solidFill>
          <a:ln w="12700">
            <a:solidFill>
              <a:srgbClr val="EEF3F5"/>
            </a:solidFill>
            <a:prstDash val="solid"/>
          </a:ln>
        </p:spPr>
      </p:sp>
      <p:sp>
        <p:nvSpPr>
          <p:cNvPr id="5" name="tag0"/>
          <p:cNvSpPr/>
          <p:nvPr/>
        </p:nvSpPr>
        <p:spPr>
          <a:xfrm>
            <a:off x="640080" y="1691640"/>
            <a:ext cx="1005840" cy="411480"/>
          </a:xfrm>
          <a:prstGeom prst="rect">
            <a:avLst/>
          </a:prstGeom>
          <a:solidFill>
            <a:schemeClr val="accent1"/>
          </a:solidFill>
          <a:ln w="12700">
            <a:solidFill>
              <a:schemeClr val="accent1"/>
            </a:solidFill>
            <a:prstDash val="solid"/>
          </a:ln>
        </p:spPr>
      </p:sp>
      <p:sp>
        <p:nvSpPr>
          <p:cNvPr id="6" name="Text 4"/>
          <p:cNvSpPr txBox="1"/>
          <p:nvPr/>
        </p:nvSpPr>
        <p:spPr>
          <a:xfrm>
            <a:off x="640080" y="1691640"/>
            <a:ext cx="100584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Malgun Gothic" pitchFamily="34" charset="0"/>
                <a:ea typeface="Malgun Gothic" pitchFamily="34" charset="-122"/>
                <a:cs typeface="Malgun Gothic" pitchFamily="34" charset="-120"/>
              </a:rPr>
              <a:t>무대</a:t>
            </a:r>
            <a:endParaRPr lang="en-US" sz="1400" dirty="0"/>
          </a:p>
        </p:txBody>
      </p:sp>
      <p:sp>
        <p:nvSpPr>
          <p:cNvPr id="7" name="Text 5"/>
          <p:cNvSpPr txBox="1"/>
          <p:nvPr/>
        </p:nvSpPr>
        <p:spPr>
          <a:xfrm>
            <a:off x="640080" y="2148840"/>
            <a:ext cx="3657600" cy="548640"/>
          </a:xfrm>
          <a:prstGeom prst="rect">
            <a:avLst/>
          </a:prstGeom>
          <a:noFill/>
          <a:ln/>
        </p:spPr>
        <p:txBody>
          <a:bodyPr wrap="square" lIns="0" tIns="0" rIns="0" bIns="0" rtlCol="0" anchor="t"/>
          <a:lstStyle/>
          <a:p>
            <a:pPr indent="0" marL="0">
              <a:buNone/>
            </a:pPr>
            <a:r>
              <a:rPr lang="en-US" sz="1400" dirty="0">
                <a:solidFill>
                  <a:schemeClr val="tx1"/>
                </a:solidFill>
                <a:latin typeface="Malgun Gothic" pitchFamily="34" charset="0"/>
                <a:ea typeface="Malgun Gothic" pitchFamily="34" charset="-122"/>
                <a:cs typeface="Malgun Gothic" pitchFamily="34" charset="-120"/>
              </a:rPr>
              <a:t>주식 1종목(총 25주)과 예금(이자 10%)만 있는 작은 시장</a:t>
            </a:r>
            <a:endParaRPr lang="en-US" sz="1400" dirty="0"/>
          </a:p>
        </p:txBody>
      </p:sp>
      <p:sp>
        <p:nvSpPr>
          <p:cNvPr id="8" name="play1"/>
          <p:cNvSpPr/>
          <p:nvPr/>
        </p:nvSpPr>
        <p:spPr>
          <a:xfrm>
            <a:off x="4663440" y="1463040"/>
            <a:ext cx="4023360" cy="1280160"/>
          </a:xfrm>
          <a:prstGeom prst="roundRect">
            <a:avLst>
              <a:gd name="adj" fmla="val 5714"/>
            </a:avLst>
          </a:prstGeom>
          <a:solidFill>
            <a:srgbClr val="EEF3F5"/>
          </a:solidFill>
          <a:ln w="12700">
            <a:solidFill>
              <a:srgbClr val="EEF3F5"/>
            </a:solidFill>
            <a:prstDash val="solid"/>
          </a:ln>
        </p:spPr>
      </p:sp>
      <p:sp>
        <p:nvSpPr>
          <p:cNvPr id="9" name="tag1"/>
          <p:cNvSpPr/>
          <p:nvPr/>
        </p:nvSpPr>
        <p:spPr>
          <a:xfrm>
            <a:off x="4846320" y="1691640"/>
            <a:ext cx="1005840" cy="411480"/>
          </a:xfrm>
          <a:prstGeom prst="rect">
            <a:avLst/>
          </a:prstGeom>
          <a:solidFill>
            <a:schemeClr val="accent2"/>
          </a:solidFill>
          <a:ln w="12700">
            <a:solidFill>
              <a:schemeClr val="accent2"/>
            </a:solidFill>
            <a:prstDash val="solid"/>
          </a:ln>
        </p:spPr>
      </p:sp>
      <p:sp>
        <p:nvSpPr>
          <p:cNvPr id="10" name="Text 8"/>
          <p:cNvSpPr txBox="1"/>
          <p:nvPr/>
        </p:nvSpPr>
        <p:spPr>
          <a:xfrm>
            <a:off x="4846320" y="1691640"/>
            <a:ext cx="100584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Malgun Gothic" pitchFamily="34" charset="0"/>
                <a:ea typeface="Malgun Gothic" pitchFamily="34" charset="-122"/>
                <a:cs typeface="Malgun Gothic" pitchFamily="34" charset="-120"/>
              </a:rPr>
              <a:t>외부 사건</a:t>
            </a:r>
            <a:endParaRPr lang="en-US" sz="1400" dirty="0"/>
          </a:p>
        </p:txBody>
      </p:sp>
      <p:sp>
        <p:nvSpPr>
          <p:cNvPr id="11" name="Text 9"/>
          <p:cNvSpPr txBox="1"/>
          <p:nvPr/>
        </p:nvSpPr>
        <p:spPr>
          <a:xfrm>
            <a:off x="4846320" y="2148840"/>
            <a:ext cx="3657600" cy="548640"/>
          </a:xfrm>
          <a:prstGeom prst="rect">
            <a:avLst/>
          </a:prstGeom>
          <a:noFill/>
          <a:ln/>
        </p:spPr>
        <p:txBody>
          <a:bodyPr wrap="square" lIns="0" tIns="0" rIns="0" bIns="0" rtlCol="0" anchor="t"/>
          <a:lstStyle/>
          <a:p>
            <a:pPr indent="0" marL="0">
              <a:buNone/>
            </a:pPr>
            <a:r>
              <a:rPr lang="en-US" sz="1400" dirty="0">
                <a:solidFill>
                  <a:schemeClr val="tx1"/>
                </a:solidFill>
                <a:latin typeface="Malgun Gothic" pitchFamily="34" charset="0"/>
                <a:ea typeface="Malgun Gothic" pitchFamily="34" charset="-122"/>
                <a:cs typeface="Malgun Gothic" pitchFamily="34" charset="-120"/>
              </a:rPr>
              <a:t>매일 달라지는 배당. 시장의 유일한 외부 충격</a:t>
            </a:r>
            <a:endParaRPr lang="en-US" sz="1400" dirty="0"/>
          </a:p>
        </p:txBody>
      </p:sp>
      <p:sp>
        <p:nvSpPr>
          <p:cNvPr id="12" name="play2"/>
          <p:cNvSpPr/>
          <p:nvPr/>
        </p:nvSpPr>
        <p:spPr>
          <a:xfrm>
            <a:off x="457200" y="2880360"/>
            <a:ext cx="4023360" cy="1280160"/>
          </a:xfrm>
          <a:prstGeom prst="roundRect">
            <a:avLst>
              <a:gd name="adj" fmla="val 5714"/>
            </a:avLst>
          </a:prstGeom>
          <a:solidFill>
            <a:srgbClr val="EEF3F5"/>
          </a:solidFill>
          <a:ln w="12700">
            <a:solidFill>
              <a:srgbClr val="EEF3F5"/>
            </a:solidFill>
            <a:prstDash val="solid"/>
          </a:ln>
        </p:spPr>
      </p:sp>
      <p:sp>
        <p:nvSpPr>
          <p:cNvPr id="13" name="tag2"/>
          <p:cNvSpPr/>
          <p:nvPr/>
        </p:nvSpPr>
        <p:spPr>
          <a:xfrm>
            <a:off x="640080" y="3108960"/>
            <a:ext cx="1005840" cy="411480"/>
          </a:xfrm>
          <a:prstGeom prst="rect">
            <a:avLst/>
          </a:prstGeom>
          <a:solidFill>
            <a:schemeClr val="accent5"/>
          </a:solidFill>
          <a:ln w="12700">
            <a:solidFill>
              <a:schemeClr val="accent5"/>
            </a:solidFill>
            <a:prstDash val="solid"/>
          </a:ln>
        </p:spPr>
      </p:sp>
      <p:sp>
        <p:nvSpPr>
          <p:cNvPr id="14" name="Text 12"/>
          <p:cNvSpPr txBox="1"/>
          <p:nvPr/>
        </p:nvSpPr>
        <p:spPr>
          <a:xfrm>
            <a:off x="640080" y="3108960"/>
            <a:ext cx="100584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Malgun Gothic" pitchFamily="34" charset="0"/>
                <a:ea typeface="Malgun Gothic" pitchFamily="34" charset="-122"/>
                <a:cs typeface="Malgun Gothic" pitchFamily="34" charset="-120"/>
              </a:rPr>
              <a:t>배우</a:t>
            </a:r>
            <a:endParaRPr lang="en-US" sz="1400" dirty="0"/>
          </a:p>
        </p:txBody>
      </p:sp>
      <p:sp>
        <p:nvSpPr>
          <p:cNvPr id="15" name="Text 13"/>
          <p:cNvSpPr txBox="1"/>
          <p:nvPr/>
        </p:nvSpPr>
        <p:spPr>
          <a:xfrm>
            <a:off x="640080" y="3566160"/>
            <a:ext cx="3657600" cy="548640"/>
          </a:xfrm>
          <a:prstGeom prst="rect">
            <a:avLst/>
          </a:prstGeom>
          <a:noFill/>
          <a:ln/>
        </p:spPr>
        <p:txBody>
          <a:bodyPr wrap="square" lIns="0" tIns="0" rIns="0" bIns="0" rtlCol="0" anchor="t"/>
          <a:lstStyle/>
          <a:p>
            <a:pPr indent="0" marL="0">
              <a:buNone/>
            </a:pPr>
            <a:r>
              <a:rPr lang="en-US" sz="1400" dirty="0">
                <a:solidFill>
                  <a:schemeClr val="tx1"/>
                </a:solidFill>
                <a:latin typeface="Malgun Gothic" pitchFamily="34" charset="0"/>
                <a:ea typeface="Malgun Gothic" pitchFamily="34" charset="-122"/>
                <a:cs typeface="Malgun Gothic" pitchFamily="34" charset="-120"/>
              </a:rPr>
              <a:t>투자자 25명. 성격은 같고 가진 "메모"만 다르다</a:t>
            </a:r>
            <a:endParaRPr lang="en-US" sz="1400" dirty="0"/>
          </a:p>
        </p:txBody>
      </p:sp>
      <p:sp>
        <p:nvSpPr>
          <p:cNvPr id="16" name="play3"/>
          <p:cNvSpPr/>
          <p:nvPr/>
        </p:nvSpPr>
        <p:spPr>
          <a:xfrm>
            <a:off x="4663440" y="2880360"/>
            <a:ext cx="4023360" cy="1280160"/>
          </a:xfrm>
          <a:prstGeom prst="roundRect">
            <a:avLst>
              <a:gd name="adj" fmla="val 5714"/>
            </a:avLst>
          </a:prstGeom>
          <a:solidFill>
            <a:srgbClr val="EEF3F5"/>
          </a:solidFill>
          <a:ln w="12700">
            <a:solidFill>
              <a:srgbClr val="EEF3F5"/>
            </a:solidFill>
            <a:prstDash val="solid"/>
          </a:ln>
        </p:spPr>
      </p:sp>
      <p:sp>
        <p:nvSpPr>
          <p:cNvPr id="17" name="tag3"/>
          <p:cNvSpPr/>
          <p:nvPr/>
        </p:nvSpPr>
        <p:spPr>
          <a:xfrm>
            <a:off x="4846320" y="3108960"/>
            <a:ext cx="1005840" cy="411480"/>
          </a:xfrm>
          <a:prstGeom prst="rect">
            <a:avLst/>
          </a:prstGeom>
          <a:solidFill>
            <a:schemeClr val="accent6"/>
          </a:solidFill>
          <a:ln w="12700">
            <a:solidFill>
              <a:schemeClr val="accent6"/>
            </a:solidFill>
            <a:prstDash val="solid"/>
          </a:ln>
        </p:spPr>
      </p:sp>
      <p:sp>
        <p:nvSpPr>
          <p:cNvPr id="18" name="Text 16"/>
          <p:cNvSpPr txBox="1"/>
          <p:nvPr/>
        </p:nvSpPr>
        <p:spPr>
          <a:xfrm>
            <a:off x="4846320" y="3108960"/>
            <a:ext cx="100584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Malgun Gothic" pitchFamily="34" charset="0"/>
                <a:ea typeface="Malgun Gothic" pitchFamily="34" charset="-122"/>
                <a:cs typeface="Malgun Gothic" pitchFamily="34" charset="-120"/>
              </a:rPr>
              <a:t>대본</a:t>
            </a:r>
            <a:endParaRPr lang="en-US" sz="1400" dirty="0"/>
          </a:p>
        </p:txBody>
      </p:sp>
      <p:sp>
        <p:nvSpPr>
          <p:cNvPr id="19" name="Text 17"/>
          <p:cNvSpPr txBox="1"/>
          <p:nvPr/>
        </p:nvSpPr>
        <p:spPr>
          <a:xfrm>
            <a:off x="4846320" y="3566160"/>
            <a:ext cx="3657600" cy="548640"/>
          </a:xfrm>
          <a:prstGeom prst="rect">
            <a:avLst/>
          </a:prstGeom>
          <a:noFill/>
          <a:ln/>
        </p:spPr>
        <p:txBody>
          <a:bodyPr wrap="square" lIns="0" tIns="0" rIns="0" bIns="0" rtlCol="0" anchor="t"/>
          <a:lstStyle/>
          <a:p>
            <a:pPr indent="0" marL="0">
              <a:buNone/>
            </a:pPr>
            <a:r>
              <a:rPr lang="en-US" sz="1400" dirty="0">
                <a:solidFill>
                  <a:schemeClr val="tx1"/>
                </a:solidFill>
                <a:latin typeface="Malgun Gothic" pitchFamily="34" charset="0"/>
                <a:ea typeface="Malgun Gothic" pitchFamily="34" charset="-122"/>
                <a:cs typeface="Malgun Gothic" pitchFamily="34" charset="-120"/>
              </a:rPr>
              <a:t>배당 발표, 예측, 주문, 가격 결정, 채점, 가끔 메모 정리</a:t>
            </a:r>
            <a:endParaRPr lang="en-US" sz="1400" dirty="0"/>
          </a:p>
        </p:txBody>
      </p:sp>
      <p:sp>
        <p:nvSpPr>
          <p:cNvPr id="20" name="Text 18"/>
          <p:cNvSpPr txBox="1"/>
          <p:nvPr/>
        </p:nvSpPr>
        <p:spPr>
          <a:xfrm>
            <a:off x="457200" y="4343400"/>
            <a:ext cx="8229600" cy="365760"/>
          </a:xfrm>
          <a:prstGeom prst="rect">
            <a:avLst/>
          </a:prstGeom>
          <a:noFill/>
          <a:ln/>
        </p:spPr>
        <p:txBody>
          <a:bodyPr wrap="square" lIns="0" tIns="0" rIns="0" bIns="0" rtlCol="0" anchor="ctr"/>
          <a:lstStyle/>
          <a:p>
            <a:pPr indent="0" marL="0">
              <a:buNone/>
            </a:pPr>
            <a:r>
              <a:rPr lang="en-US" sz="1600" b="1" dirty="0">
                <a:solidFill>
                  <a:schemeClr val="accent2"/>
                </a:solidFill>
                <a:latin typeface="Malgun Gothic" pitchFamily="34" charset="0"/>
                <a:ea typeface="Malgun Gothic" pitchFamily="34" charset="-122"/>
                <a:cs typeface="Malgun Gothic" pitchFamily="34" charset="-120"/>
              </a:rPr>
              <a:t>가격을 정해 주는 사람은 없다. 25명의 예측이 모여서 가격이 나온다</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1"/>
                </a:solidFill>
              </a:rPr>
              <a:t>무대: 배당은 어떻게 움직이나</a:t>
            </a:r>
            <a:endParaRPr lang="en-US" sz="2800" dirty="0"/>
          </a:p>
        </p:txBody>
      </p:sp>
      <p:sp>
        <p:nvSpPr>
          <p:cNvPr id="3" name="Text 1"/>
          <p:cNvSpPr txBox="1"/>
          <p:nvPr/>
        </p:nvSpPr>
        <p:spPr>
          <a:xfrm>
            <a:off x="457200" y="896112"/>
            <a:ext cx="8229600" cy="411480"/>
          </a:xfrm>
          <a:prstGeom prst="rect">
            <a:avLst/>
          </a:prstGeom>
          <a:noFill/>
          <a:ln/>
        </p:spPr>
        <p:txBody>
          <a:bodyPr wrap="square" lIns="0" tIns="0" rIns="0" bIns="0" rtlCol="0" anchor="ctr"/>
          <a:lstStyle/>
          <a:p>
            <a:pPr indent="0" marL="0">
              <a:buNone/>
            </a:pPr>
            <a:r>
              <a:rPr lang="en-US" sz="1600" b="1" dirty="0">
                <a:solidFill>
                  <a:schemeClr val="accent1"/>
                </a:solidFill>
                <a:latin typeface="Malgun Gothic" pitchFamily="34" charset="0"/>
                <a:ea typeface="Malgun Gothic" pitchFamily="34" charset="-122"/>
                <a:cs typeface="Malgun Gothic" pitchFamily="34" charset="-120"/>
              </a:rPr>
              <a:t>평균 10 주변을 천천히 오가고, 매번 작은 놀라움이 섞인다</a:t>
            </a:r>
            <a:endParaRPr lang="en-US" sz="1600" dirty="0"/>
          </a:p>
        </p:txBody>
      </p:sp>
      <p:graphicFrame>
        <p:nvGraphicFramePr>
          <p:cNvPr id="4" name="Chart 0" descr=""/>
          <p:cNvGraphicFramePr/>
          <p:nvPr/>
        </p:nvGraphicFramePr>
        <p:xfrm>
          <a:off x="365760" y="1371600"/>
          <a:ext cx="512064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669280" y="1463040"/>
            <a:ext cx="3017520" cy="146304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latin typeface="Malgun Gothic" pitchFamily="34" charset="0"/>
                <a:ea typeface="Malgun Gothic" pitchFamily="34" charset="-122"/>
                <a:cs typeface="Malgun Gothic" pitchFamily="34" charset="-120"/>
              </a:rPr>
              <a:t>오늘 배당 =</a:t>
            </a:r>
            <a:endParaRPr lang="en-US" sz="1400" dirty="0"/>
          </a:p>
          <a:p>
            <a:pPr indent="0" marL="0">
              <a:spcAft>
                <a:spcPts val="400"/>
              </a:spcAft>
              <a:buNone/>
            </a:pPr>
            <a:r>
              <a:rPr lang="en-US" sz="1400" b="1" dirty="0">
                <a:solidFill>
                  <a:schemeClr val="accent1"/>
                </a:solidFill>
                <a:latin typeface="Malgun Gothic" pitchFamily="34" charset="0"/>
                <a:ea typeface="Malgun Gothic" pitchFamily="34" charset="-122"/>
                <a:cs typeface="Malgun Gothic" pitchFamily="34" charset="-120"/>
              </a:rPr>
              <a:t>평균(10)</a:t>
            </a:r>
            <a:endParaRPr lang="en-US" sz="1400" dirty="0"/>
          </a:p>
          <a:p>
            <a:pPr indent="0" marL="0">
              <a:spcAft>
                <a:spcPts val="400"/>
              </a:spcAft>
              <a:buNone/>
            </a:pPr>
            <a:r>
              <a:rPr lang="en-US" sz="1400" b="1" dirty="0">
                <a:solidFill>
                  <a:schemeClr val="accent1"/>
                </a:solidFill>
                <a:latin typeface="Malgun Gothic" pitchFamily="34" charset="0"/>
                <a:ea typeface="Malgun Gothic" pitchFamily="34" charset="-122"/>
                <a:cs typeface="Malgun Gothic" pitchFamily="34" charset="-120"/>
              </a:rPr>
              <a:t>+ 지난 기가 평균에서 벗어난 만큼의 95%</a:t>
            </a:r>
            <a:endParaRPr lang="en-US" sz="1400" dirty="0"/>
          </a:p>
          <a:p>
            <a:pPr indent="0" marL="0">
              <a:spcAft>
                <a:spcPts val="400"/>
              </a:spcAft>
              <a:buNone/>
            </a:pPr>
            <a:r>
              <a:rPr lang="en-US" sz="1400" b="1" dirty="0">
                <a:solidFill>
                  <a:schemeClr val="accent2"/>
                </a:solidFill>
                <a:latin typeface="Malgun Gothic" pitchFamily="34" charset="0"/>
                <a:ea typeface="Malgun Gothic" pitchFamily="34" charset="-122"/>
                <a:cs typeface="Malgun Gothic" pitchFamily="34" charset="-120"/>
              </a:rPr>
              <a:t>+ 예측 못 하는 충격</a:t>
            </a:r>
            <a:endParaRPr lang="en-US" sz="1400" dirty="0"/>
          </a:p>
        </p:txBody>
      </p:sp>
      <p:sp>
        <p:nvSpPr>
          <p:cNvPr id="6" name="dnote"/>
          <p:cNvSpPr/>
          <p:nvPr/>
        </p:nvSpPr>
        <p:spPr>
          <a:xfrm>
            <a:off x="5669280" y="3108960"/>
            <a:ext cx="3017520" cy="1417320"/>
          </a:xfrm>
          <a:prstGeom prst="roundRect">
            <a:avLst>
              <a:gd name="adj" fmla="val 5161"/>
            </a:avLst>
          </a:prstGeom>
          <a:solidFill>
            <a:srgbClr val="EEF3F5"/>
          </a:solidFill>
          <a:ln w="12700">
            <a:solidFill>
              <a:srgbClr val="EEF3F5"/>
            </a:solidFill>
            <a:prstDash val="solid"/>
          </a:ln>
        </p:spPr>
      </p:sp>
      <p:sp>
        <p:nvSpPr>
          <p:cNvPr id="7" name="Text 4"/>
          <p:cNvSpPr txBox="1"/>
          <p:nvPr/>
        </p:nvSpPr>
        <p:spPr>
          <a:xfrm>
            <a:off x="5806440" y="3200400"/>
            <a:ext cx="2743200" cy="457200"/>
          </a:xfrm>
          <a:prstGeom prst="rect">
            <a:avLst/>
          </a:prstGeom>
          <a:noFill/>
          <a:ln/>
        </p:spPr>
        <p:txBody>
          <a:bodyPr wrap="square" lIns="0" tIns="0" rIns="0" bIns="0" rtlCol="0" anchor="ctr"/>
          <a:lstStyle/>
          <a:p>
            <a:pPr indent="0" marL="0">
              <a:buNone/>
            </a:pPr>
            <a:r>
              <a:rPr lang="en-US" sz="1200" dirty="0">
                <a:solidFill>
                  <a:schemeClr val="tx1"/>
                </a:solidFill>
                <a:latin typeface="Malgun Gothic" pitchFamily="34" charset="0"/>
                <a:ea typeface="Malgun Gothic" pitchFamily="34" charset="-122"/>
                <a:cs typeface="Malgun Gothic" pitchFamily="34" charset="-120"/>
              </a:rPr>
              <a:t>d(t) = 10 + 0.95 (d(t−1) − 10) + 충격</a:t>
            </a:r>
            <a:endParaRPr lang="en-US" sz="1200" dirty="0"/>
          </a:p>
        </p:txBody>
      </p:sp>
      <p:sp>
        <p:nvSpPr>
          <p:cNvPr id="8" name="Text 5"/>
          <p:cNvSpPr txBox="1"/>
          <p:nvPr/>
        </p:nvSpPr>
        <p:spPr>
          <a:xfrm>
            <a:off x="5806440" y="3657600"/>
            <a:ext cx="2743200" cy="822960"/>
          </a:xfrm>
          <a:prstGeom prst="rect">
            <a:avLst/>
          </a:prstGeom>
          <a:noFill/>
          <a:ln/>
        </p:spPr>
        <p:txBody>
          <a:bodyPr wrap="square" lIns="0" tIns="0" rIns="0" bIns="0" rtlCol="0" anchor="t"/>
          <a:lstStyle/>
          <a:p>
            <a:pPr indent="0" marL="0">
              <a:buNone/>
            </a:pPr>
            <a:r>
              <a:rPr lang="en-US" sz="1200" dirty="0">
                <a:solidFill>
                  <a:schemeClr val="tx1"/>
                </a:solidFill>
                <a:latin typeface="Malgun Gothic" pitchFamily="34" charset="0"/>
                <a:ea typeface="Malgun Gothic" pitchFamily="34" charset="-122"/>
                <a:cs typeface="Malgun Gothic" pitchFamily="34" charset="-120"/>
              </a:rPr>
              <a:t>95%이면 끈질기게 유지되지만, 1이 되면 평균으로 돌아오지 않아 비정상이 된다. 그래서 1에 가깝게만 잡았다</a:t>
            </a:r>
            <a:endParaRPr lang="en-US" sz="12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1"/>
                </a:solidFill>
              </a:rPr>
              <a:t>배우: 얼마나 사고팔까</a:t>
            </a:r>
            <a:endParaRPr lang="en-US" sz="2800" dirty="0"/>
          </a:p>
        </p:txBody>
      </p:sp>
      <p:sp>
        <p:nvSpPr>
          <p:cNvPr id="3" name="Text 1"/>
          <p:cNvSpPr txBox="1"/>
          <p:nvPr/>
        </p:nvSpPr>
        <p:spPr>
          <a:xfrm>
            <a:off x="457200" y="896112"/>
            <a:ext cx="8229600" cy="411480"/>
          </a:xfrm>
          <a:prstGeom prst="rect">
            <a:avLst/>
          </a:prstGeom>
          <a:noFill/>
          <a:ln/>
        </p:spPr>
        <p:txBody>
          <a:bodyPr wrap="square" lIns="0" tIns="0" rIns="0" bIns="0" rtlCol="0" anchor="ctr"/>
          <a:lstStyle/>
          <a:p>
            <a:pPr indent="0" marL="0">
              <a:buNone/>
            </a:pPr>
            <a:r>
              <a:rPr lang="en-US" sz="1600" b="1" dirty="0">
                <a:solidFill>
                  <a:schemeClr val="accent1"/>
                </a:solidFill>
                <a:latin typeface="Malgun Gothic" pitchFamily="34" charset="0"/>
                <a:ea typeface="Malgun Gothic" pitchFamily="34" charset="-122"/>
                <a:cs typeface="Malgun Gothic" pitchFamily="34" charset="-120"/>
              </a:rPr>
              <a:t>(내 예상 내일 값 − 예금에 넣었을 때의 값) ÷ 내가 느끼는 불확실성</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5120640" cy="914400"/>
        </p:xfrm>
        <a:graphic>
          <a:graphicData uri="http://schemas.openxmlformats.org/drawingml/2006/table">
            <a:tbl>
              <a:tblPr/>
              <a:tblGrid>
                <a:gridCol w="1554480"/>
                <a:gridCol w="1371600"/>
                <a:gridCol w="1097280"/>
                <a:gridCol w="1097280"/>
              </a:tblGrid>
              <a:tr h="502920">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투자자</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0F4C5C"/>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내일 값 예측</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0F4C5C"/>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예금 대비</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0F4C5C"/>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주문</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0F4C5C"/>
                    </a:solidFill>
                  </a:tcPr>
                </a:tc>
              </a:tr>
              <a:tr h="502920">
                <a:tc>
                  <a:txBody>
                    <a:bodyPr/>
                    <a:lstStyle/>
                    <a:p>
                      <a:pPr algn="ctr" indent="0" marL="0">
                        <a:buNone/>
                      </a:pPr>
                      <a:r>
                        <a:rPr lang="en-US" sz="1400" dirty="0">
                          <a:solidFill>
                            <a:srgbClr val="14263A"/>
                          </a:solidFill>
                          <a:latin typeface="Malgun Gothic" pitchFamily="34" charset="0"/>
                          <a:ea typeface="Malgun Gothic" pitchFamily="34" charset="-122"/>
                          <a:cs typeface="Malgun Gothic" pitchFamily="34" charset="-120"/>
                        </a:rPr>
                        <a:t>평범한 사람</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tcPr>
                </a:tc>
                <a:tc>
                  <a:txBody>
                    <a:bodyPr/>
                    <a:lstStyle/>
                    <a:p>
                      <a:pPr algn="ctr" indent="0" marL="0">
                        <a:buNone/>
                      </a:pPr>
                      <a:r>
                        <a:rPr lang="en-US" sz="1400" dirty="0">
                          <a:solidFill>
                            <a:srgbClr val="14263A"/>
                          </a:solidFill>
                          <a:latin typeface="Malgun Gothic" pitchFamily="34" charset="0"/>
                          <a:ea typeface="Malgun Gothic" pitchFamily="34" charset="-122"/>
                          <a:cs typeface="Malgun Gothic" pitchFamily="34" charset="-120"/>
                        </a:rPr>
                        <a:t>90</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tcPr>
                </a:tc>
                <a:tc>
                  <a:txBody>
                    <a:bodyPr/>
                    <a:lstStyle/>
                    <a:p>
                      <a:pPr algn="ctr" indent="0" marL="0">
                        <a:buNone/>
                      </a:pPr>
                      <a:r>
                        <a:rPr lang="en-US" sz="1400" dirty="0">
                          <a:solidFill>
                            <a:srgbClr val="14263A"/>
                          </a:solidFill>
                          <a:latin typeface="Malgun Gothic" pitchFamily="34" charset="0"/>
                          <a:ea typeface="Malgun Gothic" pitchFamily="34" charset="-122"/>
                          <a:cs typeface="Malgun Gothic" pitchFamily="34" charset="-120"/>
                        </a:rPr>
                        <a:t>+2</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tcPr>
                </a:tc>
                <a:tc>
                  <a:txBody>
                    <a:bodyPr/>
                    <a:lstStyle/>
                    <a:p>
                      <a:pPr algn="ctr" indent="0" marL="0">
                        <a:buNone/>
                      </a:pPr>
                      <a:r>
                        <a:rPr lang="en-US" sz="1400" b="1" dirty="0">
                          <a:solidFill>
                            <a:srgbClr val="14263A"/>
                          </a:solidFill>
                          <a:latin typeface="Malgun Gothic" pitchFamily="34" charset="0"/>
                          <a:ea typeface="Malgun Gothic" pitchFamily="34" charset="-122"/>
                          <a:cs typeface="Malgun Gothic" pitchFamily="34" charset="-120"/>
                        </a:rPr>
                        <a:t>1주 매수</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tcPr>
                </a:tc>
              </a:tr>
              <a:tr h="502920">
                <a:tc>
                  <a:txBody>
                    <a:bodyPr/>
                    <a:lstStyle/>
                    <a:p>
                      <a:pPr algn="ctr" indent="0" marL="0">
                        <a:buNone/>
                      </a:pPr>
                      <a:r>
                        <a:rPr lang="en-US" sz="1400" dirty="0">
                          <a:solidFill>
                            <a:srgbClr val="14263A"/>
                          </a:solidFill>
                          <a:latin typeface="Malgun Gothic" pitchFamily="34" charset="0"/>
                          <a:ea typeface="Malgun Gothic" pitchFamily="34" charset="-122"/>
                          <a:cs typeface="Malgun Gothic" pitchFamily="34" charset="-120"/>
                        </a:rPr>
                        <a:t>낙관적인 사람</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tcPr>
                </a:tc>
                <a:tc>
                  <a:txBody>
                    <a:bodyPr/>
                    <a:lstStyle/>
                    <a:p>
                      <a:pPr algn="ctr" indent="0" marL="0">
                        <a:buNone/>
                      </a:pPr>
                      <a:r>
                        <a:rPr lang="en-US" sz="1400" dirty="0">
                          <a:solidFill>
                            <a:srgbClr val="14263A"/>
                          </a:solidFill>
                          <a:latin typeface="Malgun Gothic" pitchFamily="34" charset="0"/>
                          <a:ea typeface="Malgun Gothic" pitchFamily="34" charset="-122"/>
                          <a:cs typeface="Malgun Gothic" pitchFamily="34" charset="-120"/>
                        </a:rPr>
                        <a:t>92</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tcPr>
                </a:tc>
                <a:tc>
                  <a:txBody>
                    <a:bodyPr/>
                    <a:lstStyle/>
                    <a:p>
                      <a:pPr algn="ctr" indent="0" marL="0">
                        <a:buNone/>
                      </a:pPr>
                      <a:r>
                        <a:rPr lang="en-US" sz="1400" dirty="0">
                          <a:solidFill>
                            <a:srgbClr val="14263A"/>
                          </a:solidFill>
                          <a:latin typeface="Malgun Gothic" pitchFamily="34" charset="0"/>
                          <a:ea typeface="Malgun Gothic" pitchFamily="34" charset="-122"/>
                          <a:cs typeface="Malgun Gothic" pitchFamily="34" charset="-120"/>
                        </a:rPr>
                        <a:t>+4</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tcPr>
                </a:tc>
                <a:tc>
                  <a:txBody>
                    <a:bodyPr/>
                    <a:lstStyle/>
                    <a:p>
                      <a:pPr algn="ctr" indent="0" marL="0">
                        <a:buNone/>
                      </a:pPr>
                      <a:r>
                        <a:rPr lang="en-US" sz="1400" b="1" dirty="0">
                          <a:solidFill>
                            <a:srgbClr val="14263A"/>
                          </a:solidFill>
                          <a:latin typeface="Malgun Gothic" pitchFamily="34" charset="0"/>
                          <a:ea typeface="Malgun Gothic" pitchFamily="34" charset="-122"/>
                          <a:cs typeface="Malgun Gothic" pitchFamily="34" charset="-120"/>
                        </a:rPr>
                        <a:t>2주 매수</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tcPr>
                </a:tc>
              </a:tr>
              <a:tr h="502920">
                <a:tc>
                  <a:txBody>
                    <a:bodyPr/>
                    <a:lstStyle/>
                    <a:p>
                      <a:pPr algn="ctr" indent="0" marL="0">
                        <a:buNone/>
                      </a:pPr>
                      <a:r>
                        <a:rPr lang="en-US" sz="1400" dirty="0">
                          <a:solidFill>
                            <a:srgbClr val="14263A"/>
                          </a:solidFill>
                          <a:latin typeface="Malgun Gothic" pitchFamily="34" charset="0"/>
                          <a:ea typeface="Malgun Gothic" pitchFamily="34" charset="-122"/>
                          <a:cs typeface="Malgun Gothic" pitchFamily="34" charset="-120"/>
                        </a:rPr>
                        <a:t>비관적인 사람</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tcPr>
                </a:tc>
                <a:tc>
                  <a:txBody>
                    <a:bodyPr/>
                    <a:lstStyle/>
                    <a:p>
                      <a:pPr algn="ctr" indent="0" marL="0">
                        <a:buNone/>
                      </a:pPr>
                      <a:r>
                        <a:rPr lang="en-US" sz="1400" dirty="0">
                          <a:solidFill>
                            <a:srgbClr val="14263A"/>
                          </a:solidFill>
                          <a:latin typeface="Malgun Gothic" pitchFamily="34" charset="0"/>
                          <a:ea typeface="Malgun Gothic" pitchFamily="34" charset="-122"/>
                          <a:cs typeface="Malgun Gothic" pitchFamily="34" charset="-120"/>
                        </a:rPr>
                        <a:t>86</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tcPr>
                </a:tc>
                <a:tc>
                  <a:txBody>
                    <a:bodyPr/>
                    <a:lstStyle/>
                    <a:p>
                      <a:pPr algn="ctr" indent="0" marL="0">
                        <a:buNone/>
                      </a:pPr>
                      <a:r>
                        <a:rPr lang="en-US" sz="1400" dirty="0">
                          <a:solidFill>
                            <a:srgbClr val="14263A"/>
                          </a:solidFill>
                          <a:latin typeface="Malgun Gothic" pitchFamily="34" charset="0"/>
                          <a:ea typeface="Malgun Gothic" pitchFamily="34" charset="-122"/>
                          <a:cs typeface="Malgun Gothic" pitchFamily="34" charset="-120"/>
                        </a:rPr>
                        <a:t>−2</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tcPr>
                </a:tc>
                <a:tc>
                  <a:txBody>
                    <a:bodyPr/>
                    <a:lstStyle/>
                    <a:p>
                      <a:pPr algn="ctr" indent="0" marL="0">
                        <a:buNone/>
                      </a:pPr>
                      <a:r>
                        <a:rPr lang="en-US" sz="1400" b="1" dirty="0">
                          <a:solidFill>
                            <a:srgbClr val="14263A"/>
                          </a:solidFill>
                          <a:latin typeface="Malgun Gothic" pitchFamily="34" charset="0"/>
                          <a:ea typeface="Malgun Gothic" pitchFamily="34" charset="-122"/>
                          <a:cs typeface="Malgun Gothic" pitchFamily="34" charset="-120"/>
                        </a:rPr>
                        <a:t>1주 공매도</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tcPr>
                </a:tc>
              </a:tr>
            </a:tbl>
          </a:graphicData>
        </a:graphic>
      </p:graphicFrame>
      <p:sp>
        <p:nvSpPr>
          <p:cNvPr id="5" name="ex"/>
          <p:cNvSpPr/>
          <p:nvPr/>
        </p:nvSpPr>
        <p:spPr>
          <a:xfrm>
            <a:off x="5852160" y="1508760"/>
            <a:ext cx="2834640" cy="2011680"/>
          </a:xfrm>
          <a:prstGeom prst="roundRect">
            <a:avLst>
              <a:gd name="adj" fmla="val 3636"/>
            </a:avLst>
          </a:prstGeom>
          <a:solidFill>
            <a:srgbClr val="EEF3F5"/>
          </a:solidFill>
          <a:ln w="12700">
            <a:solidFill>
              <a:srgbClr val="EEF3F5"/>
            </a:solidFill>
            <a:prstDash val="solid"/>
          </a:ln>
        </p:spPr>
      </p:sp>
      <p:sp>
        <p:nvSpPr>
          <p:cNvPr id="6" name="Text 3"/>
          <p:cNvSpPr txBox="1"/>
          <p:nvPr/>
        </p:nvSpPr>
        <p:spPr>
          <a:xfrm>
            <a:off x="5989320" y="1600200"/>
            <a:ext cx="2560320" cy="320040"/>
          </a:xfrm>
          <a:prstGeom prst="rect">
            <a:avLst/>
          </a:prstGeom>
          <a:noFill/>
          <a:ln/>
        </p:spPr>
        <p:txBody>
          <a:bodyPr wrap="square" lIns="0" tIns="0" rIns="0" bIns="0" rtlCol="0" anchor="ctr"/>
          <a:lstStyle/>
          <a:p>
            <a:pPr indent="0" marL="0">
              <a:buNone/>
            </a:pPr>
            <a:r>
              <a:rPr lang="en-US" sz="1400" b="1" dirty="0">
                <a:solidFill>
                  <a:schemeClr val="accent1"/>
                </a:solidFill>
                <a:latin typeface="Malgun Gothic" pitchFamily="34" charset="0"/>
                <a:ea typeface="Malgun Gothic" pitchFamily="34" charset="-122"/>
                <a:cs typeface="Malgun Gothic" pitchFamily="34" charset="-120"/>
              </a:rPr>
              <a:t>계산 예시</a:t>
            </a:r>
            <a:endParaRPr lang="en-US" sz="1400" dirty="0"/>
          </a:p>
        </p:txBody>
      </p:sp>
      <p:sp>
        <p:nvSpPr>
          <p:cNvPr id="7" name="Text 4"/>
          <p:cNvSpPr txBox="1"/>
          <p:nvPr/>
        </p:nvSpPr>
        <p:spPr>
          <a:xfrm>
            <a:off x="5989320" y="1920240"/>
            <a:ext cx="2560320" cy="1554480"/>
          </a:xfrm>
          <a:prstGeom prst="rect">
            <a:avLst/>
          </a:prstGeom>
          <a:noFill/>
          <a:ln/>
        </p:spPr>
        <p:txBody>
          <a:bodyPr wrap="square" lIns="0" tIns="0" rIns="0" bIns="0" rtlCol="0" anchor="t"/>
          <a:lstStyle/>
          <a:p>
            <a:pPr indent="0" marL="0">
              <a:buNone/>
            </a:pPr>
            <a:r>
              <a:rPr lang="en-US" sz="1200" dirty="0">
                <a:solidFill>
                  <a:schemeClr val="tx1"/>
                </a:solidFill>
                <a:latin typeface="Malgun Gothic" pitchFamily="34" charset="0"/>
                <a:ea typeface="Malgun Gothic" pitchFamily="34" charset="-122"/>
                <a:cs typeface="Malgun Gothic" pitchFamily="34" charset="-120"/>
              </a:rPr>
              <a:t>가격 80, 배당 10이면 예금 가치는 80 × 1.1 = 88. 불확실성 4, 위험회피 0.5라서 평범한 사람은 (90 − 88) ÷ (0.5 × 4) = 1주</a:t>
            </a:r>
            <a:endParaRPr lang="en-US" sz="1200" dirty="0"/>
          </a:p>
        </p:txBody>
      </p:sp>
      <p:sp>
        <p:nvSpPr>
          <p:cNvPr id="8" name="Text 5"/>
          <p:cNvSpPr txBox="1"/>
          <p:nvPr/>
        </p:nvSpPr>
        <p:spPr>
          <a:xfrm>
            <a:off x="457200" y="3840480"/>
            <a:ext cx="8229600" cy="731520"/>
          </a:xfrm>
          <a:prstGeom prst="rect">
            <a:avLst/>
          </a:prstGeom>
          <a:noFill/>
          <a:ln/>
        </p:spPr>
        <p:txBody>
          <a:bodyPr wrap="square" lIns="0" tIns="0" rIns="0" bIns="0" rtlCol="0" anchor="t"/>
          <a:lstStyle/>
          <a:p>
            <a:pPr indent="0" marL="0">
              <a:buNone/>
            </a:pPr>
            <a:r>
              <a:rPr lang="en-US" sz="1600" b="1" dirty="0">
                <a:solidFill>
                  <a:schemeClr val="accent2"/>
                </a:solidFill>
                <a:latin typeface="Malgun Gothic" pitchFamily="34" charset="0"/>
                <a:ea typeface="Malgun Gothic" pitchFamily="34" charset="-122"/>
                <a:cs typeface="Malgun Gothic" pitchFamily="34" charset="-120"/>
              </a:rPr>
              <a:t>가격이 오르면 예금 대비 이익이 줄어 사려는 양이 줄어든다. 그래서 "사려는 양 = 전체 25주"가 되는 가격이 하나 정해진다</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1"/>
                </a:solidFill>
              </a:rPr>
              <a:t>기준점: 모두가 정답을 안다면</a:t>
            </a:r>
            <a:endParaRPr lang="en-US" sz="2800" dirty="0"/>
          </a:p>
        </p:txBody>
      </p:sp>
      <p:sp>
        <p:nvSpPr>
          <p:cNvPr id="3" name="Text 1"/>
          <p:cNvSpPr txBox="1"/>
          <p:nvPr/>
        </p:nvSpPr>
        <p:spPr>
          <a:xfrm>
            <a:off x="457200" y="896112"/>
            <a:ext cx="8229600" cy="411480"/>
          </a:xfrm>
          <a:prstGeom prst="rect">
            <a:avLst/>
          </a:prstGeom>
          <a:noFill/>
          <a:ln/>
        </p:spPr>
        <p:txBody>
          <a:bodyPr wrap="square" lIns="0" tIns="0" rIns="0" bIns="0" rtlCol="0" anchor="ctr"/>
          <a:lstStyle/>
          <a:p>
            <a:pPr indent="0" marL="0">
              <a:buNone/>
            </a:pPr>
            <a:r>
              <a:rPr lang="en-US" sz="1600" b="1" dirty="0">
                <a:solidFill>
                  <a:schemeClr val="accent1"/>
                </a:solidFill>
                <a:latin typeface="Malgun Gothic" pitchFamily="34" charset="0"/>
                <a:ea typeface="Malgun Gothic" pitchFamily="34" charset="-122"/>
                <a:cs typeface="Malgun Gothic" pitchFamily="34" charset="-120"/>
              </a:rPr>
              <a:t>이때 가격은 배당의 일차함수이고, 배당 10이면 가격은 약 80</a:t>
            </a:r>
            <a:endParaRPr lang="en-US" sz="1600" dirty="0"/>
          </a:p>
        </p:txBody>
      </p:sp>
      <p:graphicFrame>
        <p:nvGraphicFramePr>
          <p:cNvPr id="4" name="Chart 0" descr=""/>
          <p:cNvGraphicFramePr/>
          <p:nvPr/>
        </p:nvGraphicFramePr>
        <p:xfrm>
          <a:off x="365760" y="1371600"/>
          <a:ext cx="512064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669280" y="1463040"/>
            <a:ext cx="3017520" cy="173736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latin typeface="Malgun Gothic" pitchFamily="34" charset="0"/>
                <a:ea typeface="Malgun Gothic" pitchFamily="34" charset="-122"/>
                <a:cs typeface="Malgun Gothic" pitchFamily="34" charset="-120"/>
              </a:rPr>
              <a:t>이론가격 = 6.33 × 배당 + 16.69</a:t>
            </a:r>
            <a:endParaRPr lang="en-US" sz="1400" dirty="0"/>
          </a:p>
          <a:p>
            <a:pPr indent="0" marL="0">
              <a:spcAft>
                <a:spcPts val="600"/>
              </a:spcAft>
              <a:buNone/>
            </a:pPr>
            <a:r>
              <a:rPr lang="en-US" sz="1400" dirty="0">
                <a:solidFill>
                  <a:schemeClr val="tx1"/>
                </a:solidFill>
                <a:latin typeface="Malgun Gothic" pitchFamily="34" charset="0"/>
                <a:ea typeface="Malgun Gothic" pitchFamily="34" charset="-122"/>
                <a:cs typeface="Malgun Gothic" pitchFamily="34" charset="-120"/>
              </a:rPr>
              <a:t>배당이 1 오르면 가격은 6.33 오른다</a:t>
            </a:r>
            <a:endParaRPr lang="en-US" sz="1400" dirty="0"/>
          </a:p>
          <a:p>
            <a:pPr indent="0" marL="0">
              <a:spcAft>
                <a:spcPts val="600"/>
              </a:spcAft>
              <a:buNone/>
            </a:pPr>
            <a:r>
              <a:rPr lang="en-US" sz="1400" dirty="0">
                <a:solidFill>
                  <a:schemeClr val="tx1"/>
                </a:solidFill>
                <a:latin typeface="Malgun Gothic" pitchFamily="34" charset="0"/>
                <a:ea typeface="Malgun Gothic" pitchFamily="34" charset="-122"/>
                <a:cs typeface="Malgun Gothic" pitchFamily="34" charset="-120"/>
              </a:rPr>
              <a:t>16.69는 평균 배당 수준에서 위험프리미엄을 뺀 상수</a:t>
            </a:r>
            <a:endParaRPr lang="en-US" sz="1400" dirty="0"/>
          </a:p>
        </p:txBody>
      </p:sp>
      <p:sp>
        <p:nvSpPr>
          <p:cNvPr id="6" name="bm"/>
          <p:cNvSpPr/>
          <p:nvPr/>
        </p:nvSpPr>
        <p:spPr>
          <a:xfrm>
            <a:off x="5669280" y="3291840"/>
            <a:ext cx="3017520" cy="1234440"/>
          </a:xfrm>
          <a:prstGeom prst="roundRect">
            <a:avLst>
              <a:gd name="adj" fmla="val 5926"/>
            </a:avLst>
          </a:prstGeom>
          <a:solidFill>
            <a:srgbClr val="EEF3F5"/>
          </a:solidFill>
          <a:ln w="12700">
            <a:solidFill>
              <a:srgbClr val="EEF3F5"/>
            </a:solidFill>
            <a:prstDash val="solid"/>
          </a:ln>
        </p:spPr>
      </p:sp>
      <p:sp>
        <p:nvSpPr>
          <p:cNvPr id="7" name="Text 4"/>
          <p:cNvSpPr txBox="1"/>
          <p:nvPr/>
        </p:nvSpPr>
        <p:spPr>
          <a:xfrm>
            <a:off x="5806440" y="3383280"/>
            <a:ext cx="2743200" cy="1051560"/>
          </a:xfrm>
          <a:prstGeom prst="rect">
            <a:avLst/>
          </a:prstGeom>
          <a:noFill/>
          <a:ln/>
        </p:spPr>
        <p:txBody>
          <a:bodyPr wrap="square" lIns="0" tIns="0" rIns="0" bIns="0" rtlCol="0" anchor="ctr"/>
          <a:lstStyle/>
          <a:p>
            <a:pPr indent="0" marL="0">
              <a:buNone/>
            </a:pPr>
            <a:r>
              <a:rPr lang="en-US" sz="1400" b="1" dirty="0">
                <a:solidFill>
                  <a:schemeClr val="accent1"/>
                </a:solidFill>
                <a:latin typeface="Malgun Gothic" pitchFamily="34" charset="0"/>
                <a:ea typeface="Malgun Gothic" pitchFamily="34" charset="-122"/>
                <a:cs typeface="Malgun Gothic" pitchFamily="34" charset="-120"/>
              </a:rPr>
              <a:t>이 가격이 비교 기준이다. 실제 시장이 이 선에서 얼마나 벗어나는지를 본다</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1"/>
                </a:solidFill>
              </a:rPr>
              <a:t>메모(규칙)는 이렇게 생겼다</a:t>
            </a:r>
            <a:endParaRPr lang="en-US" sz="2800" dirty="0"/>
          </a:p>
        </p:txBody>
      </p:sp>
      <p:sp>
        <p:nvSpPr>
          <p:cNvPr id="3" name="Text 1"/>
          <p:cNvSpPr txBox="1"/>
          <p:nvPr/>
        </p:nvSpPr>
        <p:spPr>
          <a:xfrm>
            <a:off x="457200" y="896112"/>
            <a:ext cx="8229600" cy="411480"/>
          </a:xfrm>
          <a:prstGeom prst="rect">
            <a:avLst/>
          </a:prstGeom>
          <a:noFill/>
          <a:ln/>
        </p:spPr>
        <p:txBody>
          <a:bodyPr wrap="square" lIns="0" tIns="0" rIns="0" bIns="0" rtlCol="0" anchor="ctr"/>
          <a:lstStyle/>
          <a:p>
            <a:pPr indent="0" marL="0">
              <a:buNone/>
            </a:pPr>
            <a:r>
              <a:rPr lang="en-US" sz="1600" b="1" dirty="0">
                <a:solidFill>
                  <a:schemeClr val="accent1"/>
                </a:solidFill>
                <a:latin typeface="Malgun Gothic" pitchFamily="34" charset="0"/>
                <a:ea typeface="Malgun Gothic" pitchFamily="34" charset="-122"/>
                <a:cs typeface="Malgun Gothic" pitchFamily="34" charset="-120"/>
              </a:rPr>
              <a:t>"대시보드의 불이 이런 모양이면, 내일 값은 이 정도"</a:t>
            </a:r>
            <a:endParaRPr lang="en-US" sz="1600" dirty="0"/>
          </a:p>
        </p:txBody>
      </p:sp>
      <p:sp>
        <p:nvSpPr>
          <p:cNvPr id="4" name="bit0"/>
          <p:cNvSpPr/>
          <p:nvPr/>
        </p:nvSpPr>
        <p:spPr>
          <a:xfrm>
            <a:off x="457200" y="1554480"/>
            <a:ext cx="566928" cy="566928"/>
          </a:xfrm>
          <a:prstGeom prst="rect">
            <a:avLst/>
          </a:prstGeom>
          <a:solidFill>
            <a:schemeClr val="accent1"/>
          </a:solidFill>
          <a:ln w="12700">
            <a:solidFill>
              <a:schemeClr val="accent1"/>
            </a:solidFill>
            <a:prstDash val="solid"/>
          </a:ln>
        </p:spPr>
      </p:sp>
      <p:sp>
        <p:nvSpPr>
          <p:cNvPr id="5" name="Text 3"/>
          <p:cNvSpPr txBox="1"/>
          <p:nvPr/>
        </p:nvSpPr>
        <p:spPr>
          <a:xfrm>
            <a:off x="457200" y="155448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latin typeface="Malgun Gothic" pitchFamily="34" charset="0"/>
                <a:ea typeface="Malgun Gothic" pitchFamily="34" charset="-122"/>
                <a:cs typeface="Malgun Gothic" pitchFamily="34" charset="-120"/>
              </a:rPr>
              <a:t>1</a:t>
            </a:r>
            <a:endParaRPr lang="en-US" sz="1800" dirty="0"/>
          </a:p>
        </p:txBody>
      </p:sp>
      <p:sp>
        <p:nvSpPr>
          <p:cNvPr id="6" name="bit1"/>
          <p:cNvSpPr/>
          <p:nvPr/>
        </p:nvSpPr>
        <p:spPr>
          <a:xfrm>
            <a:off x="1133856" y="1554480"/>
            <a:ext cx="566928" cy="566928"/>
          </a:xfrm>
          <a:prstGeom prst="rect">
            <a:avLst/>
          </a:prstGeom>
          <a:solidFill>
            <a:schemeClr val="accent1"/>
          </a:solidFill>
          <a:ln w="12700">
            <a:solidFill>
              <a:schemeClr val="accent1"/>
            </a:solidFill>
            <a:prstDash val="solid"/>
          </a:ln>
        </p:spPr>
      </p:sp>
      <p:sp>
        <p:nvSpPr>
          <p:cNvPr id="7" name="Text 5"/>
          <p:cNvSpPr txBox="1"/>
          <p:nvPr/>
        </p:nvSpPr>
        <p:spPr>
          <a:xfrm>
            <a:off x="1133856" y="155448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latin typeface="Malgun Gothic" pitchFamily="34" charset="0"/>
                <a:ea typeface="Malgun Gothic" pitchFamily="34" charset="-122"/>
                <a:cs typeface="Malgun Gothic" pitchFamily="34" charset="-120"/>
              </a:rPr>
              <a:t>#</a:t>
            </a:r>
            <a:endParaRPr lang="en-US" sz="1800" dirty="0"/>
          </a:p>
        </p:txBody>
      </p:sp>
      <p:sp>
        <p:nvSpPr>
          <p:cNvPr id="8" name="bit2"/>
          <p:cNvSpPr/>
          <p:nvPr/>
        </p:nvSpPr>
        <p:spPr>
          <a:xfrm>
            <a:off x="1810512" y="1554480"/>
            <a:ext cx="566928" cy="566928"/>
          </a:xfrm>
          <a:prstGeom prst="rect">
            <a:avLst/>
          </a:prstGeom>
          <a:solidFill>
            <a:schemeClr val="accent1"/>
          </a:solidFill>
          <a:ln w="12700">
            <a:solidFill>
              <a:schemeClr val="accent1"/>
            </a:solidFill>
            <a:prstDash val="solid"/>
          </a:ln>
        </p:spPr>
      </p:sp>
      <p:sp>
        <p:nvSpPr>
          <p:cNvPr id="9" name="Text 7"/>
          <p:cNvSpPr txBox="1"/>
          <p:nvPr/>
        </p:nvSpPr>
        <p:spPr>
          <a:xfrm>
            <a:off x="1810512" y="155448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latin typeface="Malgun Gothic" pitchFamily="34" charset="0"/>
                <a:ea typeface="Malgun Gothic" pitchFamily="34" charset="-122"/>
                <a:cs typeface="Malgun Gothic" pitchFamily="34" charset="-120"/>
              </a:rPr>
              <a:t>#</a:t>
            </a:r>
            <a:endParaRPr lang="en-US" sz="1800" dirty="0"/>
          </a:p>
        </p:txBody>
      </p:sp>
      <p:sp>
        <p:nvSpPr>
          <p:cNvPr id="10" name="bit3"/>
          <p:cNvSpPr/>
          <p:nvPr/>
        </p:nvSpPr>
        <p:spPr>
          <a:xfrm>
            <a:off x="2487168" y="1554480"/>
            <a:ext cx="566928" cy="566928"/>
          </a:xfrm>
          <a:prstGeom prst="rect">
            <a:avLst/>
          </a:prstGeom>
          <a:solidFill>
            <a:schemeClr val="accent1"/>
          </a:solidFill>
          <a:ln w="12700">
            <a:solidFill>
              <a:schemeClr val="accent1"/>
            </a:solidFill>
            <a:prstDash val="solid"/>
          </a:ln>
        </p:spPr>
      </p:sp>
      <p:sp>
        <p:nvSpPr>
          <p:cNvPr id="11" name="Text 9"/>
          <p:cNvSpPr txBox="1"/>
          <p:nvPr/>
        </p:nvSpPr>
        <p:spPr>
          <a:xfrm>
            <a:off x="2487168" y="155448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latin typeface="Malgun Gothic" pitchFamily="34" charset="0"/>
                <a:ea typeface="Malgun Gothic" pitchFamily="34" charset="-122"/>
                <a:cs typeface="Malgun Gothic" pitchFamily="34" charset="-120"/>
              </a:rPr>
              <a:t>0</a:t>
            </a:r>
            <a:endParaRPr lang="en-US" sz="1800" dirty="0"/>
          </a:p>
        </p:txBody>
      </p:sp>
      <p:sp>
        <p:nvSpPr>
          <p:cNvPr id="12" name="bit4"/>
          <p:cNvSpPr/>
          <p:nvPr/>
        </p:nvSpPr>
        <p:spPr>
          <a:xfrm>
            <a:off x="3163824" y="1554480"/>
            <a:ext cx="566928" cy="566928"/>
          </a:xfrm>
          <a:prstGeom prst="rect">
            <a:avLst/>
          </a:prstGeom>
          <a:solidFill>
            <a:schemeClr val="accent1"/>
          </a:solidFill>
          <a:ln w="12700">
            <a:solidFill>
              <a:schemeClr val="accent1"/>
            </a:solidFill>
            <a:prstDash val="solid"/>
          </a:ln>
        </p:spPr>
      </p:sp>
      <p:sp>
        <p:nvSpPr>
          <p:cNvPr id="13" name="Text 11"/>
          <p:cNvSpPr txBox="1"/>
          <p:nvPr/>
        </p:nvSpPr>
        <p:spPr>
          <a:xfrm>
            <a:off x="3163824" y="155448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latin typeface="Malgun Gothic" pitchFamily="34" charset="0"/>
                <a:ea typeface="Malgun Gothic" pitchFamily="34" charset="-122"/>
                <a:cs typeface="Malgun Gothic" pitchFamily="34" charset="-120"/>
              </a:rPr>
              <a:t>#</a:t>
            </a:r>
            <a:endParaRPr lang="en-US" sz="1800" dirty="0"/>
          </a:p>
        </p:txBody>
      </p:sp>
      <p:sp>
        <p:nvSpPr>
          <p:cNvPr id="14" name="bit5"/>
          <p:cNvSpPr/>
          <p:nvPr/>
        </p:nvSpPr>
        <p:spPr>
          <a:xfrm>
            <a:off x="3840480" y="1554480"/>
            <a:ext cx="566928" cy="566928"/>
          </a:xfrm>
          <a:prstGeom prst="rect">
            <a:avLst/>
          </a:prstGeom>
          <a:solidFill>
            <a:schemeClr val="accent1"/>
          </a:solidFill>
          <a:ln w="12700">
            <a:solidFill>
              <a:schemeClr val="accent1"/>
            </a:solidFill>
            <a:prstDash val="solid"/>
          </a:ln>
        </p:spPr>
      </p:sp>
      <p:sp>
        <p:nvSpPr>
          <p:cNvPr id="15" name="Text 13"/>
          <p:cNvSpPr txBox="1"/>
          <p:nvPr/>
        </p:nvSpPr>
        <p:spPr>
          <a:xfrm>
            <a:off x="3840480" y="155448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latin typeface="Malgun Gothic" pitchFamily="34" charset="0"/>
                <a:ea typeface="Malgun Gothic" pitchFamily="34" charset="-122"/>
                <a:cs typeface="Malgun Gothic" pitchFamily="34" charset="-120"/>
              </a:rPr>
              <a:t>#</a:t>
            </a:r>
            <a:endParaRPr lang="en-US" sz="1800" dirty="0"/>
          </a:p>
        </p:txBody>
      </p:sp>
      <p:sp>
        <p:nvSpPr>
          <p:cNvPr id="16" name="bit6"/>
          <p:cNvSpPr/>
          <p:nvPr/>
        </p:nvSpPr>
        <p:spPr>
          <a:xfrm>
            <a:off x="4517136" y="1554480"/>
            <a:ext cx="566928" cy="566928"/>
          </a:xfrm>
          <a:prstGeom prst="rect">
            <a:avLst/>
          </a:prstGeom>
          <a:solidFill>
            <a:schemeClr val="accent2"/>
          </a:solidFill>
          <a:ln w="12700">
            <a:solidFill>
              <a:schemeClr val="accent2"/>
            </a:solidFill>
            <a:prstDash val="solid"/>
          </a:ln>
        </p:spPr>
      </p:sp>
      <p:sp>
        <p:nvSpPr>
          <p:cNvPr id="17" name="Text 15"/>
          <p:cNvSpPr txBox="1"/>
          <p:nvPr/>
        </p:nvSpPr>
        <p:spPr>
          <a:xfrm>
            <a:off x="4517136" y="155448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latin typeface="Malgun Gothic" pitchFamily="34" charset="0"/>
                <a:ea typeface="Malgun Gothic" pitchFamily="34" charset="-122"/>
                <a:cs typeface="Malgun Gothic" pitchFamily="34" charset="-120"/>
              </a:rPr>
              <a:t>1</a:t>
            </a:r>
            <a:endParaRPr lang="en-US" sz="1800" dirty="0"/>
          </a:p>
        </p:txBody>
      </p:sp>
      <p:sp>
        <p:nvSpPr>
          <p:cNvPr id="18" name="bit7"/>
          <p:cNvSpPr/>
          <p:nvPr/>
        </p:nvSpPr>
        <p:spPr>
          <a:xfrm>
            <a:off x="5193792" y="1554480"/>
            <a:ext cx="566928" cy="566928"/>
          </a:xfrm>
          <a:prstGeom prst="rect">
            <a:avLst/>
          </a:prstGeom>
          <a:solidFill>
            <a:schemeClr val="accent2"/>
          </a:solidFill>
          <a:ln w="12700">
            <a:solidFill>
              <a:schemeClr val="accent2"/>
            </a:solidFill>
            <a:prstDash val="solid"/>
          </a:ln>
        </p:spPr>
      </p:sp>
      <p:sp>
        <p:nvSpPr>
          <p:cNvPr id="19" name="Text 17"/>
          <p:cNvSpPr txBox="1"/>
          <p:nvPr/>
        </p:nvSpPr>
        <p:spPr>
          <a:xfrm>
            <a:off x="5193792" y="155448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latin typeface="Malgun Gothic" pitchFamily="34" charset="0"/>
                <a:ea typeface="Malgun Gothic" pitchFamily="34" charset="-122"/>
                <a:cs typeface="Malgun Gothic" pitchFamily="34" charset="-120"/>
              </a:rPr>
              <a:t>#</a:t>
            </a:r>
            <a:endParaRPr lang="en-US" sz="1800" dirty="0"/>
          </a:p>
        </p:txBody>
      </p:sp>
      <p:sp>
        <p:nvSpPr>
          <p:cNvPr id="20" name="bit8"/>
          <p:cNvSpPr/>
          <p:nvPr/>
        </p:nvSpPr>
        <p:spPr>
          <a:xfrm>
            <a:off x="5870448" y="1554480"/>
            <a:ext cx="566928" cy="566928"/>
          </a:xfrm>
          <a:prstGeom prst="rect">
            <a:avLst/>
          </a:prstGeom>
          <a:solidFill>
            <a:schemeClr val="accent2"/>
          </a:solidFill>
          <a:ln w="12700">
            <a:solidFill>
              <a:schemeClr val="accent2"/>
            </a:solidFill>
            <a:prstDash val="solid"/>
          </a:ln>
        </p:spPr>
      </p:sp>
      <p:sp>
        <p:nvSpPr>
          <p:cNvPr id="21" name="Text 19"/>
          <p:cNvSpPr txBox="1"/>
          <p:nvPr/>
        </p:nvSpPr>
        <p:spPr>
          <a:xfrm>
            <a:off x="5870448" y="155448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latin typeface="Malgun Gothic" pitchFamily="34" charset="0"/>
                <a:ea typeface="Malgun Gothic" pitchFamily="34" charset="-122"/>
                <a:cs typeface="Malgun Gothic" pitchFamily="34" charset="-120"/>
              </a:rPr>
              <a:t>#</a:t>
            </a:r>
            <a:endParaRPr lang="en-US" sz="1800" dirty="0"/>
          </a:p>
        </p:txBody>
      </p:sp>
      <p:sp>
        <p:nvSpPr>
          <p:cNvPr id="22" name="bit9"/>
          <p:cNvSpPr/>
          <p:nvPr/>
        </p:nvSpPr>
        <p:spPr>
          <a:xfrm>
            <a:off x="6547104" y="1554480"/>
            <a:ext cx="566928" cy="566928"/>
          </a:xfrm>
          <a:prstGeom prst="rect">
            <a:avLst/>
          </a:prstGeom>
          <a:solidFill>
            <a:schemeClr val="accent2"/>
          </a:solidFill>
          <a:ln w="12700">
            <a:solidFill>
              <a:schemeClr val="accent2"/>
            </a:solidFill>
            <a:prstDash val="solid"/>
          </a:ln>
        </p:spPr>
      </p:sp>
      <p:sp>
        <p:nvSpPr>
          <p:cNvPr id="23" name="Text 21"/>
          <p:cNvSpPr txBox="1"/>
          <p:nvPr/>
        </p:nvSpPr>
        <p:spPr>
          <a:xfrm>
            <a:off x="6547104" y="155448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latin typeface="Malgun Gothic" pitchFamily="34" charset="0"/>
                <a:ea typeface="Malgun Gothic" pitchFamily="34" charset="-122"/>
                <a:cs typeface="Malgun Gothic" pitchFamily="34" charset="-120"/>
              </a:rPr>
              <a:t>#</a:t>
            </a:r>
            <a:endParaRPr lang="en-US" sz="1800" dirty="0"/>
          </a:p>
        </p:txBody>
      </p:sp>
      <p:sp>
        <p:nvSpPr>
          <p:cNvPr id="24" name="bit10"/>
          <p:cNvSpPr/>
          <p:nvPr/>
        </p:nvSpPr>
        <p:spPr>
          <a:xfrm>
            <a:off x="7223760" y="1554480"/>
            <a:ext cx="566928" cy="566928"/>
          </a:xfrm>
          <a:prstGeom prst="rect">
            <a:avLst/>
          </a:prstGeom>
          <a:solidFill>
            <a:schemeClr val="accent3"/>
          </a:solidFill>
          <a:ln w="12700">
            <a:solidFill>
              <a:schemeClr val="accent3"/>
            </a:solidFill>
            <a:prstDash val="solid"/>
          </a:ln>
        </p:spPr>
      </p:sp>
      <p:sp>
        <p:nvSpPr>
          <p:cNvPr id="25" name="Text 23"/>
          <p:cNvSpPr txBox="1"/>
          <p:nvPr/>
        </p:nvSpPr>
        <p:spPr>
          <a:xfrm>
            <a:off x="7223760" y="155448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latin typeface="Malgun Gothic" pitchFamily="34" charset="0"/>
                <a:ea typeface="Malgun Gothic" pitchFamily="34" charset="-122"/>
                <a:cs typeface="Malgun Gothic" pitchFamily="34" charset="-120"/>
              </a:rPr>
              <a:t>#</a:t>
            </a:r>
            <a:endParaRPr lang="en-US" sz="1800" dirty="0"/>
          </a:p>
        </p:txBody>
      </p:sp>
      <p:sp>
        <p:nvSpPr>
          <p:cNvPr id="26" name="bit11"/>
          <p:cNvSpPr/>
          <p:nvPr/>
        </p:nvSpPr>
        <p:spPr>
          <a:xfrm>
            <a:off x="7900416" y="1554480"/>
            <a:ext cx="566928" cy="566928"/>
          </a:xfrm>
          <a:prstGeom prst="rect">
            <a:avLst/>
          </a:prstGeom>
          <a:solidFill>
            <a:schemeClr val="accent3"/>
          </a:solidFill>
          <a:ln w="12700">
            <a:solidFill>
              <a:schemeClr val="accent3"/>
            </a:solidFill>
            <a:prstDash val="solid"/>
          </a:ln>
        </p:spPr>
      </p:sp>
      <p:sp>
        <p:nvSpPr>
          <p:cNvPr id="27" name="Text 25"/>
          <p:cNvSpPr txBox="1"/>
          <p:nvPr/>
        </p:nvSpPr>
        <p:spPr>
          <a:xfrm>
            <a:off x="7900416" y="155448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latin typeface="Malgun Gothic" pitchFamily="34" charset="0"/>
                <a:ea typeface="Malgun Gothic" pitchFamily="34" charset="-122"/>
                <a:cs typeface="Malgun Gothic" pitchFamily="34" charset="-120"/>
              </a:rPr>
              <a:t>#</a:t>
            </a:r>
            <a:endParaRPr lang="en-US" sz="1800" dirty="0"/>
          </a:p>
        </p:txBody>
      </p:sp>
      <p:sp>
        <p:nvSpPr>
          <p:cNvPr id="28" name="Text 26"/>
          <p:cNvSpPr txBox="1"/>
          <p:nvPr/>
        </p:nvSpPr>
        <p:spPr>
          <a:xfrm>
            <a:off x="457200" y="2286000"/>
            <a:ext cx="4114800" cy="274320"/>
          </a:xfrm>
          <a:prstGeom prst="rect">
            <a:avLst/>
          </a:prstGeom>
          <a:noFill/>
          <a:ln/>
        </p:spPr>
        <p:txBody>
          <a:bodyPr wrap="square" lIns="0" tIns="0" rIns="0" bIns="0" rtlCol="0" anchor="ctr"/>
          <a:lstStyle/>
          <a:p>
            <a:pPr indent="0" marL="0">
              <a:buNone/>
            </a:pPr>
            <a:r>
              <a:rPr lang="en-US" sz="1200" b="1" dirty="0">
                <a:solidFill>
                  <a:schemeClr val="accent1"/>
                </a:solidFill>
                <a:latin typeface="Malgun Gothic" pitchFamily="34" charset="0"/>
                <a:ea typeface="Malgun Gothic" pitchFamily="34" charset="-122"/>
                <a:cs typeface="Malgun Gothic" pitchFamily="34" charset="-120"/>
              </a:rPr>
              <a:t>1~6번: 배당 대비 가격이 비싼가 (펀더멘털)</a:t>
            </a:r>
            <a:endParaRPr lang="en-US" sz="1200" dirty="0"/>
          </a:p>
        </p:txBody>
      </p:sp>
      <p:sp>
        <p:nvSpPr>
          <p:cNvPr id="29" name="Text 27"/>
          <p:cNvSpPr txBox="1"/>
          <p:nvPr/>
        </p:nvSpPr>
        <p:spPr>
          <a:xfrm>
            <a:off x="457200" y="2560320"/>
            <a:ext cx="5029200" cy="274320"/>
          </a:xfrm>
          <a:prstGeom prst="rect">
            <a:avLst/>
          </a:prstGeom>
          <a:noFill/>
          <a:ln/>
        </p:spPr>
        <p:txBody>
          <a:bodyPr wrap="square" lIns="0" tIns="0" rIns="0" bIns="0" rtlCol="0" anchor="ctr"/>
          <a:lstStyle/>
          <a:p>
            <a:pPr indent="0" marL="0">
              <a:buNone/>
            </a:pPr>
            <a:r>
              <a:rPr lang="en-US" sz="1200" b="1" dirty="0">
                <a:solidFill>
                  <a:schemeClr val="accent2"/>
                </a:solidFill>
                <a:latin typeface="Malgun Gothic" pitchFamily="34" charset="0"/>
                <a:ea typeface="Malgun Gothic" pitchFamily="34" charset="-122"/>
                <a:cs typeface="Malgun Gothic" pitchFamily="34" charset="-120"/>
              </a:rPr>
              <a:t>7~10번: 최근 5·10·100·500일 평균보다 높은가 (차트)</a:t>
            </a:r>
            <a:endParaRPr lang="en-US" sz="1200" dirty="0"/>
          </a:p>
        </p:txBody>
      </p:sp>
      <p:sp>
        <p:nvSpPr>
          <p:cNvPr id="30" name="Text 28"/>
          <p:cNvSpPr txBox="1"/>
          <p:nvPr/>
        </p:nvSpPr>
        <p:spPr>
          <a:xfrm>
            <a:off x="457200" y="2834640"/>
            <a:ext cx="5029200" cy="274320"/>
          </a:xfrm>
          <a:prstGeom prst="rect">
            <a:avLst/>
          </a:prstGeom>
          <a:noFill/>
          <a:ln/>
        </p:spPr>
        <p:txBody>
          <a:bodyPr wrap="square" lIns="0" tIns="0" rIns="0" bIns="0" rtlCol="0" anchor="ctr"/>
          <a:lstStyle/>
          <a:p>
            <a:pPr indent="0" marL="0">
              <a:buNone/>
            </a:pPr>
            <a:r>
              <a:rPr lang="en-US" sz="1200" b="1" dirty="0">
                <a:solidFill>
                  <a:schemeClr val="accent3"/>
                </a:solidFill>
                <a:latin typeface="Malgun Gothic" pitchFamily="34" charset="0"/>
                <a:ea typeface="Malgun Gothic" pitchFamily="34" charset="-122"/>
                <a:cs typeface="Malgun Gothic" pitchFamily="34" charset="-120"/>
              </a:rPr>
              <a:t>11·12번: 항상 켜짐·꺼짐 (정보 없는 대조용)</a:t>
            </a:r>
            <a:endParaRPr lang="en-US" sz="1200" dirty="0"/>
          </a:p>
        </p:txBody>
      </p:sp>
      <p:sp>
        <p:nvSpPr>
          <p:cNvPr id="31" name="pred"/>
          <p:cNvSpPr/>
          <p:nvPr/>
        </p:nvSpPr>
        <p:spPr>
          <a:xfrm>
            <a:off x="5760720" y="2286000"/>
            <a:ext cx="2926080" cy="914400"/>
          </a:xfrm>
          <a:prstGeom prst="roundRect">
            <a:avLst>
              <a:gd name="adj" fmla="val 8000"/>
            </a:avLst>
          </a:prstGeom>
          <a:solidFill>
            <a:srgbClr val="EEF3F5"/>
          </a:solidFill>
          <a:ln w="12700">
            <a:solidFill>
              <a:srgbClr val="EEF3F5"/>
            </a:solidFill>
            <a:prstDash val="solid"/>
          </a:ln>
        </p:spPr>
      </p:sp>
      <p:sp>
        <p:nvSpPr>
          <p:cNvPr id="32" name="Text 30"/>
          <p:cNvSpPr txBox="1"/>
          <p:nvPr/>
        </p:nvSpPr>
        <p:spPr>
          <a:xfrm>
            <a:off x="5852160" y="2331720"/>
            <a:ext cx="2743200" cy="822960"/>
          </a:xfrm>
          <a:prstGeom prst="rect">
            <a:avLst/>
          </a:prstGeom>
          <a:noFill/>
          <a:ln/>
        </p:spPr>
        <p:txBody>
          <a:bodyPr wrap="square" lIns="0" tIns="0" rIns="0" bIns="0" rtlCol="0" anchor="ctr"/>
          <a:lstStyle/>
          <a:p>
            <a:pPr indent="0" marL="0">
              <a:buNone/>
            </a:pPr>
            <a:r>
              <a:rPr lang="en-US" sz="1200" dirty="0">
                <a:solidFill>
                  <a:schemeClr val="tx1"/>
                </a:solidFill>
                <a:latin typeface="Malgun Gothic" pitchFamily="34" charset="0"/>
                <a:ea typeface="Malgun Gothic" pitchFamily="34" charset="-122"/>
                <a:cs typeface="Malgun Gothic" pitchFamily="34" charset="-120"/>
              </a:rPr>
              <a:t>예측: 내일 (가격+배당) = a × 오늘 (가격+배당) + b</a:t>
            </a:r>
            <a:endParaRPr lang="en-US" sz="1200" dirty="0"/>
          </a:p>
        </p:txBody>
      </p:sp>
      <p:sp>
        <p:nvSpPr>
          <p:cNvPr id="33" name="Text 31"/>
          <p:cNvSpPr txBox="1"/>
          <p:nvPr/>
        </p:nvSpPr>
        <p:spPr>
          <a:xfrm>
            <a:off x="457200" y="3383280"/>
            <a:ext cx="8229600" cy="118872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latin typeface="Malgun Gothic" pitchFamily="34" charset="0"/>
                <a:ea typeface="Malgun Gothic" pitchFamily="34" charset="-122"/>
                <a:cs typeface="Malgun Gothic" pitchFamily="34" charset="-120"/>
              </a:rPr>
              <a:t># 는 "그 조건은 신경 안 쓴다"</a:t>
            </a:r>
            <a:endParaRPr lang="en-US" sz="1400" dirty="0"/>
          </a:p>
          <a:p>
            <a:pPr indent="0" marL="0">
              <a:spcAft>
                <a:spcPts val="600"/>
              </a:spcAft>
              <a:buNone/>
            </a:pPr>
            <a:r>
              <a:rPr lang="en-US" sz="1400" dirty="0">
                <a:solidFill>
                  <a:schemeClr val="tx1"/>
                </a:solidFill>
                <a:latin typeface="Malgun Gothic" pitchFamily="34" charset="0"/>
                <a:ea typeface="Malgun Gothic" pitchFamily="34" charset="-122"/>
                <a:cs typeface="Malgun Gothic" pitchFamily="34" charset="-120"/>
              </a:rPr>
              <a:t>어떤 정보가 쓸모 있는지 스스로 골라내는 장치</a:t>
            </a:r>
            <a:endParaRPr lang="en-US" sz="1400" dirty="0"/>
          </a:p>
          <a:p>
            <a:pPr indent="0" marL="0">
              <a:spcAft>
                <a:spcPts val="600"/>
              </a:spcAft>
              <a:buNone/>
            </a:pPr>
            <a:r>
              <a:rPr lang="en-US" sz="1400" dirty="0">
                <a:solidFill>
                  <a:schemeClr val="tx1"/>
                </a:solidFill>
                <a:latin typeface="Malgun Gothic" pitchFamily="34" charset="0"/>
                <a:ea typeface="Malgun Gothic" pitchFamily="34" charset="-122"/>
                <a:cs typeface="Malgun Gothic" pitchFamily="34" charset="-120"/>
              </a:rPr>
              <a:t>투자자마다 메모 100장, 서로 베끼지 않는다</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1"/>
                </a:solidFill>
              </a:rPr>
              <a:t>하루의 흐름</a:t>
            </a:r>
            <a:endParaRPr lang="en-US" sz="2800" dirty="0"/>
          </a:p>
        </p:txBody>
      </p:sp>
      <p:sp>
        <p:nvSpPr>
          <p:cNvPr id="3" name="Text 1"/>
          <p:cNvSpPr txBox="1"/>
          <p:nvPr/>
        </p:nvSpPr>
        <p:spPr>
          <a:xfrm>
            <a:off x="457200" y="896112"/>
            <a:ext cx="8229600" cy="411480"/>
          </a:xfrm>
          <a:prstGeom prst="rect">
            <a:avLst/>
          </a:prstGeom>
          <a:noFill/>
          <a:ln/>
        </p:spPr>
        <p:txBody>
          <a:bodyPr wrap="square" lIns="0" tIns="0" rIns="0" bIns="0" rtlCol="0" anchor="ctr"/>
          <a:lstStyle/>
          <a:p>
            <a:pPr indent="0" marL="0">
              <a:buNone/>
            </a:pPr>
            <a:r>
              <a:rPr lang="en-US" sz="1600" b="1" dirty="0">
                <a:solidFill>
                  <a:schemeClr val="accent1"/>
                </a:solidFill>
                <a:latin typeface="Malgun Gothic" pitchFamily="34" charset="0"/>
                <a:ea typeface="Malgun Gothic" pitchFamily="34" charset="-122"/>
                <a:cs typeface="Malgun Gothic" pitchFamily="34" charset="-120"/>
              </a:rPr>
              <a:t>배당 발표에서 채점까지 여섯 단계</a:t>
            </a:r>
            <a:endParaRPr lang="en-US" sz="1600" dirty="0"/>
          </a:p>
        </p:txBody>
      </p:sp>
      <p:sp>
        <p:nvSpPr>
          <p:cNvPr id="4" name="step0"/>
          <p:cNvSpPr/>
          <p:nvPr/>
        </p:nvSpPr>
        <p:spPr>
          <a:xfrm>
            <a:off x="457200" y="1508760"/>
            <a:ext cx="2606040" cy="1371600"/>
          </a:xfrm>
          <a:prstGeom prst="roundRect">
            <a:avLst>
              <a:gd name="adj" fmla="val 5333"/>
            </a:avLst>
          </a:prstGeom>
          <a:solidFill>
            <a:srgbClr val="EEF3F5"/>
          </a:solidFill>
          <a:ln w="12700">
            <a:solidFill>
              <a:srgbClr val="EEF3F5"/>
            </a:solidFill>
            <a:prstDash val="solid"/>
          </a:ln>
        </p:spPr>
      </p:sp>
      <p:sp>
        <p:nvSpPr>
          <p:cNvPr id="5" name="num0"/>
          <p:cNvSpPr/>
          <p:nvPr/>
        </p:nvSpPr>
        <p:spPr>
          <a:xfrm>
            <a:off x="640080" y="1691640"/>
            <a:ext cx="457200" cy="457200"/>
          </a:xfrm>
          <a:prstGeom prst="ellipse">
            <a:avLst/>
          </a:prstGeom>
          <a:solidFill>
            <a:srgbClr val="0E7C86"/>
          </a:solidFill>
          <a:ln w="12700">
            <a:solidFill>
              <a:srgbClr val="FFFFFF"/>
            </a:solidFill>
            <a:prstDash val="solid"/>
          </a:ln>
        </p:spPr>
      </p:sp>
      <p:sp>
        <p:nvSpPr>
          <p:cNvPr id="6" name="Text 4"/>
          <p:cNvSpPr txBox="1"/>
          <p:nvPr/>
        </p:nvSpPr>
        <p:spPr>
          <a:xfrm>
            <a:off x="640080" y="1691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Malgun Gothic" pitchFamily="34" charset="0"/>
                <a:ea typeface="Malgun Gothic" pitchFamily="34" charset="-122"/>
                <a:cs typeface="Malgun Gothic" pitchFamily="34" charset="-120"/>
              </a:rPr>
              <a:t>1</a:t>
            </a:r>
            <a:endParaRPr lang="en-US" sz="1600" dirty="0"/>
          </a:p>
        </p:txBody>
      </p:sp>
      <p:sp>
        <p:nvSpPr>
          <p:cNvPr id="7" name="Text 5"/>
          <p:cNvSpPr txBox="1"/>
          <p:nvPr/>
        </p:nvSpPr>
        <p:spPr>
          <a:xfrm>
            <a:off x="1234440" y="1691640"/>
            <a:ext cx="1737360" cy="457200"/>
          </a:xfrm>
          <a:prstGeom prst="rect">
            <a:avLst/>
          </a:prstGeom>
          <a:noFill/>
          <a:ln/>
        </p:spPr>
        <p:txBody>
          <a:bodyPr wrap="square" lIns="0" tIns="0" rIns="0" bIns="0" rtlCol="0" anchor="ctr"/>
          <a:lstStyle/>
          <a:p>
            <a:pPr indent="0" marL="0">
              <a:buNone/>
            </a:pPr>
            <a:r>
              <a:rPr lang="en-US" sz="1600" b="1" dirty="0">
                <a:solidFill>
                  <a:schemeClr val="tx1"/>
                </a:solidFill>
                <a:latin typeface="Malgun Gothic" pitchFamily="34" charset="0"/>
                <a:ea typeface="Malgun Gothic" pitchFamily="34" charset="-122"/>
                <a:cs typeface="Malgun Gothic" pitchFamily="34" charset="-120"/>
              </a:rPr>
              <a:t>배당 발표</a:t>
            </a:r>
            <a:endParaRPr lang="en-US" sz="1600" dirty="0"/>
          </a:p>
        </p:txBody>
      </p:sp>
      <p:sp>
        <p:nvSpPr>
          <p:cNvPr id="8" name="Text 6"/>
          <p:cNvSpPr txBox="1"/>
          <p:nvPr/>
        </p:nvSpPr>
        <p:spPr>
          <a:xfrm>
            <a:off x="640080" y="2258568"/>
            <a:ext cx="2240280" cy="548640"/>
          </a:xfrm>
          <a:prstGeom prst="rect">
            <a:avLst/>
          </a:prstGeom>
          <a:noFill/>
          <a:ln/>
        </p:spPr>
        <p:txBody>
          <a:bodyPr wrap="square" lIns="0" tIns="0" rIns="0" bIns="0" rtlCol="0" anchor="t"/>
          <a:lstStyle/>
          <a:p>
            <a:pPr indent="0" marL="0">
              <a:buNone/>
            </a:pPr>
            <a:r>
              <a:rPr lang="en-US" sz="1400" dirty="0">
                <a:solidFill>
                  <a:schemeClr val="tx1"/>
                </a:solidFill>
                <a:latin typeface="Malgun Gothic" pitchFamily="34" charset="0"/>
                <a:ea typeface="Malgun Gothic" pitchFamily="34" charset="-122"/>
                <a:cs typeface="Malgun Gothic" pitchFamily="34" charset="-120"/>
              </a:rPr>
              <a:t>충격이 한 번 뽑힌다</a:t>
            </a:r>
            <a:endParaRPr lang="en-US" sz="1400" dirty="0"/>
          </a:p>
        </p:txBody>
      </p:sp>
      <p:sp>
        <p:nvSpPr>
          <p:cNvPr id="9" name="step1"/>
          <p:cNvSpPr/>
          <p:nvPr/>
        </p:nvSpPr>
        <p:spPr>
          <a:xfrm>
            <a:off x="3246120" y="1508760"/>
            <a:ext cx="2606040" cy="1371600"/>
          </a:xfrm>
          <a:prstGeom prst="roundRect">
            <a:avLst>
              <a:gd name="adj" fmla="val 5333"/>
            </a:avLst>
          </a:prstGeom>
          <a:solidFill>
            <a:srgbClr val="EEF3F5"/>
          </a:solidFill>
          <a:ln w="12700">
            <a:solidFill>
              <a:srgbClr val="EEF3F5"/>
            </a:solidFill>
            <a:prstDash val="solid"/>
          </a:ln>
        </p:spPr>
      </p:sp>
      <p:sp>
        <p:nvSpPr>
          <p:cNvPr id="10" name="num1"/>
          <p:cNvSpPr/>
          <p:nvPr/>
        </p:nvSpPr>
        <p:spPr>
          <a:xfrm>
            <a:off x="3429000" y="1691640"/>
            <a:ext cx="457200" cy="457200"/>
          </a:xfrm>
          <a:prstGeom prst="ellipse">
            <a:avLst/>
          </a:prstGeom>
          <a:solidFill>
            <a:srgbClr val="0E7C86"/>
          </a:solidFill>
          <a:ln w="12700">
            <a:solidFill>
              <a:srgbClr val="FFFFFF"/>
            </a:solidFill>
            <a:prstDash val="solid"/>
          </a:ln>
        </p:spPr>
      </p:sp>
      <p:sp>
        <p:nvSpPr>
          <p:cNvPr id="11" name="Text 9"/>
          <p:cNvSpPr txBox="1"/>
          <p:nvPr/>
        </p:nvSpPr>
        <p:spPr>
          <a:xfrm>
            <a:off x="3429000" y="1691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Malgun Gothic" pitchFamily="34" charset="0"/>
                <a:ea typeface="Malgun Gothic" pitchFamily="34" charset="-122"/>
                <a:cs typeface="Malgun Gothic" pitchFamily="34" charset="-120"/>
              </a:rPr>
              <a:t>2</a:t>
            </a:r>
            <a:endParaRPr lang="en-US" sz="1600" dirty="0"/>
          </a:p>
        </p:txBody>
      </p:sp>
      <p:sp>
        <p:nvSpPr>
          <p:cNvPr id="12" name="Text 10"/>
          <p:cNvSpPr txBox="1"/>
          <p:nvPr/>
        </p:nvSpPr>
        <p:spPr>
          <a:xfrm>
            <a:off x="4023360" y="1691640"/>
            <a:ext cx="1737360" cy="457200"/>
          </a:xfrm>
          <a:prstGeom prst="rect">
            <a:avLst/>
          </a:prstGeom>
          <a:noFill/>
          <a:ln/>
        </p:spPr>
        <p:txBody>
          <a:bodyPr wrap="square" lIns="0" tIns="0" rIns="0" bIns="0" rtlCol="0" anchor="ctr"/>
          <a:lstStyle/>
          <a:p>
            <a:pPr indent="0" marL="0">
              <a:buNone/>
            </a:pPr>
            <a:r>
              <a:rPr lang="en-US" sz="1600" b="1" dirty="0">
                <a:solidFill>
                  <a:schemeClr val="tx1"/>
                </a:solidFill>
                <a:latin typeface="Malgun Gothic" pitchFamily="34" charset="0"/>
                <a:ea typeface="Malgun Gothic" pitchFamily="34" charset="-122"/>
                <a:cs typeface="Malgun Gothic" pitchFamily="34" charset="-120"/>
              </a:rPr>
              <a:t>대시보드 확인</a:t>
            </a:r>
            <a:endParaRPr lang="en-US" sz="1600" dirty="0"/>
          </a:p>
        </p:txBody>
      </p:sp>
      <p:sp>
        <p:nvSpPr>
          <p:cNvPr id="13" name="Text 11"/>
          <p:cNvSpPr txBox="1"/>
          <p:nvPr/>
        </p:nvSpPr>
        <p:spPr>
          <a:xfrm>
            <a:off x="3429000" y="2258568"/>
            <a:ext cx="2240280" cy="548640"/>
          </a:xfrm>
          <a:prstGeom prst="rect">
            <a:avLst/>
          </a:prstGeom>
          <a:noFill/>
          <a:ln/>
        </p:spPr>
        <p:txBody>
          <a:bodyPr wrap="square" lIns="0" tIns="0" rIns="0" bIns="0" rtlCol="0" anchor="t"/>
          <a:lstStyle/>
          <a:p>
            <a:pPr indent="0" marL="0">
              <a:buNone/>
            </a:pPr>
            <a:r>
              <a:rPr lang="en-US" sz="1400" dirty="0">
                <a:solidFill>
                  <a:schemeClr val="tx1"/>
                </a:solidFill>
                <a:latin typeface="Malgun Gothic" pitchFamily="34" charset="0"/>
                <a:ea typeface="Malgun Gothic" pitchFamily="34" charset="-122"/>
                <a:cs typeface="Malgun Gothic" pitchFamily="34" charset="-120"/>
              </a:rPr>
              <a:t>12개 불을 켜고 끈다</a:t>
            </a:r>
            <a:endParaRPr lang="en-US" sz="1400" dirty="0"/>
          </a:p>
        </p:txBody>
      </p:sp>
      <p:sp>
        <p:nvSpPr>
          <p:cNvPr id="14" name="step2"/>
          <p:cNvSpPr/>
          <p:nvPr/>
        </p:nvSpPr>
        <p:spPr>
          <a:xfrm>
            <a:off x="6035040" y="1508760"/>
            <a:ext cx="2606040" cy="1371600"/>
          </a:xfrm>
          <a:prstGeom prst="roundRect">
            <a:avLst>
              <a:gd name="adj" fmla="val 5333"/>
            </a:avLst>
          </a:prstGeom>
          <a:solidFill>
            <a:srgbClr val="EEF3F5"/>
          </a:solidFill>
          <a:ln w="12700">
            <a:solidFill>
              <a:srgbClr val="EEF3F5"/>
            </a:solidFill>
            <a:prstDash val="solid"/>
          </a:ln>
        </p:spPr>
      </p:sp>
      <p:sp>
        <p:nvSpPr>
          <p:cNvPr id="15" name="num2"/>
          <p:cNvSpPr/>
          <p:nvPr/>
        </p:nvSpPr>
        <p:spPr>
          <a:xfrm>
            <a:off x="6217920" y="1691640"/>
            <a:ext cx="457200" cy="457200"/>
          </a:xfrm>
          <a:prstGeom prst="ellipse">
            <a:avLst/>
          </a:prstGeom>
          <a:solidFill>
            <a:srgbClr val="0E7C86"/>
          </a:solidFill>
          <a:ln w="12700">
            <a:solidFill>
              <a:srgbClr val="FFFFFF"/>
            </a:solidFill>
            <a:prstDash val="solid"/>
          </a:ln>
        </p:spPr>
      </p:sp>
      <p:sp>
        <p:nvSpPr>
          <p:cNvPr id="16" name="Text 14"/>
          <p:cNvSpPr txBox="1"/>
          <p:nvPr/>
        </p:nvSpPr>
        <p:spPr>
          <a:xfrm>
            <a:off x="6217920" y="1691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Malgun Gothic" pitchFamily="34" charset="0"/>
                <a:ea typeface="Malgun Gothic" pitchFamily="34" charset="-122"/>
                <a:cs typeface="Malgun Gothic" pitchFamily="34" charset="-120"/>
              </a:rPr>
              <a:t>3</a:t>
            </a:r>
            <a:endParaRPr lang="en-US" sz="1600" dirty="0"/>
          </a:p>
        </p:txBody>
      </p:sp>
      <p:sp>
        <p:nvSpPr>
          <p:cNvPr id="17" name="Text 15"/>
          <p:cNvSpPr txBox="1"/>
          <p:nvPr/>
        </p:nvSpPr>
        <p:spPr>
          <a:xfrm>
            <a:off x="6812280" y="1691640"/>
            <a:ext cx="1737360" cy="457200"/>
          </a:xfrm>
          <a:prstGeom prst="rect">
            <a:avLst/>
          </a:prstGeom>
          <a:noFill/>
          <a:ln/>
        </p:spPr>
        <p:txBody>
          <a:bodyPr wrap="square" lIns="0" tIns="0" rIns="0" bIns="0" rtlCol="0" anchor="ctr"/>
          <a:lstStyle/>
          <a:p>
            <a:pPr indent="0" marL="0">
              <a:buNone/>
            </a:pPr>
            <a:r>
              <a:rPr lang="en-US" sz="1600" b="1" dirty="0">
                <a:solidFill>
                  <a:schemeClr val="tx1"/>
                </a:solidFill>
                <a:latin typeface="Malgun Gothic" pitchFamily="34" charset="0"/>
                <a:ea typeface="Malgun Gothic" pitchFamily="34" charset="-122"/>
                <a:cs typeface="Malgun Gothic" pitchFamily="34" charset="-120"/>
              </a:rPr>
              <a:t>메모 선택</a:t>
            </a:r>
            <a:endParaRPr lang="en-US" sz="1600" dirty="0"/>
          </a:p>
        </p:txBody>
      </p:sp>
      <p:sp>
        <p:nvSpPr>
          <p:cNvPr id="18" name="Text 16"/>
          <p:cNvSpPr txBox="1"/>
          <p:nvPr/>
        </p:nvSpPr>
        <p:spPr>
          <a:xfrm>
            <a:off x="6217920" y="2258568"/>
            <a:ext cx="2240280" cy="548640"/>
          </a:xfrm>
          <a:prstGeom prst="rect">
            <a:avLst/>
          </a:prstGeom>
          <a:noFill/>
          <a:ln/>
        </p:spPr>
        <p:txBody>
          <a:bodyPr wrap="square" lIns="0" tIns="0" rIns="0" bIns="0" rtlCol="0" anchor="t"/>
          <a:lstStyle/>
          <a:p>
            <a:pPr indent="0" marL="0">
              <a:buNone/>
            </a:pPr>
            <a:r>
              <a:rPr lang="en-US" sz="1400" dirty="0">
                <a:solidFill>
                  <a:schemeClr val="tx1"/>
                </a:solidFill>
                <a:latin typeface="Malgun Gothic" pitchFamily="34" charset="0"/>
                <a:ea typeface="Malgun Gothic" pitchFamily="34" charset="-122"/>
                <a:cs typeface="Malgun Gothic" pitchFamily="34" charset="-120"/>
              </a:rPr>
              <a:t>맞는 메모 중 최근 가장 정확한 것</a:t>
            </a:r>
            <a:endParaRPr lang="en-US" sz="1400" dirty="0"/>
          </a:p>
        </p:txBody>
      </p:sp>
      <p:sp>
        <p:nvSpPr>
          <p:cNvPr id="19" name="step3"/>
          <p:cNvSpPr/>
          <p:nvPr/>
        </p:nvSpPr>
        <p:spPr>
          <a:xfrm>
            <a:off x="457200" y="3063240"/>
            <a:ext cx="2606040" cy="1371600"/>
          </a:xfrm>
          <a:prstGeom prst="roundRect">
            <a:avLst>
              <a:gd name="adj" fmla="val 5333"/>
            </a:avLst>
          </a:prstGeom>
          <a:solidFill>
            <a:srgbClr val="EEF3F5"/>
          </a:solidFill>
          <a:ln w="12700">
            <a:solidFill>
              <a:srgbClr val="EEF3F5"/>
            </a:solidFill>
            <a:prstDash val="solid"/>
          </a:ln>
        </p:spPr>
      </p:sp>
      <p:sp>
        <p:nvSpPr>
          <p:cNvPr id="20" name="num3"/>
          <p:cNvSpPr/>
          <p:nvPr/>
        </p:nvSpPr>
        <p:spPr>
          <a:xfrm>
            <a:off x="640080" y="3246120"/>
            <a:ext cx="457200" cy="457200"/>
          </a:xfrm>
          <a:prstGeom prst="ellipse">
            <a:avLst/>
          </a:prstGeom>
          <a:solidFill>
            <a:srgbClr val="0E7C86"/>
          </a:solidFill>
          <a:ln w="12700">
            <a:solidFill>
              <a:srgbClr val="FFFFFF"/>
            </a:solidFill>
            <a:prstDash val="solid"/>
          </a:ln>
        </p:spPr>
      </p:sp>
      <p:sp>
        <p:nvSpPr>
          <p:cNvPr id="21" name="Text 19"/>
          <p:cNvSpPr txBox="1"/>
          <p:nvPr/>
        </p:nvSpPr>
        <p:spPr>
          <a:xfrm>
            <a:off x="640080" y="3246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Malgun Gothic" pitchFamily="34" charset="0"/>
                <a:ea typeface="Malgun Gothic" pitchFamily="34" charset="-122"/>
                <a:cs typeface="Malgun Gothic" pitchFamily="34" charset="-120"/>
              </a:rPr>
              <a:t>4</a:t>
            </a:r>
            <a:endParaRPr lang="en-US" sz="1600" dirty="0"/>
          </a:p>
        </p:txBody>
      </p:sp>
      <p:sp>
        <p:nvSpPr>
          <p:cNvPr id="22" name="Text 20"/>
          <p:cNvSpPr txBox="1"/>
          <p:nvPr/>
        </p:nvSpPr>
        <p:spPr>
          <a:xfrm>
            <a:off x="1234440" y="3246120"/>
            <a:ext cx="1737360" cy="457200"/>
          </a:xfrm>
          <a:prstGeom prst="rect">
            <a:avLst/>
          </a:prstGeom>
          <a:noFill/>
          <a:ln/>
        </p:spPr>
        <p:txBody>
          <a:bodyPr wrap="square" lIns="0" tIns="0" rIns="0" bIns="0" rtlCol="0" anchor="ctr"/>
          <a:lstStyle/>
          <a:p>
            <a:pPr indent="0" marL="0">
              <a:buNone/>
            </a:pPr>
            <a:r>
              <a:rPr lang="en-US" sz="1600" b="1" dirty="0">
                <a:solidFill>
                  <a:schemeClr val="tx1"/>
                </a:solidFill>
                <a:latin typeface="Malgun Gothic" pitchFamily="34" charset="0"/>
                <a:ea typeface="Malgun Gothic" pitchFamily="34" charset="-122"/>
                <a:cs typeface="Malgun Gothic" pitchFamily="34" charset="-120"/>
              </a:rPr>
              <a:t>주문</a:t>
            </a:r>
            <a:endParaRPr lang="en-US" sz="1600" dirty="0"/>
          </a:p>
        </p:txBody>
      </p:sp>
      <p:sp>
        <p:nvSpPr>
          <p:cNvPr id="23" name="Text 21"/>
          <p:cNvSpPr txBox="1"/>
          <p:nvPr/>
        </p:nvSpPr>
        <p:spPr>
          <a:xfrm>
            <a:off x="640080" y="3813048"/>
            <a:ext cx="2240280" cy="548640"/>
          </a:xfrm>
          <a:prstGeom prst="rect">
            <a:avLst/>
          </a:prstGeom>
          <a:noFill/>
          <a:ln/>
        </p:spPr>
        <p:txBody>
          <a:bodyPr wrap="square" lIns="0" tIns="0" rIns="0" bIns="0" rtlCol="0" anchor="t"/>
          <a:lstStyle/>
          <a:p>
            <a:pPr indent="0" marL="0">
              <a:buNone/>
            </a:pPr>
            <a:r>
              <a:rPr lang="en-US" sz="1400" dirty="0">
                <a:solidFill>
                  <a:schemeClr val="tx1"/>
                </a:solidFill>
                <a:latin typeface="Malgun Gothic" pitchFamily="34" charset="0"/>
                <a:ea typeface="Malgun Gothic" pitchFamily="34" charset="-122"/>
                <a:cs typeface="Malgun Gothic" pitchFamily="34" charset="-120"/>
              </a:rPr>
              <a:t>예상 이익 ÷ 불확실성</a:t>
            </a:r>
            <a:endParaRPr lang="en-US" sz="1400" dirty="0"/>
          </a:p>
        </p:txBody>
      </p:sp>
      <p:sp>
        <p:nvSpPr>
          <p:cNvPr id="24" name="step4"/>
          <p:cNvSpPr/>
          <p:nvPr/>
        </p:nvSpPr>
        <p:spPr>
          <a:xfrm>
            <a:off x="3246120" y="3063240"/>
            <a:ext cx="2606040" cy="1371600"/>
          </a:xfrm>
          <a:prstGeom prst="roundRect">
            <a:avLst>
              <a:gd name="adj" fmla="val 5333"/>
            </a:avLst>
          </a:prstGeom>
          <a:solidFill>
            <a:srgbClr val="EEF3F5"/>
          </a:solidFill>
          <a:ln w="12700">
            <a:solidFill>
              <a:srgbClr val="EEF3F5"/>
            </a:solidFill>
            <a:prstDash val="solid"/>
          </a:ln>
        </p:spPr>
      </p:sp>
      <p:sp>
        <p:nvSpPr>
          <p:cNvPr id="25" name="num4"/>
          <p:cNvSpPr/>
          <p:nvPr/>
        </p:nvSpPr>
        <p:spPr>
          <a:xfrm>
            <a:off x="3429000" y="3246120"/>
            <a:ext cx="457200" cy="457200"/>
          </a:xfrm>
          <a:prstGeom prst="ellipse">
            <a:avLst/>
          </a:prstGeom>
          <a:solidFill>
            <a:srgbClr val="E8743B"/>
          </a:solidFill>
          <a:ln w="12700">
            <a:solidFill>
              <a:srgbClr val="FFFFFF"/>
            </a:solidFill>
            <a:prstDash val="solid"/>
          </a:ln>
        </p:spPr>
      </p:sp>
      <p:sp>
        <p:nvSpPr>
          <p:cNvPr id="26" name="Text 24"/>
          <p:cNvSpPr txBox="1"/>
          <p:nvPr/>
        </p:nvSpPr>
        <p:spPr>
          <a:xfrm>
            <a:off x="3429000" y="3246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Malgun Gothic" pitchFamily="34" charset="0"/>
                <a:ea typeface="Malgun Gothic" pitchFamily="34" charset="-122"/>
                <a:cs typeface="Malgun Gothic" pitchFamily="34" charset="-120"/>
              </a:rPr>
              <a:t>5</a:t>
            </a:r>
            <a:endParaRPr lang="en-US" sz="1600" dirty="0"/>
          </a:p>
        </p:txBody>
      </p:sp>
      <p:sp>
        <p:nvSpPr>
          <p:cNvPr id="27" name="Text 25"/>
          <p:cNvSpPr txBox="1"/>
          <p:nvPr/>
        </p:nvSpPr>
        <p:spPr>
          <a:xfrm>
            <a:off x="4023360" y="3246120"/>
            <a:ext cx="1737360" cy="457200"/>
          </a:xfrm>
          <a:prstGeom prst="rect">
            <a:avLst/>
          </a:prstGeom>
          <a:noFill/>
          <a:ln/>
        </p:spPr>
        <p:txBody>
          <a:bodyPr wrap="square" lIns="0" tIns="0" rIns="0" bIns="0" rtlCol="0" anchor="ctr"/>
          <a:lstStyle/>
          <a:p>
            <a:pPr indent="0" marL="0">
              <a:buNone/>
            </a:pPr>
            <a:r>
              <a:rPr lang="en-US" sz="1600" b="1" dirty="0">
                <a:solidFill>
                  <a:schemeClr val="tx1"/>
                </a:solidFill>
                <a:latin typeface="Malgun Gothic" pitchFamily="34" charset="0"/>
                <a:ea typeface="Malgun Gothic" pitchFamily="34" charset="-122"/>
                <a:cs typeface="Malgun Gothic" pitchFamily="34" charset="-120"/>
              </a:rPr>
              <a:t>가격 결정</a:t>
            </a:r>
            <a:endParaRPr lang="en-US" sz="1600" dirty="0"/>
          </a:p>
        </p:txBody>
      </p:sp>
      <p:sp>
        <p:nvSpPr>
          <p:cNvPr id="28" name="Text 26"/>
          <p:cNvSpPr txBox="1"/>
          <p:nvPr/>
        </p:nvSpPr>
        <p:spPr>
          <a:xfrm>
            <a:off x="3429000" y="3813048"/>
            <a:ext cx="2240280" cy="548640"/>
          </a:xfrm>
          <a:prstGeom prst="rect">
            <a:avLst/>
          </a:prstGeom>
          <a:noFill/>
          <a:ln/>
        </p:spPr>
        <p:txBody>
          <a:bodyPr wrap="square" lIns="0" tIns="0" rIns="0" bIns="0" rtlCol="0" anchor="t"/>
          <a:lstStyle/>
          <a:p>
            <a:pPr indent="0" marL="0">
              <a:buNone/>
            </a:pPr>
            <a:r>
              <a:rPr lang="en-US" sz="1400" dirty="0">
                <a:solidFill>
                  <a:schemeClr val="tx1"/>
                </a:solidFill>
                <a:latin typeface="Malgun Gothic" pitchFamily="34" charset="0"/>
                <a:ea typeface="Malgun Gothic" pitchFamily="34" charset="-122"/>
                <a:cs typeface="Malgun Gothic" pitchFamily="34" charset="-120"/>
              </a:rPr>
              <a:t>사려는 양 = 25주가 되는 가격</a:t>
            </a:r>
            <a:endParaRPr lang="en-US" sz="1400" dirty="0"/>
          </a:p>
        </p:txBody>
      </p:sp>
      <p:sp>
        <p:nvSpPr>
          <p:cNvPr id="29" name="step5"/>
          <p:cNvSpPr/>
          <p:nvPr/>
        </p:nvSpPr>
        <p:spPr>
          <a:xfrm>
            <a:off x="6035040" y="3063240"/>
            <a:ext cx="2606040" cy="1371600"/>
          </a:xfrm>
          <a:prstGeom prst="roundRect">
            <a:avLst>
              <a:gd name="adj" fmla="val 5333"/>
            </a:avLst>
          </a:prstGeom>
          <a:solidFill>
            <a:srgbClr val="EEF3F5"/>
          </a:solidFill>
          <a:ln w="12700">
            <a:solidFill>
              <a:srgbClr val="EEF3F5"/>
            </a:solidFill>
            <a:prstDash val="solid"/>
          </a:ln>
        </p:spPr>
      </p:sp>
      <p:sp>
        <p:nvSpPr>
          <p:cNvPr id="30" name="num5"/>
          <p:cNvSpPr/>
          <p:nvPr/>
        </p:nvSpPr>
        <p:spPr>
          <a:xfrm>
            <a:off x="6217920" y="3246120"/>
            <a:ext cx="457200" cy="457200"/>
          </a:xfrm>
          <a:prstGeom prst="ellipse">
            <a:avLst/>
          </a:prstGeom>
          <a:solidFill>
            <a:srgbClr val="0E7C86"/>
          </a:solidFill>
          <a:ln w="12700">
            <a:solidFill>
              <a:srgbClr val="FFFFFF"/>
            </a:solidFill>
            <a:prstDash val="solid"/>
          </a:ln>
        </p:spPr>
      </p:sp>
      <p:sp>
        <p:nvSpPr>
          <p:cNvPr id="31" name="Text 29"/>
          <p:cNvSpPr txBox="1"/>
          <p:nvPr/>
        </p:nvSpPr>
        <p:spPr>
          <a:xfrm>
            <a:off x="6217920" y="3246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Malgun Gothic" pitchFamily="34" charset="0"/>
                <a:ea typeface="Malgun Gothic" pitchFamily="34" charset="-122"/>
                <a:cs typeface="Malgun Gothic" pitchFamily="34" charset="-120"/>
              </a:rPr>
              <a:t>6</a:t>
            </a:r>
            <a:endParaRPr lang="en-US" sz="1600" dirty="0"/>
          </a:p>
        </p:txBody>
      </p:sp>
      <p:sp>
        <p:nvSpPr>
          <p:cNvPr id="32" name="Text 30"/>
          <p:cNvSpPr txBox="1"/>
          <p:nvPr/>
        </p:nvSpPr>
        <p:spPr>
          <a:xfrm>
            <a:off x="6812280" y="3246120"/>
            <a:ext cx="1737360" cy="457200"/>
          </a:xfrm>
          <a:prstGeom prst="rect">
            <a:avLst/>
          </a:prstGeom>
          <a:noFill/>
          <a:ln/>
        </p:spPr>
        <p:txBody>
          <a:bodyPr wrap="square" lIns="0" tIns="0" rIns="0" bIns="0" rtlCol="0" anchor="ctr"/>
          <a:lstStyle/>
          <a:p>
            <a:pPr indent="0" marL="0">
              <a:buNone/>
            </a:pPr>
            <a:r>
              <a:rPr lang="en-US" sz="1600" b="1" dirty="0">
                <a:solidFill>
                  <a:schemeClr val="tx1"/>
                </a:solidFill>
                <a:latin typeface="Malgun Gothic" pitchFamily="34" charset="0"/>
                <a:ea typeface="Malgun Gothic" pitchFamily="34" charset="-122"/>
                <a:cs typeface="Malgun Gothic" pitchFamily="34" charset="-120"/>
              </a:rPr>
              <a:t>채점</a:t>
            </a:r>
            <a:endParaRPr lang="en-US" sz="1600" dirty="0"/>
          </a:p>
        </p:txBody>
      </p:sp>
      <p:sp>
        <p:nvSpPr>
          <p:cNvPr id="33" name="Text 31"/>
          <p:cNvSpPr txBox="1"/>
          <p:nvPr/>
        </p:nvSpPr>
        <p:spPr>
          <a:xfrm>
            <a:off x="6217920" y="3813048"/>
            <a:ext cx="2240280" cy="548640"/>
          </a:xfrm>
          <a:prstGeom prst="rect">
            <a:avLst/>
          </a:prstGeom>
          <a:noFill/>
          <a:ln/>
        </p:spPr>
        <p:txBody>
          <a:bodyPr wrap="square" lIns="0" tIns="0" rIns="0" bIns="0" rtlCol="0" anchor="t"/>
          <a:lstStyle/>
          <a:p>
            <a:pPr indent="0" marL="0">
              <a:buNone/>
            </a:pPr>
            <a:r>
              <a:rPr lang="en-US" sz="1400" dirty="0">
                <a:solidFill>
                  <a:schemeClr val="tx1"/>
                </a:solidFill>
                <a:latin typeface="Malgun Gothic" pitchFamily="34" charset="0"/>
                <a:ea typeface="Malgun Gothic" pitchFamily="34" charset="-122"/>
                <a:cs typeface="Malgun Gothic" pitchFamily="34" charset="-120"/>
              </a:rPr>
              <a:t>맞았던 메모 전부의 오차 갱신</a:t>
            </a:r>
            <a:endParaRPr lang="en-US" sz="1400" dirty="0"/>
          </a:p>
        </p:txBody>
      </p:sp>
      <p:sp>
        <p:nvSpPr>
          <p:cNvPr id="34" name="Text 32"/>
          <p:cNvSpPr txBox="1"/>
          <p:nvPr/>
        </p:nvSpPr>
        <p:spPr>
          <a:xfrm>
            <a:off x="457200" y="4572000"/>
            <a:ext cx="7863840" cy="274320"/>
          </a:xfrm>
          <a:prstGeom prst="rect">
            <a:avLst/>
          </a:prstGeom>
          <a:noFill/>
          <a:ln/>
        </p:spPr>
        <p:txBody>
          <a:bodyPr wrap="square" lIns="0" tIns="0" rIns="0" bIns="0" rtlCol="0" anchor="ctr"/>
          <a:lstStyle/>
          <a:p>
            <a:pPr indent="0" marL="0">
              <a:buNone/>
            </a:pPr>
            <a:r>
              <a:rPr lang="en-US" sz="1200" dirty="0">
                <a:solidFill>
                  <a:schemeClr val="accent3"/>
                </a:solidFill>
                <a:latin typeface="Malgun Gothic" pitchFamily="34" charset="0"/>
                <a:ea typeface="Malgun Gothic" pitchFamily="34" charset="-122"/>
                <a:cs typeface="Malgun Gothic" pitchFamily="34" charset="-120"/>
              </a:rPr>
              <a:t>메모 정리(학습)는 매일이 아니라 평균 k일에 한 번, 투자자마다 따로 일어난다</a:t>
            </a:r>
            <a:endParaRPr lang="en-US" sz="12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1"/>
                </a:solidFill>
              </a:rPr>
              <a:t>학습: 메모를 정리하는 방법</a:t>
            </a:r>
            <a:endParaRPr lang="en-US" sz="2800" dirty="0"/>
          </a:p>
        </p:txBody>
      </p:sp>
      <p:sp>
        <p:nvSpPr>
          <p:cNvPr id="3" name="Text 1"/>
          <p:cNvSpPr txBox="1"/>
          <p:nvPr/>
        </p:nvSpPr>
        <p:spPr>
          <a:xfrm>
            <a:off x="457200" y="896112"/>
            <a:ext cx="8229600" cy="411480"/>
          </a:xfrm>
          <a:prstGeom prst="rect">
            <a:avLst/>
          </a:prstGeom>
          <a:noFill/>
          <a:ln/>
        </p:spPr>
        <p:txBody>
          <a:bodyPr wrap="square" lIns="0" tIns="0" rIns="0" bIns="0" rtlCol="0" anchor="ctr"/>
          <a:lstStyle/>
          <a:p>
            <a:pPr indent="0" marL="0">
              <a:buNone/>
            </a:pPr>
            <a:r>
              <a:rPr lang="en-US" sz="1600" b="1" dirty="0">
                <a:solidFill>
                  <a:schemeClr val="accent1"/>
                </a:solidFill>
                <a:latin typeface="Malgun Gothic" pitchFamily="34" charset="0"/>
                <a:ea typeface="Malgun Gothic" pitchFamily="34" charset="-122"/>
                <a:cs typeface="Malgun Gothic" pitchFamily="34" charset="-120"/>
              </a:rPr>
              <a:t>생물 진화와 같은 원리 (유전알고리즘)</a:t>
            </a:r>
            <a:endParaRPr lang="en-US" sz="1600" dirty="0"/>
          </a:p>
        </p:txBody>
      </p:sp>
      <p:sp>
        <p:nvSpPr>
          <p:cNvPr id="4" name="ga0"/>
          <p:cNvSpPr/>
          <p:nvPr/>
        </p:nvSpPr>
        <p:spPr>
          <a:xfrm>
            <a:off x="457200" y="1508760"/>
            <a:ext cx="4023360" cy="1280160"/>
          </a:xfrm>
          <a:prstGeom prst="roundRect">
            <a:avLst>
              <a:gd name="adj" fmla="val 5714"/>
            </a:avLst>
          </a:prstGeom>
          <a:solidFill>
            <a:srgbClr val="EEF3F5"/>
          </a:solidFill>
          <a:ln w="12700">
            <a:solidFill>
              <a:srgbClr val="EEF3F5"/>
            </a:solidFill>
            <a:prstDash val="solid"/>
          </a:ln>
        </p:spPr>
      </p:sp>
      <p:sp>
        <p:nvSpPr>
          <p:cNvPr id="5" name="Text 3"/>
          <p:cNvSpPr txBox="1"/>
          <p:nvPr/>
        </p:nvSpPr>
        <p:spPr>
          <a:xfrm>
            <a:off x="640080" y="1645920"/>
            <a:ext cx="3657600" cy="365760"/>
          </a:xfrm>
          <a:prstGeom prst="rect">
            <a:avLst/>
          </a:prstGeom>
          <a:noFill/>
          <a:ln/>
        </p:spPr>
        <p:txBody>
          <a:bodyPr wrap="square" lIns="0" tIns="0" rIns="0" bIns="0" rtlCol="0" anchor="ctr"/>
          <a:lstStyle/>
          <a:p>
            <a:pPr indent="0" marL="0">
              <a:buNone/>
            </a:pPr>
            <a:r>
              <a:rPr lang="en-US" sz="1800" b="1" dirty="0">
                <a:solidFill>
                  <a:schemeClr val="accent1"/>
                </a:solidFill>
                <a:latin typeface="Malgun Gothic" pitchFamily="34" charset="0"/>
                <a:ea typeface="Malgun Gothic" pitchFamily="34" charset="-122"/>
                <a:cs typeface="Malgun Gothic" pitchFamily="34" charset="-120"/>
              </a:rPr>
              <a:t>버리기</a:t>
            </a:r>
            <a:endParaRPr lang="en-US" sz="1800" dirty="0"/>
          </a:p>
        </p:txBody>
      </p:sp>
      <p:sp>
        <p:nvSpPr>
          <p:cNvPr id="6" name="Text 4"/>
          <p:cNvSpPr txBox="1"/>
          <p:nvPr/>
        </p:nvSpPr>
        <p:spPr>
          <a:xfrm>
            <a:off x="640080" y="2057400"/>
            <a:ext cx="3657600" cy="640080"/>
          </a:xfrm>
          <a:prstGeom prst="rect">
            <a:avLst/>
          </a:prstGeom>
          <a:noFill/>
          <a:ln/>
        </p:spPr>
        <p:txBody>
          <a:bodyPr wrap="square" lIns="0" tIns="0" rIns="0" bIns="0" rtlCol="0" anchor="t"/>
          <a:lstStyle/>
          <a:p>
            <a:pPr indent="0" marL="0">
              <a:buNone/>
            </a:pPr>
            <a:r>
              <a:rPr lang="en-US" sz="1400" dirty="0">
                <a:solidFill>
                  <a:schemeClr val="tx1"/>
                </a:solidFill>
                <a:latin typeface="Malgun Gothic" pitchFamily="34" charset="0"/>
                <a:ea typeface="Malgun Gothic" pitchFamily="34" charset="-122"/>
                <a:cs typeface="Malgun Gothic" pitchFamily="34" charset="-120"/>
              </a:rPr>
              <a:t>100장 중 성적이 가장 나쁜 20장을 버린다</a:t>
            </a:r>
            <a:endParaRPr lang="en-US" sz="1400" dirty="0"/>
          </a:p>
        </p:txBody>
      </p:sp>
      <p:sp>
        <p:nvSpPr>
          <p:cNvPr id="7" name="ga1"/>
          <p:cNvSpPr/>
          <p:nvPr/>
        </p:nvSpPr>
        <p:spPr>
          <a:xfrm>
            <a:off x="4663440" y="1508760"/>
            <a:ext cx="4023360" cy="1280160"/>
          </a:xfrm>
          <a:prstGeom prst="roundRect">
            <a:avLst>
              <a:gd name="adj" fmla="val 5714"/>
            </a:avLst>
          </a:prstGeom>
          <a:solidFill>
            <a:srgbClr val="EEF3F5"/>
          </a:solidFill>
          <a:ln w="12700">
            <a:solidFill>
              <a:srgbClr val="EEF3F5"/>
            </a:solidFill>
            <a:prstDash val="solid"/>
          </a:ln>
        </p:spPr>
      </p:sp>
      <p:sp>
        <p:nvSpPr>
          <p:cNvPr id="8" name="Text 6"/>
          <p:cNvSpPr txBox="1"/>
          <p:nvPr/>
        </p:nvSpPr>
        <p:spPr>
          <a:xfrm>
            <a:off x="4846320" y="1645920"/>
            <a:ext cx="3657600" cy="365760"/>
          </a:xfrm>
          <a:prstGeom prst="rect">
            <a:avLst/>
          </a:prstGeom>
          <a:noFill/>
          <a:ln/>
        </p:spPr>
        <p:txBody>
          <a:bodyPr wrap="square" lIns="0" tIns="0" rIns="0" bIns="0" rtlCol="0" anchor="ctr"/>
          <a:lstStyle/>
          <a:p>
            <a:pPr indent="0" marL="0">
              <a:buNone/>
            </a:pPr>
            <a:r>
              <a:rPr lang="en-US" sz="1800" b="1" dirty="0">
                <a:solidFill>
                  <a:schemeClr val="accent1"/>
                </a:solidFill>
                <a:latin typeface="Malgun Gothic" pitchFamily="34" charset="0"/>
                <a:ea typeface="Malgun Gothic" pitchFamily="34" charset="-122"/>
                <a:cs typeface="Malgun Gothic" pitchFamily="34" charset="-120"/>
              </a:rPr>
              <a:t>섞기</a:t>
            </a:r>
            <a:endParaRPr lang="en-US" sz="1800" dirty="0"/>
          </a:p>
        </p:txBody>
      </p:sp>
      <p:sp>
        <p:nvSpPr>
          <p:cNvPr id="9" name="Text 7"/>
          <p:cNvSpPr txBox="1"/>
          <p:nvPr/>
        </p:nvSpPr>
        <p:spPr>
          <a:xfrm>
            <a:off x="4846320" y="2057400"/>
            <a:ext cx="3657600" cy="640080"/>
          </a:xfrm>
          <a:prstGeom prst="rect">
            <a:avLst/>
          </a:prstGeom>
          <a:noFill/>
          <a:ln/>
        </p:spPr>
        <p:txBody>
          <a:bodyPr wrap="square" lIns="0" tIns="0" rIns="0" bIns="0" rtlCol="0" anchor="t"/>
          <a:lstStyle/>
          <a:p>
            <a:pPr indent="0" marL="0">
              <a:buNone/>
            </a:pPr>
            <a:r>
              <a:rPr lang="en-US" sz="1400" dirty="0">
                <a:solidFill>
                  <a:schemeClr val="tx1"/>
                </a:solidFill>
                <a:latin typeface="Malgun Gothic" pitchFamily="34" charset="0"/>
                <a:ea typeface="Malgun Gothic" pitchFamily="34" charset="-122"/>
                <a:cs typeface="Malgun Gothic" pitchFamily="34" charset="-120"/>
              </a:rPr>
              <a:t>잘 맞힌 메모 두 장을 골라 조건과 예측을 섞는다</a:t>
            </a:r>
            <a:endParaRPr lang="en-US" sz="1400" dirty="0"/>
          </a:p>
        </p:txBody>
      </p:sp>
      <p:sp>
        <p:nvSpPr>
          <p:cNvPr id="10" name="ga2"/>
          <p:cNvSpPr/>
          <p:nvPr/>
        </p:nvSpPr>
        <p:spPr>
          <a:xfrm>
            <a:off x="457200" y="2926080"/>
            <a:ext cx="4023360" cy="1280160"/>
          </a:xfrm>
          <a:prstGeom prst="roundRect">
            <a:avLst>
              <a:gd name="adj" fmla="val 5714"/>
            </a:avLst>
          </a:prstGeom>
          <a:solidFill>
            <a:srgbClr val="EEF3F5"/>
          </a:solidFill>
          <a:ln w="12700">
            <a:solidFill>
              <a:srgbClr val="EEF3F5"/>
            </a:solidFill>
            <a:prstDash val="solid"/>
          </a:ln>
        </p:spPr>
      </p:sp>
      <p:sp>
        <p:nvSpPr>
          <p:cNvPr id="11" name="Text 9"/>
          <p:cNvSpPr txBox="1"/>
          <p:nvPr/>
        </p:nvSpPr>
        <p:spPr>
          <a:xfrm>
            <a:off x="640080" y="3063240"/>
            <a:ext cx="3657600" cy="365760"/>
          </a:xfrm>
          <a:prstGeom prst="rect">
            <a:avLst/>
          </a:prstGeom>
          <a:noFill/>
          <a:ln/>
        </p:spPr>
        <p:txBody>
          <a:bodyPr wrap="square" lIns="0" tIns="0" rIns="0" bIns="0" rtlCol="0" anchor="ctr"/>
          <a:lstStyle/>
          <a:p>
            <a:pPr indent="0" marL="0">
              <a:buNone/>
            </a:pPr>
            <a:r>
              <a:rPr lang="en-US" sz="1800" b="1" dirty="0">
                <a:solidFill>
                  <a:schemeClr val="accent1"/>
                </a:solidFill>
                <a:latin typeface="Malgun Gothic" pitchFamily="34" charset="0"/>
                <a:ea typeface="Malgun Gothic" pitchFamily="34" charset="-122"/>
                <a:cs typeface="Malgun Gothic" pitchFamily="34" charset="-120"/>
              </a:rPr>
              <a:t>바꾸기</a:t>
            </a:r>
            <a:endParaRPr lang="en-US" sz="1800" dirty="0"/>
          </a:p>
        </p:txBody>
      </p:sp>
      <p:sp>
        <p:nvSpPr>
          <p:cNvPr id="12" name="Text 10"/>
          <p:cNvSpPr txBox="1"/>
          <p:nvPr/>
        </p:nvSpPr>
        <p:spPr>
          <a:xfrm>
            <a:off x="640080" y="3474720"/>
            <a:ext cx="3657600" cy="640080"/>
          </a:xfrm>
          <a:prstGeom prst="rect">
            <a:avLst/>
          </a:prstGeom>
          <a:noFill/>
          <a:ln/>
        </p:spPr>
        <p:txBody>
          <a:bodyPr wrap="square" lIns="0" tIns="0" rIns="0" bIns="0" rtlCol="0" anchor="t"/>
          <a:lstStyle/>
          <a:p>
            <a:pPr indent="0" marL="0">
              <a:buNone/>
            </a:pPr>
            <a:r>
              <a:rPr lang="en-US" sz="1400" dirty="0">
                <a:solidFill>
                  <a:schemeClr val="tx1"/>
                </a:solidFill>
                <a:latin typeface="Malgun Gothic" pitchFamily="34" charset="0"/>
                <a:ea typeface="Malgun Gothic" pitchFamily="34" charset="-122"/>
                <a:cs typeface="Malgun Gothic" pitchFamily="34" charset="-120"/>
              </a:rPr>
              <a:t>조건 한 칸이나 예측값을 일부러 조금 바꿔 새 가능성을 시험</a:t>
            </a:r>
            <a:endParaRPr lang="en-US" sz="1400" dirty="0"/>
          </a:p>
        </p:txBody>
      </p:sp>
      <p:sp>
        <p:nvSpPr>
          <p:cNvPr id="13" name="ga3"/>
          <p:cNvSpPr/>
          <p:nvPr/>
        </p:nvSpPr>
        <p:spPr>
          <a:xfrm>
            <a:off x="4663440" y="2926080"/>
            <a:ext cx="4023360" cy="1280160"/>
          </a:xfrm>
          <a:prstGeom prst="roundRect">
            <a:avLst>
              <a:gd name="adj" fmla="val 5714"/>
            </a:avLst>
          </a:prstGeom>
          <a:solidFill>
            <a:srgbClr val="EEF3F5"/>
          </a:solidFill>
          <a:ln w="12700">
            <a:solidFill>
              <a:srgbClr val="EEF3F5"/>
            </a:solidFill>
            <a:prstDash val="solid"/>
          </a:ln>
        </p:spPr>
      </p:sp>
      <p:sp>
        <p:nvSpPr>
          <p:cNvPr id="14" name="Text 12"/>
          <p:cNvSpPr txBox="1"/>
          <p:nvPr/>
        </p:nvSpPr>
        <p:spPr>
          <a:xfrm>
            <a:off x="4846320" y="3063240"/>
            <a:ext cx="3657600" cy="365760"/>
          </a:xfrm>
          <a:prstGeom prst="rect">
            <a:avLst/>
          </a:prstGeom>
          <a:noFill/>
          <a:ln/>
        </p:spPr>
        <p:txBody>
          <a:bodyPr wrap="square" lIns="0" tIns="0" rIns="0" bIns="0" rtlCol="0" anchor="ctr"/>
          <a:lstStyle/>
          <a:p>
            <a:pPr indent="0" marL="0">
              <a:buNone/>
            </a:pPr>
            <a:r>
              <a:rPr lang="en-US" sz="1800" b="1" dirty="0">
                <a:solidFill>
                  <a:schemeClr val="accent1"/>
                </a:solidFill>
                <a:latin typeface="Malgun Gothic" pitchFamily="34" charset="0"/>
                <a:ea typeface="Malgun Gothic" pitchFamily="34" charset="-122"/>
                <a:cs typeface="Malgun Gothic" pitchFamily="34" charset="-120"/>
              </a:rPr>
              <a:t>풀어주기</a:t>
            </a:r>
            <a:endParaRPr lang="en-US" sz="1800" dirty="0"/>
          </a:p>
        </p:txBody>
      </p:sp>
      <p:sp>
        <p:nvSpPr>
          <p:cNvPr id="15" name="Text 13"/>
          <p:cNvSpPr txBox="1"/>
          <p:nvPr/>
        </p:nvSpPr>
        <p:spPr>
          <a:xfrm>
            <a:off x="4846320" y="3474720"/>
            <a:ext cx="3657600" cy="640080"/>
          </a:xfrm>
          <a:prstGeom prst="rect">
            <a:avLst/>
          </a:prstGeom>
          <a:noFill/>
          <a:ln/>
        </p:spPr>
        <p:txBody>
          <a:bodyPr wrap="square" lIns="0" tIns="0" rIns="0" bIns="0" rtlCol="0" anchor="t"/>
          <a:lstStyle/>
          <a:p>
            <a:pPr indent="0" marL="0">
              <a:buNone/>
            </a:pPr>
            <a:r>
              <a:rPr lang="en-US" sz="1400" dirty="0">
                <a:solidFill>
                  <a:schemeClr val="tx1"/>
                </a:solidFill>
                <a:latin typeface="Malgun Gothic" pitchFamily="34" charset="0"/>
                <a:ea typeface="Malgun Gothic" pitchFamily="34" charset="-122"/>
                <a:cs typeface="Malgun Gothic" pitchFamily="34" charset="-120"/>
              </a:rPr>
              <a:t>오래 안 쓴 메모는 조건을 느슨하게 풀어 준다</a:t>
            </a:r>
            <a:endParaRPr lang="en-US" sz="1400" dirty="0"/>
          </a:p>
        </p:txBody>
      </p:sp>
      <p:sp>
        <p:nvSpPr>
          <p:cNvPr id="16" name="Text 14"/>
          <p:cNvSpPr txBox="1"/>
          <p:nvPr/>
        </p:nvSpPr>
        <p:spPr>
          <a:xfrm>
            <a:off x="457200" y="4389120"/>
            <a:ext cx="8229600" cy="457200"/>
          </a:xfrm>
          <a:prstGeom prst="rect">
            <a:avLst/>
          </a:prstGeom>
          <a:noFill/>
          <a:ln/>
        </p:spPr>
        <p:txBody>
          <a:bodyPr wrap="square" lIns="0" tIns="0" rIns="0" bIns="0" rtlCol="0" anchor="t"/>
          <a:lstStyle/>
          <a:p>
            <a:pPr indent="0" marL="0">
              <a:buNone/>
            </a:pPr>
            <a:r>
              <a:rPr lang="en-US" sz="1400" b="1" dirty="0">
                <a:solidFill>
                  <a:schemeClr val="accent2"/>
                </a:solidFill>
                <a:latin typeface="Malgun Gothic" pitchFamily="34" charset="0"/>
                <a:ea typeface="Malgun Gothic" pitchFamily="34" charset="-122"/>
                <a:cs typeface="Malgun Gothic" pitchFamily="34" charset="-120"/>
              </a:rPr>
              <a:t>성적은 "수익"이 아니라 "예측 정확도"로 매기고, 쓸모없는 조건은 감점한다</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1"/>
                </a:solidFill>
              </a:rPr>
              <a:t>실험: 정리 빈도만 바꾼다</a:t>
            </a:r>
            <a:endParaRPr lang="en-US" sz="2800" dirty="0"/>
          </a:p>
        </p:txBody>
      </p:sp>
      <p:sp>
        <p:nvSpPr>
          <p:cNvPr id="3" name="Text 1"/>
          <p:cNvSpPr txBox="1"/>
          <p:nvPr/>
        </p:nvSpPr>
        <p:spPr>
          <a:xfrm>
            <a:off x="457200" y="896112"/>
            <a:ext cx="8229600" cy="411480"/>
          </a:xfrm>
          <a:prstGeom prst="rect">
            <a:avLst/>
          </a:prstGeom>
          <a:noFill/>
          <a:ln/>
        </p:spPr>
        <p:txBody>
          <a:bodyPr wrap="square" lIns="0" tIns="0" rIns="0" bIns="0" rtlCol="0" anchor="ctr"/>
          <a:lstStyle/>
          <a:p>
            <a:pPr indent="0" marL="0">
              <a:buNone/>
            </a:pPr>
            <a:r>
              <a:rPr lang="en-US" sz="1600" b="1" dirty="0">
                <a:solidFill>
                  <a:schemeClr val="accent1"/>
                </a:solidFill>
                <a:latin typeface="Malgun Gothic" pitchFamily="34" charset="0"/>
                <a:ea typeface="Malgun Gothic" pitchFamily="34" charset="-122"/>
                <a:cs typeface="Malgun Gothic" pitchFamily="34" charset="-120"/>
              </a:rPr>
              <a:t>나머지는 모두 같고, 학습 빈도 k 하나만 다르다</a:t>
            </a:r>
            <a:endParaRPr lang="en-US" sz="1600" dirty="0"/>
          </a:p>
        </p:txBody>
      </p:sp>
      <p:sp>
        <p:nvSpPr>
          <p:cNvPr id="4" name="slow"/>
          <p:cNvSpPr/>
          <p:nvPr/>
        </p:nvSpPr>
        <p:spPr>
          <a:xfrm>
            <a:off x="457200" y="1508760"/>
            <a:ext cx="4023360" cy="1828800"/>
          </a:xfrm>
          <a:prstGeom prst="roundRect">
            <a:avLst>
              <a:gd name="adj" fmla="val 4000"/>
            </a:avLst>
          </a:prstGeom>
          <a:solidFill>
            <a:srgbClr val="EEF3F5"/>
          </a:solidFill>
          <a:ln w="12700">
            <a:solidFill>
              <a:srgbClr val="EEF3F5"/>
            </a:solidFill>
            <a:prstDash val="solid"/>
          </a:ln>
        </p:spPr>
      </p:sp>
      <p:sp>
        <p:nvSpPr>
          <p:cNvPr id="5" name="Text 3"/>
          <p:cNvSpPr txBox="1"/>
          <p:nvPr/>
        </p:nvSpPr>
        <p:spPr>
          <a:xfrm>
            <a:off x="640080" y="1600200"/>
            <a:ext cx="3657600" cy="365760"/>
          </a:xfrm>
          <a:prstGeom prst="rect">
            <a:avLst/>
          </a:prstGeom>
          <a:noFill/>
          <a:ln/>
        </p:spPr>
        <p:txBody>
          <a:bodyPr wrap="square" lIns="0" tIns="0" rIns="0" bIns="0" rtlCol="0" anchor="ctr"/>
          <a:lstStyle/>
          <a:p>
            <a:pPr indent="0" marL="0">
              <a:buNone/>
            </a:pPr>
            <a:r>
              <a:rPr lang="en-US" sz="1800" b="1" dirty="0">
                <a:solidFill>
                  <a:schemeClr val="accent1"/>
                </a:solidFill>
                <a:latin typeface="Malgun Gothic" pitchFamily="34" charset="0"/>
                <a:ea typeface="Malgun Gothic" pitchFamily="34" charset="-122"/>
                <a:cs typeface="Malgun Gothic" pitchFamily="34" charset="-120"/>
              </a:rPr>
              <a:t>천천히 학습</a:t>
            </a:r>
            <a:endParaRPr lang="en-US" sz="1800" dirty="0"/>
          </a:p>
        </p:txBody>
      </p:sp>
      <p:sp>
        <p:nvSpPr>
          <p:cNvPr id="6" name="Text 4"/>
          <p:cNvSpPr txBox="1"/>
          <p:nvPr/>
        </p:nvSpPr>
        <p:spPr>
          <a:xfrm>
            <a:off x="640080" y="1965960"/>
            <a:ext cx="3657600" cy="548640"/>
          </a:xfrm>
          <a:prstGeom prst="rect">
            <a:avLst/>
          </a:prstGeom>
          <a:noFill/>
          <a:ln/>
        </p:spPr>
        <p:txBody>
          <a:bodyPr wrap="square" lIns="0" tIns="0" rIns="0" bIns="0" rtlCol="0" anchor="ctr"/>
          <a:lstStyle/>
          <a:p>
            <a:pPr indent="0" marL="0">
              <a:buNone/>
            </a:pPr>
            <a:r>
              <a:rPr lang="en-US" sz="3200" b="1" dirty="0">
                <a:solidFill>
                  <a:schemeClr val="tx1"/>
                </a:solidFill>
                <a:latin typeface="Malgun Gothic" pitchFamily="34" charset="0"/>
                <a:ea typeface="Malgun Gothic" pitchFamily="34" charset="-122"/>
                <a:cs typeface="Malgun Gothic" pitchFamily="34" charset="-120"/>
              </a:rPr>
              <a:t>k = 1000</a:t>
            </a:r>
            <a:endParaRPr lang="en-US" sz="3200" dirty="0"/>
          </a:p>
        </p:txBody>
      </p:sp>
      <p:sp>
        <p:nvSpPr>
          <p:cNvPr id="7" name="Text 5"/>
          <p:cNvSpPr txBox="1"/>
          <p:nvPr/>
        </p:nvSpPr>
        <p:spPr>
          <a:xfrm>
            <a:off x="640080" y="2606040"/>
            <a:ext cx="3657600" cy="640080"/>
          </a:xfrm>
          <a:prstGeom prst="rect">
            <a:avLst/>
          </a:prstGeom>
          <a:noFill/>
          <a:ln/>
        </p:spPr>
        <p:txBody>
          <a:bodyPr wrap="square" lIns="0" tIns="0" rIns="0" bIns="0" rtlCol="0" anchor="t"/>
          <a:lstStyle/>
          <a:p>
            <a:pPr indent="0" marL="0">
              <a:buNone/>
            </a:pPr>
            <a:r>
              <a:rPr lang="en-US" sz="1400" dirty="0">
                <a:solidFill>
                  <a:schemeClr val="tx1"/>
                </a:solidFill>
                <a:latin typeface="Malgun Gothic" pitchFamily="34" charset="0"/>
                <a:ea typeface="Malgun Gothic" pitchFamily="34" charset="-122"/>
                <a:cs typeface="Malgun Gothic" pitchFamily="34" charset="-120"/>
              </a:rPr>
              <a:t>평균 1000기간에 한 번 정리. 오래 지켜보고 고친다</a:t>
            </a:r>
            <a:endParaRPr lang="en-US" sz="1400" dirty="0"/>
          </a:p>
        </p:txBody>
      </p:sp>
      <p:sp>
        <p:nvSpPr>
          <p:cNvPr id="8" name="fast"/>
          <p:cNvSpPr/>
          <p:nvPr/>
        </p:nvSpPr>
        <p:spPr>
          <a:xfrm>
            <a:off x="4663440" y="1508760"/>
            <a:ext cx="4023360" cy="1828800"/>
          </a:xfrm>
          <a:prstGeom prst="roundRect">
            <a:avLst>
              <a:gd name="adj" fmla="val 4000"/>
            </a:avLst>
          </a:prstGeom>
          <a:solidFill>
            <a:srgbClr val="EEF3F5"/>
          </a:solidFill>
          <a:ln w="12700">
            <a:solidFill>
              <a:srgbClr val="EEF3F5"/>
            </a:solidFill>
            <a:prstDash val="solid"/>
          </a:ln>
        </p:spPr>
      </p:sp>
      <p:sp>
        <p:nvSpPr>
          <p:cNvPr id="9" name="Text 7"/>
          <p:cNvSpPr txBox="1"/>
          <p:nvPr/>
        </p:nvSpPr>
        <p:spPr>
          <a:xfrm>
            <a:off x="4846320" y="1600200"/>
            <a:ext cx="3657600" cy="365760"/>
          </a:xfrm>
          <a:prstGeom prst="rect">
            <a:avLst/>
          </a:prstGeom>
          <a:noFill/>
          <a:ln/>
        </p:spPr>
        <p:txBody>
          <a:bodyPr wrap="square" lIns="0" tIns="0" rIns="0" bIns="0" rtlCol="0" anchor="ctr"/>
          <a:lstStyle/>
          <a:p>
            <a:pPr indent="0" marL="0">
              <a:buNone/>
            </a:pPr>
            <a:r>
              <a:rPr lang="en-US" sz="1800" b="1" dirty="0">
                <a:solidFill>
                  <a:schemeClr val="accent2"/>
                </a:solidFill>
                <a:latin typeface="Malgun Gothic" pitchFamily="34" charset="0"/>
                <a:ea typeface="Malgun Gothic" pitchFamily="34" charset="-122"/>
                <a:cs typeface="Malgun Gothic" pitchFamily="34" charset="-120"/>
              </a:rPr>
              <a:t>빠르게 학습</a:t>
            </a:r>
            <a:endParaRPr lang="en-US" sz="1800" dirty="0"/>
          </a:p>
        </p:txBody>
      </p:sp>
      <p:sp>
        <p:nvSpPr>
          <p:cNvPr id="10" name="Text 8"/>
          <p:cNvSpPr txBox="1"/>
          <p:nvPr/>
        </p:nvSpPr>
        <p:spPr>
          <a:xfrm>
            <a:off x="4846320" y="1965960"/>
            <a:ext cx="3657600" cy="548640"/>
          </a:xfrm>
          <a:prstGeom prst="rect">
            <a:avLst/>
          </a:prstGeom>
          <a:noFill/>
          <a:ln/>
        </p:spPr>
        <p:txBody>
          <a:bodyPr wrap="square" lIns="0" tIns="0" rIns="0" bIns="0" rtlCol="0" anchor="ctr"/>
          <a:lstStyle/>
          <a:p>
            <a:pPr indent="0" marL="0">
              <a:buNone/>
            </a:pPr>
            <a:r>
              <a:rPr lang="en-US" sz="3200" b="1" dirty="0">
                <a:solidFill>
                  <a:schemeClr val="tx1"/>
                </a:solidFill>
                <a:latin typeface="Malgun Gothic" pitchFamily="34" charset="0"/>
                <a:ea typeface="Malgun Gothic" pitchFamily="34" charset="-122"/>
                <a:cs typeface="Malgun Gothic" pitchFamily="34" charset="-120"/>
              </a:rPr>
              <a:t>k = 250</a:t>
            </a:r>
            <a:endParaRPr lang="en-US" sz="3200" dirty="0"/>
          </a:p>
        </p:txBody>
      </p:sp>
      <p:sp>
        <p:nvSpPr>
          <p:cNvPr id="11" name="Text 9"/>
          <p:cNvSpPr txBox="1"/>
          <p:nvPr/>
        </p:nvSpPr>
        <p:spPr>
          <a:xfrm>
            <a:off x="4846320" y="2606040"/>
            <a:ext cx="3657600" cy="640080"/>
          </a:xfrm>
          <a:prstGeom prst="rect">
            <a:avLst/>
          </a:prstGeom>
          <a:noFill/>
          <a:ln/>
        </p:spPr>
        <p:txBody>
          <a:bodyPr wrap="square" lIns="0" tIns="0" rIns="0" bIns="0" rtlCol="0" anchor="t"/>
          <a:lstStyle/>
          <a:p>
            <a:pPr indent="0" marL="0">
              <a:buNone/>
            </a:pPr>
            <a:r>
              <a:rPr lang="en-US" sz="1400" dirty="0">
                <a:solidFill>
                  <a:schemeClr val="tx1"/>
                </a:solidFill>
                <a:latin typeface="Malgun Gothic" pitchFamily="34" charset="0"/>
                <a:ea typeface="Malgun Gothic" pitchFamily="34" charset="-122"/>
                <a:cs typeface="Malgun Gothic" pitchFamily="34" charset="-120"/>
              </a:rPr>
              <a:t>평균 250기간에 한 번 정리. 최근 상황에 빠르게 반응</a:t>
            </a:r>
            <a:endParaRPr lang="en-US" sz="1400" dirty="0"/>
          </a:p>
        </p:txBody>
      </p:sp>
      <p:sp>
        <p:nvSpPr>
          <p:cNvPr id="12" name="Text 10"/>
          <p:cNvSpPr txBox="1"/>
          <p:nvPr/>
        </p:nvSpPr>
        <p:spPr>
          <a:xfrm>
            <a:off x="457200" y="3566160"/>
            <a:ext cx="2606040" cy="457200"/>
          </a:xfrm>
          <a:prstGeom prst="rect">
            <a:avLst/>
          </a:prstGeom>
          <a:noFill/>
          <a:ln/>
        </p:spPr>
        <p:txBody>
          <a:bodyPr wrap="square" lIns="0" tIns="0" rIns="0" bIns="0" rtlCol="0" anchor="ctr"/>
          <a:lstStyle/>
          <a:p>
            <a:pPr indent="0" marL="0">
              <a:buNone/>
            </a:pPr>
            <a:r>
              <a:rPr lang="en-US" sz="2400" b="1" dirty="0">
                <a:solidFill>
                  <a:schemeClr val="accent1"/>
                </a:solidFill>
                <a:latin typeface="Malgun Gothic" pitchFamily="34" charset="0"/>
                <a:ea typeface="Malgun Gothic" pitchFamily="34" charset="-122"/>
                <a:cs typeface="Malgun Gothic" pitchFamily="34" charset="-120"/>
              </a:rPr>
              <a:t>25회</a:t>
            </a:r>
            <a:endParaRPr lang="en-US" sz="2400" dirty="0"/>
          </a:p>
        </p:txBody>
      </p:sp>
      <p:sp>
        <p:nvSpPr>
          <p:cNvPr id="13" name="Text 11"/>
          <p:cNvSpPr txBox="1"/>
          <p:nvPr/>
        </p:nvSpPr>
        <p:spPr>
          <a:xfrm>
            <a:off x="457200" y="4023360"/>
            <a:ext cx="2606040" cy="548640"/>
          </a:xfrm>
          <a:prstGeom prst="rect">
            <a:avLst/>
          </a:prstGeom>
          <a:noFill/>
          <a:ln/>
        </p:spPr>
        <p:txBody>
          <a:bodyPr wrap="square" lIns="0" tIns="0" rIns="0" bIns="0" rtlCol="0" anchor="t"/>
          <a:lstStyle/>
          <a:p>
            <a:pPr indent="0" marL="0">
              <a:buNone/>
            </a:pPr>
            <a:r>
              <a:rPr lang="en-US" sz="1400" dirty="0">
                <a:solidFill>
                  <a:schemeClr val="tx1"/>
                </a:solidFill>
                <a:latin typeface="Malgun Gothic" pitchFamily="34" charset="0"/>
                <a:ea typeface="Malgun Gothic" pitchFamily="34" charset="-122"/>
                <a:cs typeface="Malgun Gothic" pitchFamily="34" charset="-120"/>
              </a:rPr>
              <a:t>서로 다른 시작값으로 반복</a:t>
            </a:r>
            <a:endParaRPr lang="en-US" sz="1400" dirty="0"/>
          </a:p>
        </p:txBody>
      </p:sp>
      <p:sp>
        <p:nvSpPr>
          <p:cNvPr id="14" name="Text 12"/>
          <p:cNvSpPr txBox="1"/>
          <p:nvPr/>
        </p:nvSpPr>
        <p:spPr>
          <a:xfrm>
            <a:off x="3246120" y="3566160"/>
            <a:ext cx="2606040" cy="457200"/>
          </a:xfrm>
          <a:prstGeom prst="rect">
            <a:avLst/>
          </a:prstGeom>
          <a:noFill/>
          <a:ln/>
        </p:spPr>
        <p:txBody>
          <a:bodyPr wrap="square" lIns="0" tIns="0" rIns="0" bIns="0" rtlCol="0" anchor="ctr"/>
          <a:lstStyle/>
          <a:p>
            <a:pPr indent="0" marL="0">
              <a:buNone/>
            </a:pPr>
            <a:r>
              <a:rPr lang="en-US" sz="2400" b="1" dirty="0">
                <a:solidFill>
                  <a:schemeClr val="accent1"/>
                </a:solidFill>
                <a:latin typeface="Malgun Gothic" pitchFamily="34" charset="0"/>
                <a:ea typeface="Malgun Gothic" pitchFamily="34" charset="-122"/>
                <a:cs typeface="Malgun Gothic" pitchFamily="34" charset="-120"/>
              </a:rPr>
              <a:t>250,000기간</a:t>
            </a:r>
            <a:endParaRPr lang="en-US" sz="2400" dirty="0"/>
          </a:p>
        </p:txBody>
      </p:sp>
      <p:sp>
        <p:nvSpPr>
          <p:cNvPr id="15" name="Text 13"/>
          <p:cNvSpPr txBox="1"/>
          <p:nvPr/>
        </p:nvSpPr>
        <p:spPr>
          <a:xfrm>
            <a:off x="3246120" y="4023360"/>
            <a:ext cx="2606040" cy="548640"/>
          </a:xfrm>
          <a:prstGeom prst="rect">
            <a:avLst/>
          </a:prstGeom>
          <a:noFill/>
          <a:ln/>
        </p:spPr>
        <p:txBody>
          <a:bodyPr wrap="square" lIns="0" tIns="0" rIns="0" bIns="0" rtlCol="0" anchor="t"/>
          <a:lstStyle/>
          <a:p>
            <a:pPr indent="0" marL="0">
              <a:buNone/>
            </a:pPr>
            <a:r>
              <a:rPr lang="en-US" sz="1400" dirty="0">
                <a:solidFill>
                  <a:schemeClr val="tx1"/>
                </a:solidFill>
                <a:latin typeface="Malgun Gothic" pitchFamily="34" charset="0"/>
                <a:ea typeface="Malgun Gothic" pitchFamily="34" charset="-122"/>
                <a:cs typeface="Malgun Gothic" pitchFamily="34" charset="-120"/>
              </a:rPr>
              <a:t>먼저 돌려 과도 구간을 버림</a:t>
            </a:r>
            <a:endParaRPr lang="en-US" sz="1400" dirty="0"/>
          </a:p>
        </p:txBody>
      </p:sp>
      <p:sp>
        <p:nvSpPr>
          <p:cNvPr id="16" name="Text 14"/>
          <p:cNvSpPr txBox="1"/>
          <p:nvPr/>
        </p:nvSpPr>
        <p:spPr>
          <a:xfrm>
            <a:off x="6035040" y="3566160"/>
            <a:ext cx="2606040" cy="457200"/>
          </a:xfrm>
          <a:prstGeom prst="rect">
            <a:avLst/>
          </a:prstGeom>
          <a:noFill/>
          <a:ln/>
        </p:spPr>
        <p:txBody>
          <a:bodyPr wrap="square" lIns="0" tIns="0" rIns="0" bIns="0" rtlCol="0" anchor="ctr"/>
          <a:lstStyle/>
          <a:p>
            <a:pPr indent="0" marL="0">
              <a:buNone/>
            </a:pPr>
            <a:r>
              <a:rPr lang="en-US" sz="2400" b="1" dirty="0">
                <a:solidFill>
                  <a:schemeClr val="accent1"/>
                </a:solidFill>
                <a:latin typeface="Malgun Gothic" pitchFamily="34" charset="0"/>
                <a:ea typeface="Malgun Gothic" pitchFamily="34" charset="-122"/>
                <a:cs typeface="Malgun Gothic" pitchFamily="34" charset="-120"/>
              </a:rPr>
              <a:t>10,000기간</a:t>
            </a:r>
            <a:endParaRPr lang="en-US" sz="2400" dirty="0"/>
          </a:p>
        </p:txBody>
      </p:sp>
      <p:sp>
        <p:nvSpPr>
          <p:cNvPr id="17" name="Text 15"/>
          <p:cNvSpPr txBox="1"/>
          <p:nvPr/>
        </p:nvSpPr>
        <p:spPr>
          <a:xfrm>
            <a:off x="6035040" y="4023360"/>
            <a:ext cx="2606040" cy="548640"/>
          </a:xfrm>
          <a:prstGeom prst="rect">
            <a:avLst/>
          </a:prstGeom>
          <a:noFill/>
          <a:ln/>
        </p:spPr>
        <p:txBody>
          <a:bodyPr wrap="square" lIns="0" tIns="0" rIns="0" bIns="0" rtlCol="0" anchor="t"/>
          <a:lstStyle/>
          <a:p>
            <a:pPr indent="0" marL="0">
              <a:buNone/>
            </a:pPr>
            <a:r>
              <a:rPr lang="en-US" sz="1400" dirty="0">
                <a:solidFill>
                  <a:schemeClr val="tx1"/>
                </a:solidFill>
                <a:latin typeface="Malgun Gothic" pitchFamily="34" charset="0"/>
                <a:ea typeface="Malgun Gothic" pitchFamily="34" charset="-122"/>
                <a:cs typeface="Malgun Gothic" pitchFamily="34" charset="-120"/>
              </a:rPr>
              <a:t>그 뒤 기록해 분석</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1"/>
                </a:solidFill>
              </a:rPr>
              <a:t>결과 1: 시장이 달라진다</a:t>
            </a:r>
            <a:endParaRPr lang="en-US" sz="2800" dirty="0"/>
          </a:p>
        </p:txBody>
      </p:sp>
      <p:sp>
        <p:nvSpPr>
          <p:cNvPr id="3" name="Text 1"/>
          <p:cNvSpPr txBox="1"/>
          <p:nvPr/>
        </p:nvSpPr>
        <p:spPr>
          <a:xfrm>
            <a:off x="457200" y="896112"/>
            <a:ext cx="8229600" cy="411480"/>
          </a:xfrm>
          <a:prstGeom prst="rect">
            <a:avLst/>
          </a:prstGeom>
          <a:noFill/>
          <a:ln/>
        </p:spPr>
        <p:txBody>
          <a:bodyPr wrap="square" lIns="0" tIns="0" rIns="0" bIns="0" rtlCol="0" anchor="ctr"/>
          <a:lstStyle/>
          <a:p>
            <a:pPr indent="0" marL="0">
              <a:buNone/>
            </a:pPr>
            <a:r>
              <a:rPr lang="en-US" sz="1600" b="1" dirty="0">
                <a:solidFill>
                  <a:schemeClr val="accent1"/>
                </a:solidFill>
                <a:latin typeface="Malgun Gothic" pitchFamily="34" charset="0"/>
                <a:ea typeface="Malgun Gothic" pitchFamily="34" charset="-122"/>
                <a:cs typeface="Malgun Gothic" pitchFamily="34" charset="-120"/>
              </a:rPr>
              <a:t>빠른 학습에서만 변동성이 몰려 나타난다 (논문 Table 4)</a:t>
            </a:r>
            <a:endParaRPr lang="en-US" sz="1600" dirty="0"/>
          </a:p>
        </p:txBody>
      </p:sp>
      <p:sp>
        <p:nvSpPr>
          <p:cNvPr id="4" name="Text 2"/>
          <p:cNvSpPr txBox="1"/>
          <p:nvPr/>
        </p:nvSpPr>
        <p:spPr>
          <a:xfrm>
            <a:off x="3017520" y="1417320"/>
            <a:ext cx="2651760" cy="320040"/>
          </a:xfrm>
          <a:prstGeom prst="rect">
            <a:avLst/>
          </a:prstGeom>
          <a:noFill/>
          <a:ln/>
        </p:spPr>
        <p:txBody>
          <a:bodyPr wrap="square" lIns="0" tIns="0" rIns="0" bIns="0" rtlCol="0" anchor="ctr"/>
          <a:lstStyle/>
          <a:p>
            <a:pPr algn="ctr" indent="0" marL="0">
              <a:buNone/>
            </a:pPr>
            <a:r>
              <a:rPr lang="en-US" sz="1400" b="1" dirty="0">
                <a:solidFill>
                  <a:schemeClr val="accent1"/>
                </a:solidFill>
                <a:latin typeface="Malgun Gothic" pitchFamily="34" charset="0"/>
                <a:ea typeface="Malgun Gothic" pitchFamily="34" charset="-122"/>
                <a:cs typeface="Malgun Gothic" pitchFamily="34" charset="-120"/>
              </a:rPr>
              <a:t>천천히 (k=1000)</a:t>
            </a:r>
            <a:endParaRPr lang="en-US" sz="1400" dirty="0"/>
          </a:p>
        </p:txBody>
      </p:sp>
      <p:sp>
        <p:nvSpPr>
          <p:cNvPr id="5" name="Text 3"/>
          <p:cNvSpPr txBox="1"/>
          <p:nvPr/>
        </p:nvSpPr>
        <p:spPr>
          <a:xfrm>
            <a:off x="5852160" y="1417320"/>
            <a:ext cx="2834640" cy="320040"/>
          </a:xfrm>
          <a:prstGeom prst="rect">
            <a:avLst/>
          </a:prstGeom>
          <a:noFill/>
          <a:ln/>
        </p:spPr>
        <p:txBody>
          <a:bodyPr wrap="square" lIns="0" tIns="0" rIns="0" bIns="0" rtlCol="0" anchor="ctr"/>
          <a:lstStyle/>
          <a:p>
            <a:pPr algn="ctr" indent="0" marL="0">
              <a:buNone/>
            </a:pPr>
            <a:r>
              <a:rPr lang="en-US" sz="1400" b="1" dirty="0">
                <a:solidFill>
                  <a:schemeClr val="accent2"/>
                </a:solidFill>
                <a:latin typeface="Malgun Gothic" pitchFamily="34" charset="0"/>
                <a:ea typeface="Malgun Gothic" pitchFamily="34" charset="-122"/>
                <a:cs typeface="Malgun Gothic" pitchFamily="34" charset="-120"/>
              </a:rPr>
              <a:t>빠르게 (k=250)</a:t>
            </a:r>
            <a:endParaRPr lang="en-US" sz="1400" dirty="0"/>
          </a:p>
        </p:txBody>
      </p:sp>
      <p:sp>
        <p:nvSpPr>
          <p:cNvPr id="6" name="row0"/>
          <p:cNvSpPr/>
          <p:nvPr/>
        </p:nvSpPr>
        <p:spPr>
          <a:xfrm>
            <a:off x="457200" y="1783080"/>
            <a:ext cx="8229600" cy="621792"/>
          </a:xfrm>
          <a:prstGeom prst="roundRect">
            <a:avLst>
              <a:gd name="adj" fmla="val 11765"/>
            </a:avLst>
          </a:prstGeom>
          <a:solidFill>
            <a:srgbClr val="EEF3F5"/>
          </a:solidFill>
          <a:ln w="12700">
            <a:solidFill>
              <a:srgbClr val="EEF3F5"/>
            </a:solidFill>
            <a:prstDash val="solid"/>
          </a:ln>
        </p:spPr>
      </p:sp>
      <p:sp>
        <p:nvSpPr>
          <p:cNvPr id="7" name="Text 5"/>
          <p:cNvSpPr txBox="1"/>
          <p:nvPr/>
        </p:nvSpPr>
        <p:spPr>
          <a:xfrm>
            <a:off x="594360" y="1783080"/>
            <a:ext cx="2423160" cy="621792"/>
          </a:xfrm>
          <a:prstGeom prst="rect">
            <a:avLst/>
          </a:prstGeom>
          <a:noFill/>
          <a:ln/>
        </p:spPr>
        <p:txBody>
          <a:bodyPr wrap="square" lIns="0" tIns="0" rIns="0" bIns="0" rtlCol="0" anchor="ctr"/>
          <a:lstStyle/>
          <a:p>
            <a:pPr indent="0" marL="0">
              <a:buNone/>
            </a:pPr>
            <a:r>
              <a:rPr lang="en-US" sz="1300" dirty="0">
                <a:solidFill>
                  <a:schemeClr val="tx1"/>
                </a:solidFill>
                <a:latin typeface="Malgun Gothic" pitchFamily="34" charset="0"/>
                <a:ea typeface="Malgun Gothic" pitchFamily="34" charset="-122"/>
                <a:cs typeface="Malgun Gothic" pitchFamily="34" charset="-120"/>
              </a:rPr>
              <a:t>두꺼운 꼬리 (초과첨도)</a:t>
            </a:r>
            <a:endParaRPr lang="en-US" sz="1300" dirty="0"/>
          </a:p>
        </p:txBody>
      </p:sp>
      <p:sp>
        <p:nvSpPr>
          <p:cNvPr id="8" name="Text 6"/>
          <p:cNvSpPr txBox="1"/>
          <p:nvPr/>
        </p:nvSpPr>
        <p:spPr>
          <a:xfrm>
            <a:off x="3017520" y="1783080"/>
            <a:ext cx="2651760" cy="621792"/>
          </a:xfrm>
          <a:prstGeom prst="rect">
            <a:avLst/>
          </a:prstGeom>
          <a:noFill/>
          <a:ln/>
        </p:spPr>
        <p:txBody>
          <a:bodyPr wrap="square" lIns="0" tIns="0" rIns="0" bIns="0" rtlCol="0" anchor="ctr"/>
          <a:lstStyle/>
          <a:p>
            <a:pPr algn="ctr" indent="0" marL="0">
              <a:buNone/>
            </a:pPr>
            <a:r>
              <a:rPr lang="en-US" sz="2400" b="1" dirty="0">
                <a:solidFill>
                  <a:schemeClr val="accent1"/>
                </a:solidFill>
                <a:latin typeface="Malgun Gothic" pitchFamily="34" charset="0"/>
                <a:ea typeface="Malgun Gothic" pitchFamily="34" charset="-122"/>
                <a:cs typeface="Malgun Gothic" pitchFamily="34" charset="-120"/>
              </a:rPr>
              <a:t>0.07</a:t>
            </a:r>
            <a:endParaRPr lang="en-US" sz="2400" dirty="0"/>
          </a:p>
        </p:txBody>
      </p:sp>
      <p:sp>
        <p:nvSpPr>
          <p:cNvPr id="9" name="Text 7"/>
          <p:cNvSpPr txBox="1"/>
          <p:nvPr/>
        </p:nvSpPr>
        <p:spPr>
          <a:xfrm>
            <a:off x="5852160" y="1783080"/>
            <a:ext cx="2834640" cy="621792"/>
          </a:xfrm>
          <a:prstGeom prst="rect">
            <a:avLst/>
          </a:prstGeom>
          <a:noFill/>
          <a:ln/>
        </p:spPr>
        <p:txBody>
          <a:bodyPr wrap="square" lIns="0" tIns="0" rIns="0" bIns="0" rtlCol="0" anchor="ctr"/>
          <a:lstStyle/>
          <a:p>
            <a:pPr algn="ctr" indent="0" marL="0">
              <a:buNone/>
            </a:pPr>
            <a:r>
              <a:rPr lang="en-US" sz="2400" b="1" dirty="0">
                <a:solidFill>
                  <a:schemeClr val="accent2"/>
                </a:solidFill>
                <a:latin typeface="Malgun Gothic" pitchFamily="34" charset="0"/>
                <a:ea typeface="Malgun Gothic" pitchFamily="34" charset="-122"/>
                <a:cs typeface="Malgun Gothic" pitchFamily="34" charset="-120"/>
              </a:rPr>
              <a:t>0.32</a:t>
            </a:r>
            <a:endParaRPr lang="en-US" sz="2400" dirty="0"/>
          </a:p>
        </p:txBody>
      </p:sp>
      <p:sp>
        <p:nvSpPr>
          <p:cNvPr id="10" name="row1"/>
          <p:cNvSpPr/>
          <p:nvPr/>
        </p:nvSpPr>
        <p:spPr>
          <a:xfrm>
            <a:off x="457200" y="2496312"/>
            <a:ext cx="8229600" cy="621792"/>
          </a:xfrm>
          <a:prstGeom prst="roundRect">
            <a:avLst>
              <a:gd name="adj" fmla="val 11765"/>
            </a:avLst>
          </a:prstGeom>
          <a:solidFill>
            <a:srgbClr val="EEF3F5"/>
          </a:solidFill>
          <a:ln w="12700">
            <a:solidFill>
              <a:srgbClr val="EEF3F5"/>
            </a:solidFill>
            <a:prstDash val="solid"/>
          </a:ln>
        </p:spPr>
      </p:sp>
      <p:sp>
        <p:nvSpPr>
          <p:cNvPr id="11" name="Text 9"/>
          <p:cNvSpPr txBox="1"/>
          <p:nvPr/>
        </p:nvSpPr>
        <p:spPr>
          <a:xfrm>
            <a:off x="594360" y="2496312"/>
            <a:ext cx="2423160" cy="621792"/>
          </a:xfrm>
          <a:prstGeom prst="rect">
            <a:avLst/>
          </a:prstGeom>
          <a:noFill/>
          <a:ln/>
        </p:spPr>
        <p:txBody>
          <a:bodyPr wrap="square" lIns="0" tIns="0" rIns="0" bIns="0" rtlCol="0" anchor="ctr"/>
          <a:lstStyle/>
          <a:p>
            <a:pPr indent="0" marL="0">
              <a:buNone/>
            </a:pPr>
            <a:r>
              <a:rPr lang="en-US" sz="1300" dirty="0">
                <a:solidFill>
                  <a:schemeClr val="tx1"/>
                </a:solidFill>
                <a:latin typeface="Malgun Gothic" pitchFamily="34" charset="0"/>
                <a:ea typeface="Malgun Gothic" pitchFamily="34" charset="-122"/>
                <a:cs typeface="Malgun Gothic" pitchFamily="34" charset="-120"/>
              </a:rPr>
              <a:t>변동성 군집 (제곱잔차 자기상관)</a:t>
            </a:r>
            <a:endParaRPr lang="en-US" sz="1300" dirty="0"/>
          </a:p>
        </p:txBody>
      </p:sp>
      <p:sp>
        <p:nvSpPr>
          <p:cNvPr id="12" name="Text 10"/>
          <p:cNvSpPr txBox="1"/>
          <p:nvPr/>
        </p:nvSpPr>
        <p:spPr>
          <a:xfrm>
            <a:off x="3017520" y="2496312"/>
            <a:ext cx="2651760" cy="621792"/>
          </a:xfrm>
          <a:prstGeom prst="rect">
            <a:avLst/>
          </a:prstGeom>
          <a:noFill/>
          <a:ln/>
        </p:spPr>
        <p:txBody>
          <a:bodyPr wrap="square" lIns="0" tIns="0" rIns="0" bIns="0" rtlCol="0" anchor="ctr"/>
          <a:lstStyle/>
          <a:p>
            <a:pPr algn="ctr" indent="0" marL="0">
              <a:buNone/>
            </a:pPr>
            <a:r>
              <a:rPr lang="en-US" sz="2400" b="1" dirty="0">
                <a:solidFill>
                  <a:schemeClr val="accent1"/>
                </a:solidFill>
                <a:latin typeface="Malgun Gothic" pitchFamily="34" charset="0"/>
                <a:ea typeface="Malgun Gothic" pitchFamily="34" charset="-122"/>
                <a:cs typeface="Malgun Gothic" pitchFamily="34" charset="-120"/>
              </a:rPr>
              <a:t>0.017</a:t>
            </a:r>
            <a:endParaRPr lang="en-US" sz="2400" dirty="0"/>
          </a:p>
        </p:txBody>
      </p:sp>
      <p:sp>
        <p:nvSpPr>
          <p:cNvPr id="13" name="Text 11"/>
          <p:cNvSpPr txBox="1"/>
          <p:nvPr/>
        </p:nvSpPr>
        <p:spPr>
          <a:xfrm>
            <a:off x="5852160" y="2496312"/>
            <a:ext cx="2834640" cy="621792"/>
          </a:xfrm>
          <a:prstGeom prst="rect">
            <a:avLst/>
          </a:prstGeom>
          <a:noFill/>
          <a:ln/>
        </p:spPr>
        <p:txBody>
          <a:bodyPr wrap="square" lIns="0" tIns="0" rIns="0" bIns="0" rtlCol="0" anchor="ctr"/>
          <a:lstStyle/>
          <a:p>
            <a:pPr algn="ctr" indent="0" marL="0">
              <a:buNone/>
            </a:pPr>
            <a:r>
              <a:rPr lang="en-US" sz="2400" b="1" dirty="0">
                <a:solidFill>
                  <a:schemeClr val="accent2"/>
                </a:solidFill>
                <a:latin typeface="Malgun Gothic" pitchFamily="34" charset="0"/>
                <a:ea typeface="Malgun Gothic" pitchFamily="34" charset="-122"/>
                <a:cs typeface="Malgun Gothic" pitchFamily="34" charset="-120"/>
              </a:rPr>
              <a:t>0.064</a:t>
            </a:r>
            <a:endParaRPr lang="en-US" sz="2400" dirty="0"/>
          </a:p>
        </p:txBody>
      </p:sp>
      <p:sp>
        <p:nvSpPr>
          <p:cNvPr id="14" name="row2"/>
          <p:cNvSpPr/>
          <p:nvPr/>
        </p:nvSpPr>
        <p:spPr>
          <a:xfrm>
            <a:off x="457200" y="3209544"/>
            <a:ext cx="8229600" cy="621792"/>
          </a:xfrm>
          <a:prstGeom prst="roundRect">
            <a:avLst>
              <a:gd name="adj" fmla="val 11765"/>
            </a:avLst>
          </a:prstGeom>
          <a:solidFill>
            <a:srgbClr val="EEF3F5"/>
          </a:solidFill>
          <a:ln w="12700">
            <a:solidFill>
              <a:srgbClr val="EEF3F5"/>
            </a:solidFill>
            <a:prstDash val="solid"/>
          </a:ln>
        </p:spPr>
      </p:sp>
      <p:sp>
        <p:nvSpPr>
          <p:cNvPr id="15" name="Text 13"/>
          <p:cNvSpPr txBox="1"/>
          <p:nvPr/>
        </p:nvSpPr>
        <p:spPr>
          <a:xfrm>
            <a:off x="594360" y="3209544"/>
            <a:ext cx="2423160" cy="621792"/>
          </a:xfrm>
          <a:prstGeom prst="rect">
            <a:avLst/>
          </a:prstGeom>
          <a:noFill/>
          <a:ln/>
        </p:spPr>
        <p:txBody>
          <a:bodyPr wrap="square" lIns="0" tIns="0" rIns="0" bIns="0" rtlCol="0" anchor="ctr"/>
          <a:lstStyle/>
          <a:p>
            <a:pPr indent="0" marL="0">
              <a:buNone/>
            </a:pPr>
            <a:r>
              <a:rPr lang="en-US" sz="1300" dirty="0">
                <a:solidFill>
                  <a:schemeClr val="tx1"/>
                </a:solidFill>
                <a:latin typeface="Malgun Gothic" pitchFamily="34" charset="0"/>
                <a:ea typeface="Malgun Gothic" pitchFamily="34" charset="-122"/>
                <a:cs typeface="Malgun Gothic" pitchFamily="34" charset="-120"/>
              </a:rPr>
              <a:t>변동성 효과가 있다고 판정된 비율</a:t>
            </a:r>
            <a:endParaRPr lang="en-US" sz="1300" dirty="0"/>
          </a:p>
        </p:txBody>
      </p:sp>
      <p:sp>
        <p:nvSpPr>
          <p:cNvPr id="16" name="Text 14"/>
          <p:cNvSpPr txBox="1"/>
          <p:nvPr/>
        </p:nvSpPr>
        <p:spPr>
          <a:xfrm>
            <a:off x="3017520" y="3209544"/>
            <a:ext cx="2651760" cy="621792"/>
          </a:xfrm>
          <a:prstGeom prst="rect">
            <a:avLst/>
          </a:prstGeom>
          <a:noFill/>
          <a:ln/>
        </p:spPr>
        <p:txBody>
          <a:bodyPr wrap="square" lIns="0" tIns="0" rIns="0" bIns="0" rtlCol="0" anchor="ctr"/>
          <a:lstStyle/>
          <a:p>
            <a:pPr algn="ctr" indent="0" marL="0">
              <a:buNone/>
            </a:pPr>
            <a:r>
              <a:rPr lang="en-US" sz="2400" b="1" dirty="0">
                <a:solidFill>
                  <a:schemeClr val="accent1"/>
                </a:solidFill>
                <a:latin typeface="Malgun Gothic" pitchFamily="34" charset="0"/>
                <a:ea typeface="Malgun Gothic" pitchFamily="34" charset="-122"/>
                <a:cs typeface="Malgun Gothic" pitchFamily="34" charset="-120"/>
              </a:rPr>
              <a:t>44%</a:t>
            </a:r>
            <a:endParaRPr lang="en-US" sz="2400" dirty="0"/>
          </a:p>
        </p:txBody>
      </p:sp>
      <p:sp>
        <p:nvSpPr>
          <p:cNvPr id="17" name="Text 15"/>
          <p:cNvSpPr txBox="1"/>
          <p:nvPr/>
        </p:nvSpPr>
        <p:spPr>
          <a:xfrm>
            <a:off x="5852160" y="3209544"/>
            <a:ext cx="2834640" cy="621792"/>
          </a:xfrm>
          <a:prstGeom prst="rect">
            <a:avLst/>
          </a:prstGeom>
          <a:noFill/>
          <a:ln/>
        </p:spPr>
        <p:txBody>
          <a:bodyPr wrap="square" lIns="0" tIns="0" rIns="0" bIns="0" rtlCol="0" anchor="ctr"/>
          <a:lstStyle/>
          <a:p>
            <a:pPr algn="ctr" indent="0" marL="0">
              <a:buNone/>
            </a:pPr>
            <a:r>
              <a:rPr lang="en-US" sz="2400" b="1" dirty="0">
                <a:solidFill>
                  <a:schemeClr val="accent2"/>
                </a:solidFill>
                <a:latin typeface="Malgun Gothic" pitchFamily="34" charset="0"/>
                <a:ea typeface="Malgun Gothic" pitchFamily="34" charset="-122"/>
                <a:cs typeface="Malgun Gothic" pitchFamily="34" charset="-120"/>
              </a:rPr>
              <a:t>100%</a:t>
            </a:r>
            <a:endParaRPr lang="en-US" sz="2400" dirty="0"/>
          </a:p>
        </p:txBody>
      </p:sp>
      <p:sp>
        <p:nvSpPr>
          <p:cNvPr id="18" name="row3"/>
          <p:cNvSpPr/>
          <p:nvPr/>
        </p:nvSpPr>
        <p:spPr>
          <a:xfrm>
            <a:off x="457200" y="3922776"/>
            <a:ext cx="8229600" cy="621792"/>
          </a:xfrm>
          <a:prstGeom prst="roundRect">
            <a:avLst>
              <a:gd name="adj" fmla="val 11765"/>
            </a:avLst>
          </a:prstGeom>
          <a:solidFill>
            <a:srgbClr val="EEF3F5"/>
          </a:solidFill>
          <a:ln w="12700">
            <a:solidFill>
              <a:srgbClr val="EEF3F5"/>
            </a:solidFill>
            <a:prstDash val="solid"/>
          </a:ln>
        </p:spPr>
      </p:sp>
      <p:sp>
        <p:nvSpPr>
          <p:cNvPr id="19" name="Text 17"/>
          <p:cNvSpPr txBox="1"/>
          <p:nvPr/>
        </p:nvSpPr>
        <p:spPr>
          <a:xfrm>
            <a:off x="594360" y="3922776"/>
            <a:ext cx="2423160" cy="621792"/>
          </a:xfrm>
          <a:prstGeom prst="rect">
            <a:avLst/>
          </a:prstGeom>
          <a:noFill/>
          <a:ln/>
        </p:spPr>
        <p:txBody>
          <a:bodyPr wrap="square" lIns="0" tIns="0" rIns="0" bIns="0" rtlCol="0" anchor="ctr"/>
          <a:lstStyle/>
          <a:p>
            <a:pPr indent="0" marL="0">
              <a:buNone/>
            </a:pPr>
            <a:r>
              <a:rPr lang="en-US" sz="1300" dirty="0">
                <a:solidFill>
                  <a:schemeClr val="tx1"/>
                </a:solidFill>
                <a:latin typeface="Malgun Gothic" pitchFamily="34" charset="0"/>
                <a:ea typeface="Malgun Gothic" pitchFamily="34" charset="-122"/>
                <a:cs typeface="Malgun Gothic" pitchFamily="34" charset="-120"/>
              </a:rPr>
              <a:t>거래량 (주/기간)</a:t>
            </a:r>
            <a:endParaRPr lang="en-US" sz="1300" dirty="0"/>
          </a:p>
        </p:txBody>
      </p:sp>
      <p:sp>
        <p:nvSpPr>
          <p:cNvPr id="20" name="Text 18"/>
          <p:cNvSpPr txBox="1"/>
          <p:nvPr/>
        </p:nvSpPr>
        <p:spPr>
          <a:xfrm>
            <a:off x="3017520" y="3922776"/>
            <a:ext cx="2651760" cy="621792"/>
          </a:xfrm>
          <a:prstGeom prst="rect">
            <a:avLst/>
          </a:prstGeom>
          <a:noFill/>
          <a:ln/>
        </p:spPr>
        <p:txBody>
          <a:bodyPr wrap="square" lIns="0" tIns="0" rIns="0" bIns="0" rtlCol="0" anchor="ctr"/>
          <a:lstStyle/>
          <a:p>
            <a:pPr algn="ctr" indent="0" marL="0">
              <a:buNone/>
            </a:pPr>
            <a:r>
              <a:rPr lang="en-US" sz="2400" b="1" dirty="0">
                <a:solidFill>
                  <a:schemeClr val="accent1"/>
                </a:solidFill>
                <a:latin typeface="Malgun Gothic" pitchFamily="34" charset="0"/>
                <a:ea typeface="Malgun Gothic" pitchFamily="34" charset="-122"/>
                <a:cs typeface="Malgun Gothic" pitchFamily="34" charset="-120"/>
              </a:rPr>
              <a:t>0.36</a:t>
            </a:r>
            <a:endParaRPr lang="en-US" sz="2400" dirty="0"/>
          </a:p>
        </p:txBody>
      </p:sp>
      <p:sp>
        <p:nvSpPr>
          <p:cNvPr id="21" name="Text 19"/>
          <p:cNvSpPr txBox="1"/>
          <p:nvPr/>
        </p:nvSpPr>
        <p:spPr>
          <a:xfrm>
            <a:off x="5852160" y="3922776"/>
            <a:ext cx="2834640" cy="621792"/>
          </a:xfrm>
          <a:prstGeom prst="rect">
            <a:avLst/>
          </a:prstGeom>
          <a:noFill/>
          <a:ln/>
        </p:spPr>
        <p:txBody>
          <a:bodyPr wrap="square" lIns="0" tIns="0" rIns="0" bIns="0" rtlCol="0" anchor="ctr"/>
          <a:lstStyle/>
          <a:p>
            <a:pPr algn="ctr" indent="0" marL="0">
              <a:buNone/>
            </a:pPr>
            <a:r>
              <a:rPr lang="en-US" sz="2400" b="1" dirty="0">
                <a:solidFill>
                  <a:schemeClr val="accent2"/>
                </a:solidFill>
                <a:latin typeface="Malgun Gothic" pitchFamily="34" charset="0"/>
                <a:ea typeface="Malgun Gothic" pitchFamily="34" charset="-122"/>
                <a:cs typeface="Malgun Gothic" pitchFamily="34" charset="-120"/>
              </a:rPr>
              <a:t>0.71</a:t>
            </a:r>
            <a:endParaRPr lang="en-US" sz="2400" dirty="0"/>
          </a:p>
        </p:txBody>
      </p:sp>
      <p:sp>
        <p:nvSpPr>
          <p:cNvPr id="22" name="Text 20"/>
          <p:cNvSpPr txBox="1"/>
          <p:nvPr/>
        </p:nvSpPr>
        <p:spPr>
          <a:xfrm>
            <a:off x="457200" y="4663440"/>
            <a:ext cx="7863840" cy="274320"/>
          </a:xfrm>
          <a:prstGeom prst="rect">
            <a:avLst/>
          </a:prstGeom>
          <a:noFill/>
          <a:ln/>
        </p:spPr>
        <p:txBody>
          <a:bodyPr wrap="square" lIns="0" tIns="0" rIns="0" bIns="0" rtlCol="0" anchor="ctr"/>
          <a:lstStyle/>
          <a:p>
            <a:pPr indent="0" marL="0">
              <a:buNone/>
            </a:pPr>
            <a:r>
              <a:rPr lang="en-US" sz="1200" b="1" dirty="0">
                <a:solidFill>
                  <a:schemeClr val="accent3"/>
                </a:solidFill>
                <a:latin typeface="Malgun Gothic" pitchFamily="34" charset="0"/>
                <a:ea typeface="Malgun Gothic" pitchFamily="34" charset="-122"/>
                <a:cs typeface="Malgun Gothic" pitchFamily="34" charset="-120"/>
              </a:rPr>
              <a:t>외부 충격은 배당 하나뿐인데, 학습 빈도만으로 현실과 닮은 현상이 나타난다</a:t>
            </a:r>
            <a:endParaRPr lang="en-US" sz="12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1"/>
                </a:solidFill>
              </a:rPr>
              <a:t>결과 2: 투자자 내부도 달라진다</a:t>
            </a:r>
            <a:endParaRPr lang="en-US" sz="2800" dirty="0"/>
          </a:p>
        </p:txBody>
      </p:sp>
      <p:sp>
        <p:nvSpPr>
          <p:cNvPr id="3" name="Text 1"/>
          <p:cNvSpPr txBox="1"/>
          <p:nvPr/>
        </p:nvSpPr>
        <p:spPr>
          <a:xfrm>
            <a:off x="457200" y="896112"/>
            <a:ext cx="8229600" cy="411480"/>
          </a:xfrm>
          <a:prstGeom prst="rect">
            <a:avLst/>
          </a:prstGeom>
          <a:noFill/>
          <a:ln/>
        </p:spPr>
        <p:txBody>
          <a:bodyPr wrap="square" lIns="0" tIns="0" rIns="0" bIns="0" rtlCol="0" anchor="ctr"/>
          <a:lstStyle/>
          <a:p>
            <a:pPr indent="0" marL="0">
              <a:buNone/>
            </a:pPr>
            <a:r>
              <a:rPr lang="en-US" sz="1600" b="1" dirty="0">
                <a:solidFill>
                  <a:schemeClr val="accent1"/>
                </a:solidFill>
                <a:latin typeface="Malgun Gothic" pitchFamily="34" charset="0"/>
                <a:ea typeface="Malgun Gothic" pitchFamily="34" charset="-122"/>
                <a:cs typeface="Malgun Gothic" pitchFamily="34" charset="-120"/>
              </a:rPr>
              <a:t>빠른 학습에서는 차트 신호를 쓰는 메모가 약 4배</a:t>
            </a:r>
            <a:endParaRPr lang="en-US" sz="1600" dirty="0"/>
          </a:p>
        </p:txBody>
      </p:sp>
      <p:graphicFrame>
        <p:nvGraphicFramePr>
          <p:cNvPr id="4" name="Chart 0" descr=""/>
          <p:cNvGraphicFramePr/>
          <p:nvPr/>
        </p:nvGraphicFramePr>
        <p:xfrm>
          <a:off x="365760" y="1371600"/>
          <a:ext cx="438912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937760" y="1463040"/>
            <a:ext cx="3749040" cy="3108960"/>
          </a:xfrm>
          <a:prstGeom prst="rect">
            <a:avLst/>
          </a:prstGeom>
          <a:noFill/>
          <a:ln/>
        </p:spPr>
        <p:txBody>
          <a:bodyPr wrap="square" lIns="0" tIns="0" rIns="0" bIns="0" rtlCol="0" anchor="t"/>
          <a:lstStyle/>
          <a:p>
            <a:pPr indent="0" marL="0">
              <a:spcAft>
                <a:spcPts val="1000"/>
              </a:spcAft>
              <a:buNone/>
            </a:pPr>
            <a:r>
              <a:rPr lang="en-US" sz="1400" b="1" dirty="0">
                <a:solidFill>
                  <a:schemeClr val="tx1"/>
                </a:solidFill>
                <a:latin typeface="Malgun Gothic" pitchFamily="34" charset="0"/>
                <a:ea typeface="Malgun Gothic" pitchFamily="34" charset="-122"/>
                <a:cs typeface="Malgun Gothic" pitchFamily="34" charset="-120"/>
              </a:rPr>
              <a:t>유의하다고 나온 변수를 투자자도 스스로 쓰게 된다</a:t>
            </a:r>
            <a:endParaRPr lang="en-US" sz="1400" dirty="0"/>
          </a:p>
          <a:p>
            <a:pPr indent="0" marL="0">
              <a:spcAft>
                <a:spcPts val="1000"/>
              </a:spcAft>
              <a:buNone/>
            </a:pPr>
            <a:r>
              <a:rPr lang="en-US" sz="1400" dirty="0">
                <a:solidFill>
                  <a:schemeClr val="tx1"/>
                </a:solidFill>
                <a:latin typeface="Malgun Gothic" pitchFamily="34" charset="0"/>
                <a:ea typeface="Malgun Gothic" pitchFamily="34" charset="-122"/>
                <a:cs typeface="Malgun Gothic" pitchFamily="34" charset="-120"/>
              </a:rPr>
              <a:t>500일 평균 신호는 빠른 학습에서만 수익률을 약하게 예측했다</a:t>
            </a:r>
            <a:endParaRPr lang="en-US" sz="1400" dirty="0"/>
          </a:p>
          <a:p>
            <a:pPr indent="0" marL="0">
              <a:spcAft>
                <a:spcPts val="1000"/>
              </a:spcAft>
              <a:buNone/>
            </a:pPr>
            <a:r>
              <a:rPr lang="en-US" sz="1400" dirty="0">
                <a:solidFill>
                  <a:schemeClr val="tx1"/>
                </a:solidFill>
                <a:latin typeface="Malgun Gothic" pitchFamily="34" charset="0"/>
                <a:ea typeface="Malgun Gothic" pitchFamily="34" charset="-122"/>
                <a:cs typeface="Malgun Gothic" pitchFamily="34" charset="-120"/>
              </a:rPr>
              <a:t>100만 기간을 돌리면 차트 신호 사용은 10~25%로 크게 출렁인다. 차트 거래는 늘 유용한 전략이 아니다</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1"/>
                </a:solidFill>
              </a:rPr>
              <a:t>의미와 한계</a:t>
            </a:r>
            <a:endParaRPr lang="en-US" sz="2800" dirty="0"/>
          </a:p>
        </p:txBody>
      </p:sp>
      <p:sp>
        <p:nvSpPr>
          <p:cNvPr id="3" name="Text 1"/>
          <p:cNvSpPr txBox="1"/>
          <p:nvPr/>
        </p:nvSpPr>
        <p:spPr>
          <a:xfrm>
            <a:off x="457200" y="896112"/>
            <a:ext cx="8229600" cy="411480"/>
          </a:xfrm>
          <a:prstGeom prst="rect">
            <a:avLst/>
          </a:prstGeom>
          <a:noFill/>
          <a:ln/>
        </p:spPr>
        <p:txBody>
          <a:bodyPr wrap="square" lIns="0" tIns="0" rIns="0" bIns="0" rtlCol="0" anchor="ctr"/>
          <a:lstStyle/>
          <a:p>
            <a:pPr indent="0" marL="0">
              <a:buNone/>
            </a:pPr>
            <a:r>
              <a:rPr lang="en-US" sz="1600" b="1" dirty="0">
                <a:solidFill>
                  <a:schemeClr val="accent1"/>
                </a:solidFill>
                <a:latin typeface="Malgun Gothic" pitchFamily="34" charset="0"/>
                <a:ea typeface="Malgun Gothic" pitchFamily="34" charset="-122"/>
                <a:cs typeface="Malgun Gothic" pitchFamily="34" charset="-120"/>
              </a:rPr>
              <a:t>학습 속도 하나가 시장의 성격을 바꾼다</a:t>
            </a:r>
            <a:endParaRPr lang="en-US" sz="1600" dirty="0"/>
          </a:p>
        </p:txBody>
      </p:sp>
      <p:sp>
        <p:nvSpPr>
          <p:cNvPr id="4" name="meaning"/>
          <p:cNvSpPr/>
          <p:nvPr/>
        </p:nvSpPr>
        <p:spPr>
          <a:xfrm>
            <a:off x="457200" y="1463040"/>
            <a:ext cx="4023360" cy="2286000"/>
          </a:xfrm>
          <a:prstGeom prst="roundRect">
            <a:avLst>
              <a:gd name="adj" fmla="val 3200"/>
            </a:avLst>
          </a:prstGeom>
          <a:solidFill>
            <a:srgbClr val="EEF3F5"/>
          </a:solidFill>
          <a:ln w="12700">
            <a:solidFill>
              <a:srgbClr val="EEF3F5"/>
            </a:solidFill>
            <a:prstDash val="solid"/>
          </a:ln>
        </p:spPr>
      </p:sp>
      <p:sp>
        <p:nvSpPr>
          <p:cNvPr id="5" name="Text 3"/>
          <p:cNvSpPr txBox="1"/>
          <p:nvPr/>
        </p:nvSpPr>
        <p:spPr>
          <a:xfrm>
            <a:off x="640080" y="1554480"/>
            <a:ext cx="3657600" cy="365760"/>
          </a:xfrm>
          <a:prstGeom prst="rect">
            <a:avLst/>
          </a:prstGeom>
          <a:noFill/>
          <a:ln/>
        </p:spPr>
        <p:txBody>
          <a:bodyPr wrap="square" lIns="0" tIns="0" rIns="0" bIns="0" rtlCol="0" anchor="ctr"/>
          <a:lstStyle/>
          <a:p>
            <a:pPr indent="0" marL="0">
              <a:buNone/>
            </a:pPr>
            <a:r>
              <a:rPr lang="en-US" sz="1600" b="1" dirty="0">
                <a:solidFill>
                  <a:schemeClr val="accent1"/>
                </a:solidFill>
                <a:latin typeface="Malgun Gothic" pitchFamily="34" charset="0"/>
                <a:ea typeface="Malgun Gothic" pitchFamily="34" charset="-122"/>
                <a:cs typeface="Malgun Gothic" pitchFamily="34" charset="-120"/>
              </a:rPr>
              <a:t>이 모형이 보여 준 것</a:t>
            </a:r>
            <a:endParaRPr lang="en-US" sz="1600" dirty="0"/>
          </a:p>
        </p:txBody>
      </p:sp>
      <p:sp>
        <p:nvSpPr>
          <p:cNvPr id="6" name="Text 4"/>
          <p:cNvSpPr txBox="1"/>
          <p:nvPr/>
        </p:nvSpPr>
        <p:spPr>
          <a:xfrm>
            <a:off x="640080" y="1965960"/>
            <a:ext cx="3657600" cy="1737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Malgun Gothic" pitchFamily="34" charset="0"/>
                <a:ea typeface="Malgun Gothic" pitchFamily="34" charset="-122"/>
                <a:cs typeface="Malgun Gothic" pitchFamily="34" charset="-120"/>
              </a:rPr>
              <a:t>천천히 배우면 이론가격에 가까운 시장</a:t>
            </a:r>
            <a:endParaRPr lang="en-US" sz="1400" dirty="0"/>
          </a:p>
          <a:p>
            <a:pPr marL="342900" indent="-342900">
              <a:spcAft>
                <a:spcPts val="800"/>
              </a:spcAft>
              <a:buSzPct val="100000"/>
              <a:buChar char="•"/>
            </a:pPr>
            <a:r>
              <a:rPr lang="en-US" sz="1400" dirty="0">
                <a:solidFill>
                  <a:schemeClr val="tx1"/>
                </a:solidFill>
                <a:latin typeface="Malgun Gothic" pitchFamily="34" charset="0"/>
                <a:ea typeface="Malgun Gothic" pitchFamily="34" charset="-122"/>
                <a:cs typeface="Malgun Gothic" pitchFamily="34" charset="-120"/>
              </a:rPr>
              <a:t>빠르게 배우면 스스로 출렁이는 시장</a:t>
            </a:r>
            <a:endParaRPr lang="en-US" sz="1400" dirty="0"/>
          </a:p>
          <a:p>
            <a:pPr marL="342900" indent="-342900">
              <a:spcAft>
                <a:spcPts val="800"/>
              </a:spcAft>
              <a:buSzPct val="100000"/>
              <a:buChar char="•"/>
            </a:pPr>
            <a:r>
              <a:rPr lang="en-US" sz="1400" dirty="0">
                <a:solidFill>
                  <a:schemeClr val="tx1"/>
                </a:solidFill>
                <a:latin typeface="Malgun Gothic" pitchFamily="34" charset="0"/>
                <a:ea typeface="Malgun Gothic" pitchFamily="34" charset="-122"/>
                <a:cs typeface="Malgun Gothic" pitchFamily="34" charset="-120"/>
              </a:rPr>
              <a:t>학습 속도와 지평이 핵심 변수</a:t>
            </a:r>
            <a:endParaRPr lang="en-US" sz="1400" dirty="0"/>
          </a:p>
        </p:txBody>
      </p:sp>
      <p:sp>
        <p:nvSpPr>
          <p:cNvPr id="7" name="limits"/>
          <p:cNvSpPr/>
          <p:nvPr/>
        </p:nvSpPr>
        <p:spPr>
          <a:xfrm>
            <a:off x="4663440" y="1463040"/>
            <a:ext cx="4023360" cy="2286000"/>
          </a:xfrm>
          <a:prstGeom prst="roundRect">
            <a:avLst>
              <a:gd name="adj" fmla="val 3200"/>
            </a:avLst>
          </a:prstGeom>
          <a:solidFill>
            <a:srgbClr val="EEF3F5"/>
          </a:solidFill>
          <a:ln w="12700">
            <a:solidFill>
              <a:srgbClr val="EEF3F5"/>
            </a:solidFill>
            <a:prstDash val="solid"/>
          </a:ln>
        </p:spPr>
      </p:sp>
      <p:sp>
        <p:nvSpPr>
          <p:cNvPr id="8" name="Text 6"/>
          <p:cNvSpPr txBox="1"/>
          <p:nvPr/>
        </p:nvSpPr>
        <p:spPr>
          <a:xfrm>
            <a:off x="4846320" y="1554480"/>
            <a:ext cx="3657600" cy="365760"/>
          </a:xfrm>
          <a:prstGeom prst="rect">
            <a:avLst/>
          </a:prstGeom>
          <a:noFill/>
          <a:ln/>
        </p:spPr>
        <p:txBody>
          <a:bodyPr wrap="square" lIns="0" tIns="0" rIns="0" bIns="0" rtlCol="0" anchor="ctr"/>
          <a:lstStyle/>
          <a:p>
            <a:pPr indent="0" marL="0">
              <a:buNone/>
            </a:pPr>
            <a:r>
              <a:rPr lang="en-US" sz="1600" b="1" dirty="0">
                <a:solidFill>
                  <a:schemeClr val="accent2"/>
                </a:solidFill>
                <a:latin typeface="Malgun Gothic" pitchFamily="34" charset="0"/>
                <a:ea typeface="Malgun Gothic" pitchFamily="34" charset="-122"/>
                <a:cs typeface="Malgun Gothic" pitchFamily="34" charset="-120"/>
              </a:rPr>
              <a:t>저자들이 인정한 한계</a:t>
            </a:r>
            <a:endParaRPr lang="en-US" sz="1600" dirty="0"/>
          </a:p>
        </p:txBody>
      </p:sp>
      <p:sp>
        <p:nvSpPr>
          <p:cNvPr id="9" name="Text 7"/>
          <p:cNvSpPr txBox="1"/>
          <p:nvPr/>
        </p:nvSpPr>
        <p:spPr>
          <a:xfrm>
            <a:off x="4846320" y="1965960"/>
            <a:ext cx="3657600" cy="1737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Malgun Gothic" pitchFamily="34" charset="0"/>
                <a:ea typeface="Malgun Gothic" pitchFamily="34" charset="-122"/>
                <a:cs typeface="Malgun Gothic" pitchFamily="34" charset="-120"/>
              </a:rPr>
              <a:t>정성적 결과. 크기는 맞추지 않았다</a:t>
            </a:r>
            <a:endParaRPr lang="en-US" sz="1400" dirty="0"/>
          </a:p>
          <a:p>
            <a:pPr marL="342900" indent="-342900">
              <a:spcAft>
                <a:spcPts val="800"/>
              </a:spcAft>
              <a:buSzPct val="100000"/>
              <a:buChar char="•"/>
            </a:pPr>
            <a:r>
              <a:rPr lang="en-US" sz="1400" dirty="0">
                <a:solidFill>
                  <a:schemeClr val="tx1"/>
                </a:solidFill>
                <a:latin typeface="Malgun Gothic" pitchFamily="34" charset="0"/>
                <a:ea typeface="Malgun Gothic" pitchFamily="34" charset="-122"/>
                <a:cs typeface="Malgun Gothic" pitchFamily="34" charset="-120"/>
              </a:rPr>
              <a:t>시간 단위가 모호하다</a:t>
            </a:r>
            <a:endParaRPr lang="en-US" sz="1400" dirty="0"/>
          </a:p>
          <a:p>
            <a:pPr marL="342900" indent="-342900">
              <a:spcAft>
                <a:spcPts val="800"/>
              </a:spcAft>
              <a:buSzPct val="100000"/>
              <a:buChar char="•"/>
            </a:pPr>
            <a:r>
              <a:rPr lang="en-US" sz="1400" dirty="0">
                <a:solidFill>
                  <a:schemeClr val="tx1"/>
                </a:solidFill>
                <a:latin typeface="Malgun Gothic" pitchFamily="34" charset="0"/>
                <a:ea typeface="Malgun Gothic" pitchFamily="34" charset="-122"/>
                <a:cs typeface="Malgun Gothic" pitchFamily="34" charset="-120"/>
              </a:rPr>
              <a:t>초과변동성은 설명하지 못한다</a:t>
            </a:r>
            <a:endParaRPr lang="en-US" sz="1400" dirty="0"/>
          </a:p>
          <a:p>
            <a:pPr marL="342900" indent="-342900">
              <a:spcAft>
                <a:spcPts val="800"/>
              </a:spcAft>
              <a:buSzPct val="100000"/>
              <a:buChar char="•"/>
            </a:pPr>
            <a:r>
              <a:rPr lang="en-US" sz="1400" dirty="0">
                <a:solidFill>
                  <a:schemeClr val="tx1"/>
                </a:solidFill>
                <a:latin typeface="Malgun Gothic" pitchFamily="34" charset="0"/>
                <a:ea typeface="Malgun Gothic" pitchFamily="34" charset="-122"/>
                <a:cs typeface="Malgun Gothic" pitchFamily="34" charset="-120"/>
              </a:rPr>
              <a:t>투자자가 모두 동질적이다</a:t>
            </a:r>
            <a:endParaRPr lang="en-US" sz="1400" dirty="0"/>
          </a:p>
        </p:txBody>
      </p:sp>
      <p:sp>
        <p:nvSpPr>
          <p:cNvPr id="10" name="Text 8"/>
          <p:cNvSpPr txBox="1"/>
          <p:nvPr/>
        </p:nvSpPr>
        <p:spPr>
          <a:xfrm>
            <a:off x="457200" y="4114800"/>
            <a:ext cx="8229600" cy="548640"/>
          </a:xfrm>
          <a:prstGeom prst="rect">
            <a:avLst/>
          </a:prstGeom>
          <a:noFill/>
          <a:ln/>
        </p:spPr>
        <p:txBody>
          <a:bodyPr wrap="square" lIns="0" tIns="0" rIns="0" bIns="0" rtlCol="0" anchor="t"/>
          <a:lstStyle/>
          <a:p>
            <a:pPr indent="0" marL="0">
              <a:buNone/>
            </a:pPr>
            <a:r>
              <a:rPr lang="en-US" sz="1600" b="1" dirty="0">
                <a:solidFill>
                  <a:schemeClr val="accent2"/>
                </a:solidFill>
                <a:latin typeface="Malgun Gothic" pitchFamily="34" charset="0"/>
                <a:ea typeface="Malgun Gothic" pitchFamily="34" charset="-122"/>
                <a:cs typeface="Malgun Gothic" pitchFamily="34" charset="-120"/>
              </a:rPr>
              <a:t>다음 단계: 이 기준 시장에 레버리지 상품을 얹어 변동성 증폭 효과를 실험한다</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SFI-ASM">
  <a:themeElements>
    <a:clrScheme name="SFI-ASM">
      <a:dk1>
        <a:srgbClr val="14263A"/>
      </a:dk1>
      <a:lt1>
        <a:srgbClr val="FFFFFF"/>
      </a:lt1>
      <a:dk2>
        <a:srgbClr val="0F4C5C"/>
      </a:dk2>
      <a:lt2>
        <a:srgbClr val="EEF3F5"/>
      </a:lt2>
      <a:accent1>
        <a:srgbClr val="0E7C86"/>
      </a:accent1>
      <a:accent2>
        <a:srgbClr val="E8743B"/>
      </a:accent2>
      <a:accent3>
        <a:srgbClr val="6C8EA4"/>
      </a:accent3>
      <a:accent4>
        <a:srgbClr val="F2B84B"/>
      </a:accent4>
      <a:accent5>
        <a:srgbClr val="7A5C99"/>
      </a:accent5>
      <a:accent6>
        <a:srgbClr val="4C9F70"/>
      </a:accent6>
      <a:hlink>
        <a:srgbClr val="0E7C86"/>
      </a:hlink>
      <a:folHlink>
        <a:srgbClr val="6C8EA4"/>
      </a:folHlink>
    </a:clrScheme>
    <a:fontScheme name="SFI-ASM">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산타페 인공주식시장(SFI-ASM) 설명</dc:title>
  <dc:subject>PptxGenJS Presentation</dc:subject>
  <dc:creator>PptxGenJS</dc:creator>
  <cp:lastModifiedBy>PptxGenJS</cp:lastModifiedBy>
  <cp:revision>1</cp:revision>
  <dcterms:created xsi:type="dcterms:W3CDTF">2026-10-06T11:23:32Z</dcterms:created>
  <dcterms:modified xsi:type="dcterms:W3CDTF">2026-10-06T11:23:32Z</dcterms:modified>
</cp:coreProperties>
</file>